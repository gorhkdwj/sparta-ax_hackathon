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박람회에서 받은 리드에 후속 이메일을 보내는 일은 지금 한 건 한 건 손으로 오래 걸립니다. 이 발표는 그 8시간 수작업을 Skill 한 번 실행으로 바꾸는 이야기입니다. 핵심은 오른쪽 흐름 — 리드 CSV가 개인화 이메일 초안을 넘어 '실행형 캠페인 기획안'까지 이어진다는 점, 그래서 회의 없이 바로 착수할 수 있다는 점입니다.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문제의 핵심은 '양'이 아닙니다. 리드 50건을 담당 1인이 전부 손으로 쓰면 8시간이 넘고, 리드당 10~15분씩 걸립니다. 게다가 원장·팀장·사업개발은 각자 궁금한 게 다른데 같은 톤으로 보내면 누구에게도 안 꽂힙니다. 부스 상담 내용이 빠지면 '우리를 기억 못 하는 회사'로 보이고, 48시간 골든타임을 넘기면 경쟁사에 기회를 뺏깁니다. 그래서 문제를 이렇게 재정의합니다 — 많이 만드는 게 아니라, 골든타임 안에 직책별 맥락과 실제 상담을 살려 후속 전환 가능성을 높이는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해법은 한 장으로 요약됩니다. Skill을 한 번 실행하면 개인화 이메일 초안과 실행형 후속 캠페인 기획안이 함께 나옵니다. 파이프라인은 박람회 리드 CSV를 넣고, 키즐링 Skill 체인이 돌고, 산출물이 나오는 구조입니다. 산출물은 누적형입니다 — Basic은 49건 직책별 차별화 초안, 그 위에 Standard가 재현 가능한 Skill 체인과 사용법을 얹고, 맨 위 Challenge가 실행형 캠페인 기획안·시각화·품질 QA까지 완성합니다. 위로 갈수록 완성도가 올라갑니다.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전환력의 핵심은 직책별 차별화입니다. 같은 톤은 누구에게도 안 꽂힙니다. 원장은 원생 효과가 관심이라 아이 참여·성과가 학부모에게 보이는 효과를 소구하고 무료 데모를 권합니다. 팀장은 도입 난이도가 관심이라 접수·결제·심사·결과발표 자동화로 운영 공수를 줄인다는 점을 소구하고 기술 도입 미팅을 제안합니다. 사업개발은 수익 모델이 관심이라 파트너십·수익화 구조를 소구하고 제안서를 보냅니다. 본문은 4요소를 지킵니다 — 맞춤 인사, 부스 상담 언급, 직책 소구점과 키즐콘 기능 연결, 그리고 명확한 CTA 하나. 분량은 한국어 250~400자.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덱의 핵심입니다. 세그먼트만 나열한 기획안이 아니라, 회의 없이 바로 착수할 수 있는 실행 문서입니다. 문서는 네 가지를 답합니다 — 누가(담당 부서), 언제까지(Day 0·2-3·7), 무엇을(체크리스트), 뭐가 막히나(리스크). 캠페인 1 예시: Day 0에 마케팅팀이 팀장용 초안을 발송하고 기술 도입 미팅을 CTA로 겁니다. 우선순위 상은 48시간 내 미팅 슬롯을 제안합니다. Day 2-3에 세일즈엔지니어링팀이 접수·결제·심사·결과발표 자동화 흐름과 연동 체크리스트를 전달하고, Day 7에 영업팀이 운영 공수 절감 수치를 확인하는 30분 미팅을 제안합니다. 리스크도 명시합니다 — L033은 review_flag가 Y라 니즈 확인 전에는 정식 CTA를 보내지 않고, 영업팀이 24시간 내 미확인 시 48시간 골든타임을 놓칩니다.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캠페인을 표 하나로 비교해 어디부터 착수할지 판단합니다. 캠페인 1은 에듀테크 팀장 대상 대회 운영 자동화 전환으로 세그먼트 12건, 우선순위 상이 6/12로 절반, 검수 리드 1건(L033), 핵심 리스크는 영업팀 확인 24시간 초과 시 골든타임 이탈입니다. 캠페인 2는 사업개발 대상 파트너십 제안으로 실질 11건, 우선순위 상 5/11, 검수 리드 1건(L046)입니다. 세그먼트는 근거 리드와 대표 상담 인용으로 뒷받침하고, 새 리드 스코어링 없이 follow_up_priority 입력값과 실제 리드 수만 사용해 발제를 준수했습니다. 완성도 측면에서는 정적 HTML 시각화 campaign_plan_preview.html을 제공합니다 — 리드 칩을 누르면 실제 이메일 초안이 펼쳐지고, 우선순위·검수 필터와 인쇄 스타일까지 들어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재현성이 핵심 가치입니다. 새 박람회 CSV만 갈아 끼우면 같은 품질로 다시 돌아갑니다. 파이프라인은 8개 Skill 체인입니다. 최상단 kizzling-followup이 오케스트레이터로 전체를 조율하고, 순서대로 analyze-leads가 리드를 분석하고, message-strategy가 직책별 소구점과 CTA, review_flag 기준을 정하고, generate-emails가 Basic·Standard 초안과 예외 요약을 만들고, campaign-plan이 Challenge 캠페인 기획안을 쓰고, visualize-campaign이 HTML로 시각화하고, review-submit이 최종 검수와 제출 요약을 만들고, quality-audit이 항상 마지막에 통합 품질 QA를 돕니다. 안전장치로 review_flag가 Human-in-the-loop 게이트 역할을 합니다 — 이메일 결측, 상담 메모 결측이나 모호, 중복 리드는 review_flag를 Y로 두어 사람 검수를 강제하고, 최종 발송은 반드시 사람이 검토한 뒤에 합니다. 스크립트나 외부 API, 리드 스코어링은 쓰지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정리하겠습니다. 리드 후속에 들던 8시간 넘는 수작업이 Skill 한 번 실행으로 줄고, 거기서 그치지 않고 바로 실행 가능한 캠페인 기획안까지 나옵니다. 숫자로는 49건의 직책별 개인화 초안, 2건의 실행형 캠페인 기획안, 그리고 8개 Skill로 이뤄진 재현 체인입니다. 새 박람회 리드가 들어와도 동일한 품질로 재현되니, 확장 가능한 후속 자동화입니다.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svg"/><Relationship Id="rId3" Type="http://schemas.openxmlformats.org/officeDocument/2006/relationships/image" Target="../media/image-1-3.png"/><Relationship Id="rId4" Type="http://schemas.openxmlformats.org/officeDocument/2006/relationships/image" Target="../media/image-1-4.svg"/><Relationship Id="rId5" Type="http://schemas.openxmlformats.org/officeDocument/2006/relationships/image" Target="../media/image-1-5.png"/><Relationship Id="rId6" Type="http://schemas.openxmlformats.org/officeDocument/2006/relationships/image" Target="../media/image-1-6.svg"/><Relationship Id="rId7" Type="http://schemas.openxmlformats.org/officeDocument/2006/relationships/image" Target="../media/image-1-7.png"/><Relationship Id="rId8" Type="http://schemas.openxmlformats.org/officeDocument/2006/relationships/image" Target="../media/image-1-8.svg"/><Relationship Id="rId9" Type="http://schemas.openxmlformats.org/officeDocument/2006/relationships/image" Target="../media/image-1-9.png"/><Relationship Id="rId10" Type="http://schemas.openxmlformats.org/officeDocument/2006/relationships/image" Target="../media/image-1-10.svg"/><Relationship Id="rId11" Type="http://schemas.openxmlformats.org/officeDocument/2006/relationships/image" Target="../media/image-1-11.png"/><Relationship Id="rId12" Type="http://schemas.openxmlformats.org/officeDocument/2006/relationships/image" Target="../media/image-1-12.svg"/><Relationship Id="rId13" Type="http://schemas.openxmlformats.org/officeDocument/2006/relationships/image" Target="../media/image-1-13.png"/><Relationship Id="rId14" Type="http://schemas.openxmlformats.org/officeDocument/2006/relationships/image" Target="../media/image-1-14.svg"/><Relationship Id="rId15" Type="http://schemas.openxmlformats.org/officeDocument/2006/relationships/image" Target="../media/image-1-15.png"/><Relationship Id="rId16" Type="http://schemas.openxmlformats.org/officeDocument/2006/relationships/image" Target="../media/image-1-16.svg"/><Relationship Id="rId17" Type="http://schemas.openxmlformats.org/officeDocument/2006/relationships/image" Target="../media/image-1-17.png"/><Relationship Id="rId18" Type="http://schemas.openxmlformats.org/officeDocument/2006/relationships/image" Target="../media/image-1-18.svg"/><Relationship Id="rId19" Type="http://schemas.openxmlformats.org/officeDocument/2006/relationships/slideLayout" Target="../slideLayouts/slideLayout1.xml"/><Relationship Id="rId20"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image" Target="../media/image-2-3.png"/><Relationship Id="rId4" Type="http://schemas.openxmlformats.org/officeDocument/2006/relationships/image" Target="../media/image-2-4.svg"/><Relationship Id="rId5" Type="http://schemas.openxmlformats.org/officeDocument/2006/relationships/image" Target="../media/image-2-5.png"/><Relationship Id="rId6" Type="http://schemas.openxmlformats.org/officeDocument/2006/relationships/image" Target="../media/image-2-6.svg"/><Relationship Id="rId7" Type="http://schemas.openxmlformats.org/officeDocument/2006/relationships/image" Target="../media/image-2-7.png"/><Relationship Id="rId8" Type="http://schemas.openxmlformats.org/officeDocument/2006/relationships/image" Target="../media/image-2-8.svg"/><Relationship Id="rId9" Type="http://schemas.openxmlformats.org/officeDocument/2006/relationships/slideLayout" Target="../slideLayouts/slideLayout1.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3.png"/><Relationship Id="rId4" Type="http://schemas.openxmlformats.org/officeDocument/2006/relationships/image" Target="../media/image-3-4.svg"/><Relationship Id="rId5" Type="http://schemas.openxmlformats.org/officeDocument/2006/relationships/image" Target="../media/image-3-5.png"/><Relationship Id="rId6" Type="http://schemas.openxmlformats.org/officeDocument/2006/relationships/image" Target="../media/image-3-6.svg"/><Relationship Id="rId7" Type="http://schemas.openxmlformats.org/officeDocument/2006/relationships/image" Target="../media/image-3-7.png"/><Relationship Id="rId8" Type="http://schemas.openxmlformats.org/officeDocument/2006/relationships/image" Target="../media/image-3-8.svg"/><Relationship Id="rId9" Type="http://schemas.openxmlformats.org/officeDocument/2006/relationships/image" Target="../media/image-3-9.png"/><Relationship Id="rId10" Type="http://schemas.openxmlformats.org/officeDocument/2006/relationships/image" Target="../media/image-3-10.svg"/><Relationship Id="rId11" Type="http://schemas.openxmlformats.org/officeDocument/2006/relationships/image" Target="../media/image-3-11.png"/><Relationship Id="rId12" Type="http://schemas.openxmlformats.org/officeDocument/2006/relationships/image" Target="../media/image-3-12.svg"/><Relationship Id="rId13" Type="http://schemas.openxmlformats.org/officeDocument/2006/relationships/slideLayout" Target="../slideLayouts/slideLayout1.xml"/><Relationship Id="rId1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image" Target="../media/image-4-3.png"/><Relationship Id="rId4" Type="http://schemas.openxmlformats.org/officeDocument/2006/relationships/image" Target="../media/image-4-4.svg"/><Relationship Id="rId5" Type="http://schemas.openxmlformats.org/officeDocument/2006/relationships/image" Target="../media/image-4-5.png"/><Relationship Id="rId6" Type="http://schemas.openxmlformats.org/officeDocument/2006/relationships/image" Target="../media/image-4-6.svg"/><Relationship Id="rId7" Type="http://schemas.openxmlformats.org/officeDocument/2006/relationships/image" Target="../media/image-4-7.png"/><Relationship Id="rId8" Type="http://schemas.openxmlformats.org/officeDocument/2006/relationships/image" Target="../media/image-4-8.svg"/><Relationship Id="rId9" Type="http://schemas.openxmlformats.org/officeDocument/2006/relationships/image" Target="../media/image-4-9.png"/><Relationship Id="rId10" Type="http://schemas.openxmlformats.org/officeDocument/2006/relationships/image" Target="../media/image-4-10.svg"/><Relationship Id="rId11" Type="http://schemas.openxmlformats.org/officeDocument/2006/relationships/image" Target="../media/image-4-11.png"/><Relationship Id="rId12" Type="http://schemas.openxmlformats.org/officeDocument/2006/relationships/image" Target="../media/image-4-12.svg"/><Relationship Id="rId13" Type="http://schemas.openxmlformats.org/officeDocument/2006/relationships/image" Target="../media/image-4-13.png"/><Relationship Id="rId14" Type="http://schemas.openxmlformats.org/officeDocument/2006/relationships/image" Target="../media/image-4-14.svg"/><Relationship Id="rId15" Type="http://schemas.openxmlformats.org/officeDocument/2006/relationships/image" Target="../media/image-4-15.png"/><Relationship Id="rId16" Type="http://schemas.openxmlformats.org/officeDocument/2006/relationships/image" Target="../media/image-4-16.svg"/><Relationship Id="rId17" Type="http://schemas.openxmlformats.org/officeDocument/2006/relationships/image" Target="../media/image-4-17.png"/><Relationship Id="rId18" Type="http://schemas.openxmlformats.org/officeDocument/2006/relationships/image" Target="../media/image-4-18.svg"/><Relationship Id="rId19" Type="http://schemas.openxmlformats.org/officeDocument/2006/relationships/slideLayout" Target="../slideLayouts/slideLayout1.xml"/><Relationship Id="rId2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image" Target="../media/image-5-3.png"/><Relationship Id="rId4" Type="http://schemas.openxmlformats.org/officeDocument/2006/relationships/image" Target="../media/image-5-4.svg"/><Relationship Id="rId5" Type="http://schemas.openxmlformats.org/officeDocument/2006/relationships/image" Target="../media/image-5-5.png"/><Relationship Id="rId6" Type="http://schemas.openxmlformats.org/officeDocument/2006/relationships/image" Target="../media/image-5-6.svg"/><Relationship Id="rId7" Type="http://schemas.openxmlformats.org/officeDocument/2006/relationships/image" Target="../media/image-5-7.png"/><Relationship Id="rId8" Type="http://schemas.openxmlformats.org/officeDocument/2006/relationships/image" Target="../media/image-5-8.svg"/><Relationship Id="rId9" Type="http://schemas.openxmlformats.org/officeDocument/2006/relationships/image" Target="../media/image-5-9.png"/><Relationship Id="rId10" Type="http://schemas.openxmlformats.org/officeDocument/2006/relationships/image" Target="../media/image-5-10.svg"/><Relationship Id="rId11" Type="http://schemas.openxmlformats.org/officeDocument/2006/relationships/image" Target="../media/image-5-11.png"/><Relationship Id="rId12" Type="http://schemas.openxmlformats.org/officeDocument/2006/relationships/image" Target="../media/image-5-12.svg"/><Relationship Id="rId13" Type="http://schemas.openxmlformats.org/officeDocument/2006/relationships/image" Target="../media/image-5-13.png"/><Relationship Id="rId14" Type="http://schemas.openxmlformats.org/officeDocument/2006/relationships/image" Target="../media/image-5-14.svg"/><Relationship Id="rId15" Type="http://schemas.openxmlformats.org/officeDocument/2006/relationships/image" Target="../media/image-5-15.png"/><Relationship Id="rId16" Type="http://schemas.openxmlformats.org/officeDocument/2006/relationships/image" Target="../media/image-5-16.svg"/><Relationship Id="rId17" Type="http://schemas.openxmlformats.org/officeDocument/2006/relationships/image" Target="../media/image-5-17.png"/><Relationship Id="rId18" Type="http://schemas.openxmlformats.org/officeDocument/2006/relationships/image" Target="../media/image-5-18.svg"/><Relationship Id="rId19" Type="http://schemas.openxmlformats.org/officeDocument/2006/relationships/image" Target="../media/image-5-19.png"/><Relationship Id="rId20" Type="http://schemas.openxmlformats.org/officeDocument/2006/relationships/image" Target="../media/image-5-20.svg"/><Relationship Id="rId21" Type="http://schemas.openxmlformats.org/officeDocument/2006/relationships/image" Target="../media/image-5-21.png"/><Relationship Id="rId22" Type="http://schemas.openxmlformats.org/officeDocument/2006/relationships/image" Target="../media/image-5-22.svg"/><Relationship Id="rId23" Type="http://schemas.openxmlformats.org/officeDocument/2006/relationships/slideLayout" Target="../slideLayouts/slideLayout1.xml"/><Relationship Id="rId2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image" Target="../media/image-6-3.png"/><Relationship Id="rId4" Type="http://schemas.openxmlformats.org/officeDocument/2006/relationships/image" Target="../media/image-6-4.svg"/><Relationship Id="rId5" Type="http://schemas.openxmlformats.org/officeDocument/2006/relationships/image" Target="../media/image-6-5.png"/><Relationship Id="rId6" Type="http://schemas.openxmlformats.org/officeDocument/2006/relationships/image" Target="../media/image-6-6.svg"/><Relationship Id="rId7" Type="http://schemas.openxmlformats.org/officeDocument/2006/relationships/image" Target="../media/image-6-7.png"/><Relationship Id="rId8" Type="http://schemas.openxmlformats.org/officeDocument/2006/relationships/image" Target="../media/image-6-8.svg"/><Relationship Id="rId9" Type="http://schemas.openxmlformats.org/officeDocument/2006/relationships/slideLayout" Target="../slideLayouts/slideLayout1.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image" Target="../media/image-7-3.png"/><Relationship Id="rId4" Type="http://schemas.openxmlformats.org/officeDocument/2006/relationships/image" Target="../media/image-7-4.svg"/><Relationship Id="rId5" Type="http://schemas.openxmlformats.org/officeDocument/2006/relationships/image" Target="../media/image-7-5.png"/><Relationship Id="rId6" Type="http://schemas.openxmlformats.org/officeDocument/2006/relationships/image" Target="../media/image-7-6.svg"/><Relationship Id="rId7" Type="http://schemas.openxmlformats.org/officeDocument/2006/relationships/image" Target="../media/image-7-7.png"/><Relationship Id="rId8" Type="http://schemas.openxmlformats.org/officeDocument/2006/relationships/image" Target="../media/image-7-8.svg"/><Relationship Id="rId9" Type="http://schemas.openxmlformats.org/officeDocument/2006/relationships/image" Target="../media/image-7-9.png"/><Relationship Id="rId10" Type="http://schemas.openxmlformats.org/officeDocument/2006/relationships/image" Target="../media/image-7-10.svg"/><Relationship Id="rId11" Type="http://schemas.openxmlformats.org/officeDocument/2006/relationships/image" Target="../media/image-7-11.png"/><Relationship Id="rId12" Type="http://schemas.openxmlformats.org/officeDocument/2006/relationships/image" Target="../media/image-7-12.svg"/><Relationship Id="rId13" Type="http://schemas.openxmlformats.org/officeDocument/2006/relationships/image" Target="../media/image-7-13.png"/><Relationship Id="rId14" Type="http://schemas.openxmlformats.org/officeDocument/2006/relationships/image" Target="../media/image-7-14.svg"/><Relationship Id="rId15" Type="http://schemas.openxmlformats.org/officeDocument/2006/relationships/image" Target="../media/image-7-15.png"/><Relationship Id="rId16" Type="http://schemas.openxmlformats.org/officeDocument/2006/relationships/image" Target="../media/image-7-16.svg"/><Relationship Id="rId17" Type="http://schemas.openxmlformats.org/officeDocument/2006/relationships/slideLayout" Target="../slideLayouts/slideLayout1.xml"/><Relationship Id="rId1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9673F9">
                  <a:alpha val="13000"/>
                </a:srgbClr>
              </a:gs>
              <a:gs pos="60000">
                <a:srgbClr val="9673F9">
                  <a:alpha val="0"/>
                </a:srgbClr>
              </a:gs>
            </a:gsLst>
            <a:path path="circle">
              <a:fillToRect l="88000" t="0" r="12000" b="100000"/>
            </a:path>
          </a:gradFill>
          <a:ln/>
        </p:spPr>
      </p:sp>
      <p:sp>
        <p:nvSpPr>
          <p:cNvPr id="3" name="Shape 1"/>
          <p:cNvSpPr/>
          <p:nvPr/>
        </p:nvSpPr>
        <p:spPr>
          <a:xfrm>
            <a:off x="952500" y="609600"/>
            <a:ext cx="2557983" cy="542925"/>
          </a:xfrm>
          <a:prstGeom prst="roundRect">
            <a:avLst>
              <a:gd name="adj" fmla="val 50000"/>
            </a:avLst>
          </a:prstGeom>
          <a:solidFill>
            <a:srgbClr val="EDE7FE"/>
          </a:solidFill>
          <a:ln/>
        </p:spPr>
      </p:sp>
      <p:sp>
        <p:nvSpPr>
          <p:cNvPr id="4" name="Shape 2"/>
          <p:cNvSpPr/>
          <p:nvPr/>
        </p:nvSpPr>
        <p:spPr>
          <a:xfrm>
            <a:off x="1162050" y="833438"/>
            <a:ext cx="95250" cy="95250"/>
          </a:xfrm>
          <a:prstGeom prst="ellipse">
            <a:avLst/>
          </a:prstGeom>
          <a:solidFill>
            <a:srgbClr val="9673F9"/>
          </a:solidFill>
          <a:ln/>
        </p:spPr>
      </p:sp>
      <p:sp>
        <p:nvSpPr>
          <p:cNvPr id="5" name="Text 3"/>
          <p:cNvSpPr/>
          <p:nvPr/>
        </p:nvSpPr>
        <p:spPr>
          <a:xfrm>
            <a:off x="1371600" y="714375"/>
            <a:ext cx="2122267" cy="371475"/>
          </a:xfrm>
          <a:prstGeom prst="rect">
            <a:avLst/>
          </a:prstGeom>
          <a:noFill/>
          <a:ln/>
        </p:spPr>
        <p:txBody>
          <a:bodyPr wrap="square" lIns="25400" tIns="25400" rIns="25400" bIns="25400" rtlCol="0" anchor="t">
            <a:normAutofit/>
          </a:bodyPr>
          <a:lstStyle/>
          <a:p>
            <a:pPr algn="l" indent="0" marL="0">
              <a:buNone/>
            </a:pPr>
            <a:r>
              <a:rPr lang="en-US" sz="1800" b="1" spc="18" kern="0" dirty="0">
                <a:solidFill>
                  <a:srgbClr val="6B52B1"/>
                </a:solidFill>
                <a:latin typeface="Arial" pitchFamily="34" charset="0"/>
                <a:ea typeface="Arial" pitchFamily="34" charset="-122"/>
                <a:cs typeface="Arial" pitchFamily="34" charset="-120"/>
              </a:rPr>
              <a:t>스파르타 AX 해커톤</a:t>
            </a:r>
            <a:endParaRPr lang="en-US" sz="1800" dirty="0"/>
          </a:p>
        </p:txBody>
      </p:sp>
      <p:sp>
        <p:nvSpPr>
          <p:cNvPr id="6" name="Text 4"/>
          <p:cNvSpPr/>
          <p:nvPr/>
        </p:nvSpPr>
        <p:spPr>
          <a:xfrm>
            <a:off x="15997535" y="762000"/>
            <a:ext cx="668908" cy="314325"/>
          </a:xfrm>
          <a:prstGeom prst="rect">
            <a:avLst/>
          </a:prstGeom>
          <a:noFill/>
          <a:ln/>
        </p:spPr>
        <p:txBody>
          <a:bodyPr wrap="square" lIns="25400" tIns="25400" rIns="25400" bIns="25400" rtlCol="0" anchor="t">
            <a:normAutofit/>
          </a:bodyPr>
          <a:lstStyle/>
          <a:p>
            <a:pPr algn="l" indent="0" marL="0">
              <a:buNone/>
            </a:pPr>
            <a:r>
              <a:rPr lang="en-US" sz="1800" dirty="0">
                <a:solidFill>
                  <a:srgbClr val="9D9D9D"/>
                </a:solidFill>
                <a:latin typeface="Arial" pitchFamily="34" charset="0"/>
                <a:ea typeface="Arial" pitchFamily="34" charset="-122"/>
                <a:cs typeface="Arial" pitchFamily="34" charset="-120"/>
              </a:rPr>
              <a:t>발표자</a:t>
            </a:r>
            <a:endParaRPr lang="en-US" sz="1800" dirty="0"/>
          </a:p>
        </p:txBody>
      </p:sp>
      <p:sp>
        <p:nvSpPr>
          <p:cNvPr id="7" name="Text 5"/>
          <p:cNvSpPr/>
          <p:nvPr/>
        </p:nvSpPr>
        <p:spPr>
          <a:xfrm>
            <a:off x="16704543" y="714375"/>
            <a:ext cx="707157"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6B52B1"/>
                </a:solidFill>
                <a:latin typeface="Arial" pitchFamily="34" charset="0"/>
                <a:ea typeface="Arial" pitchFamily="34" charset="-122"/>
                <a:cs typeface="Arial" pitchFamily="34" charset="-120"/>
              </a:rPr>
              <a:t>김재천</a:t>
            </a:r>
            <a:endParaRPr lang="en-US" sz="1800" dirty="0"/>
          </a:p>
        </p:txBody>
      </p:sp>
      <p:sp>
        <p:nvSpPr>
          <p:cNvPr id="8" name="Text 6"/>
          <p:cNvSpPr/>
          <p:nvPr/>
        </p:nvSpPr>
        <p:spPr>
          <a:xfrm>
            <a:off x="952500" y="2886149"/>
            <a:ext cx="12028170" cy="815280"/>
          </a:xfrm>
          <a:prstGeom prst="rect">
            <a:avLst/>
          </a:prstGeom>
          <a:noFill/>
          <a:ln/>
        </p:spPr>
        <p:txBody>
          <a:bodyPr wrap="square" lIns="25400" tIns="25400" rIns="25400" bIns="25400" rtlCol="0" anchor="t">
            <a:normAutofit/>
          </a:bodyPr>
          <a:lstStyle/>
          <a:p>
            <a:pPr algn="l" indent="0" marL="0">
              <a:lnSpc>
                <a:spcPct val="120000"/>
              </a:lnSpc>
              <a:buNone/>
            </a:pPr>
            <a:r>
              <a:rPr lang="en-US" sz="5100" b="1" spc="-127" kern="0" dirty="0">
                <a:solidFill>
                  <a:srgbClr val="131313"/>
                </a:solidFill>
                <a:latin typeface="Arial" pitchFamily="34" charset="0"/>
                <a:ea typeface="Arial" pitchFamily="34" charset="-122"/>
                <a:cs typeface="Arial" pitchFamily="34" charset="-120"/>
              </a:rPr>
              <a:t>박람회 리드 후속 이메일,</a:t>
            </a:r>
            <a:endParaRPr lang="en-US" sz="5100" dirty="0"/>
          </a:p>
        </p:txBody>
      </p:sp>
      <p:sp>
        <p:nvSpPr>
          <p:cNvPr id="9" name="Text 7"/>
          <p:cNvSpPr/>
          <p:nvPr/>
        </p:nvSpPr>
        <p:spPr>
          <a:xfrm>
            <a:off x="952500" y="3720480"/>
            <a:ext cx="12028170" cy="815280"/>
          </a:xfrm>
          <a:prstGeom prst="rect">
            <a:avLst/>
          </a:prstGeom>
          <a:noFill/>
          <a:ln/>
        </p:spPr>
        <p:txBody>
          <a:bodyPr wrap="square" lIns="25400" tIns="25400" rIns="25400" bIns="25400" rtlCol="0" anchor="t">
            <a:normAutofit/>
          </a:bodyPr>
          <a:lstStyle/>
          <a:p>
            <a:pPr algn="l" indent="0" marL="0">
              <a:lnSpc>
                <a:spcPct val="120000"/>
              </a:lnSpc>
              <a:buNone/>
            </a:pPr>
            <a:r>
              <a:rPr lang="en-US" sz="5100" b="1" spc="-127" kern="0" dirty="0">
                <a:solidFill>
                  <a:srgbClr val="131313"/>
                </a:solidFill>
                <a:latin typeface="Arial" pitchFamily="34" charset="0"/>
                <a:ea typeface="Arial" pitchFamily="34" charset="-122"/>
                <a:cs typeface="Arial" pitchFamily="34" charset="-120"/>
              </a:rPr>
              <a:t>8시간 수작업에서</a:t>
            </a:r>
            <a:pPr algn="l" indent="0" marL="0">
              <a:lnSpc>
                <a:spcPct val="120000"/>
              </a:lnSpc>
              <a:buNone/>
            </a:pPr>
            <a:r>
              <a:rPr lang="en-US" sz="5100" b="1" spc="-127" kern="0" dirty="0">
                <a:solidFill>
                  <a:srgbClr val="9673F9"/>
                </a:solidFill>
                <a:latin typeface="Arial" pitchFamily="34" charset="0"/>
                <a:ea typeface="Arial" pitchFamily="34" charset="-122"/>
                <a:cs typeface="Arial" pitchFamily="34" charset="-120"/>
              </a:rPr>
              <a:t>Skill 한 번으로</a:t>
            </a:r>
            <a:endParaRPr lang="en-US" sz="5100" dirty="0"/>
          </a:p>
        </p:txBody>
      </p:sp>
      <p:sp>
        <p:nvSpPr>
          <p:cNvPr id="10" name="Text 8"/>
          <p:cNvSpPr/>
          <p:nvPr/>
        </p:nvSpPr>
        <p:spPr>
          <a:xfrm>
            <a:off x="952500" y="4821510"/>
            <a:ext cx="8829675" cy="904875"/>
          </a:xfrm>
          <a:prstGeom prst="rect">
            <a:avLst/>
          </a:prstGeom>
          <a:noFill/>
          <a:ln/>
        </p:spPr>
        <p:txBody>
          <a:bodyPr wrap="square" lIns="25400" tIns="25400" rIns="25400" bIns="25400" rtlCol="0" anchor="t">
            <a:normAutofit/>
          </a:bodyPr>
          <a:lstStyle/>
          <a:p>
            <a:pPr algn="l" indent="0" marL="0">
              <a:lnSpc>
                <a:spcPct val="150000"/>
              </a:lnSpc>
              <a:buNone/>
            </a:pPr>
            <a:r>
              <a:rPr lang="en-US" sz="2250" dirty="0">
                <a:solidFill>
                  <a:srgbClr val="585858"/>
                </a:solidFill>
                <a:latin typeface="Arial" pitchFamily="34" charset="0"/>
                <a:ea typeface="Arial" pitchFamily="34" charset="-122"/>
                <a:cs typeface="Arial" pitchFamily="34" charset="-120"/>
              </a:rPr>
              <a:t>직책별로 다르게 꽂히는 개인화 초안부터, 회의 없이 바로 착수하는 </a:t>
            </a:r>
            <a:pPr algn="l" indent="0" marL="0">
              <a:lnSpc>
                <a:spcPct val="150000"/>
              </a:lnSpc>
              <a:buNone/>
            </a:pPr>
            <a:r>
              <a:rPr lang="en-US" sz="2250" b="1" dirty="0">
                <a:solidFill>
                  <a:srgbClr val="6B52B1"/>
                </a:solidFill>
                <a:latin typeface="Arial" pitchFamily="34" charset="0"/>
                <a:ea typeface="Arial" pitchFamily="34" charset="-122"/>
                <a:cs typeface="Arial" pitchFamily="34" charset="-120"/>
              </a:rPr>
              <a:t>실행형 후속 캠페인 기획안 </a:t>
            </a:r>
            <a:pPr algn="l" indent="0" marL="0">
              <a:lnSpc>
                <a:spcPct val="150000"/>
              </a:lnSpc>
              <a:buNone/>
            </a:pPr>
            <a:r>
              <a:rPr lang="en-US" sz="2250" dirty="0">
                <a:solidFill>
                  <a:srgbClr val="585858"/>
                </a:solidFill>
                <a:latin typeface="Arial" pitchFamily="34" charset="0"/>
                <a:ea typeface="Arial" pitchFamily="34" charset="-122"/>
                <a:cs typeface="Arial" pitchFamily="34" charset="-120"/>
              </a:rPr>
              <a:t>까지 — 재현 가능한 파이프라인.</a:t>
            </a:r>
            <a:endParaRPr lang="en-US" sz="2250" dirty="0"/>
          </a:p>
        </p:txBody>
      </p:sp>
      <p:sp>
        <p:nvSpPr>
          <p:cNvPr id="11" name="Shape 9"/>
          <p:cNvSpPr/>
          <p:nvPr/>
        </p:nvSpPr>
        <p:spPr>
          <a:xfrm>
            <a:off x="12573000" y="2201242"/>
            <a:ext cx="4762500" cy="1143000"/>
          </a:xfrm>
          <a:prstGeom prst="roundRect">
            <a:avLst>
              <a:gd name="adj" fmla="val 15000"/>
            </a:avLst>
          </a:prstGeom>
          <a:solidFill>
            <a:srgbClr val="FFFFFF"/>
          </a:solidFill>
          <a:ln w="9525">
            <a:solidFill>
              <a:srgbClr val="ECE6FB"/>
            </a:solidFill>
            <a:prstDash val="solid"/>
          </a:ln>
          <a:effectLst>
            <a:outerShdw sx="100000" sy="100000" kx="0" ky="0" algn="bl" rotWithShape="0" blurRad="247650" dist="95250" dir="5400000">
              <a:srgbClr val="6B52B1">
                <a:alpha val="6000"/>
              </a:srgbClr>
            </a:outerShdw>
          </a:effectLst>
        </p:spPr>
      </p:sp>
      <p:sp>
        <p:nvSpPr>
          <p:cNvPr id="12" name="Shape 10"/>
          <p:cNvSpPr/>
          <p:nvPr/>
        </p:nvSpPr>
        <p:spPr>
          <a:xfrm>
            <a:off x="12811125" y="2506042"/>
            <a:ext cx="533400" cy="533400"/>
          </a:xfrm>
          <a:prstGeom prst="roundRect">
            <a:avLst>
              <a:gd name="adj" fmla="val 26786"/>
            </a:avLst>
          </a:prstGeom>
          <a:solidFill>
            <a:srgbClr val="F3EEFE"/>
          </a:solidFill>
          <a:ln/>
        </p:spPr>
      </p:sp>
      <p:pic>
        <p:nvPicPr>
          <p:cNvPr id="1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2934950" y="2629867"/>
            <a:ext cx="285750" cy="285750"/>
          </a:xfrm>
          <a:prstGeom prst="rect">
            <a:avLst/>
          </a:prstGeom>
        </p:spPr>
      </p:pic>
      <p:sp>
        <p:nvSpPr>
          <p:cNvPr id="14" name="Text 11"/>
          <p:cNvSpPr/>
          <p:nvPr/>
        </p:nvSpPr>
        <p:spPr>
          <a:xfrm>
            <a:off x="13515975" y="2401267"/>
            <a:ext cx="2145023" cy="466725"/>
          </a:xfrm>
          <a:prstGeom prst="rect">
            <a:avLst/>
          </a:prstGeom>
          <a:noFill/>
          <a:ln/>
        </p:spPr>
        <p:txBody>
          <a:bodyPr wrap="square" lIns="25400" tIns="25400" rIns="25400" bIns="25400" rtlCol="0" anchor="t">
            <a:normAutofit/>
          </a:bodyPr>
          <a:lstStyle/>
          <a:p>
            <a:pPr algn="l" indent="0" marL="0">
              <a:buNone/>
            </a:pPr>
            <a:r>
              <a:rPr lang="en-US" sz="2325" b="1" dirty="0">
                <a:solidFill>
                  <a:srgbClr val="131313"/>
                </a:solidFill>
                <a:latin typeface="Arial" pitchFamily="34" charset="0"/>
                <a:ea typeface="Arial" pitchFamily="34" charset="-122"/>
                <a:cs typeface="Arial" pitchFamily="34" charset="-120"/>
              </a:rPr>
              <a:t>리드 CSV</a:t>
            </a:r>
            <a:endParaRPr lang="en-US" sz="2325" dirty="0"/>
          </a:p>
        </p:txBody>
      </p:sp>
      <p:sp>
        <p:nvSpPr>
          <p:cNvPr id="15" name="Text 12"/>
          <p:cNvSpPr/>
          <p:nvPr/>
        </p:nvSpPr>
        <p:spPr>
          <a:xfrm>
            <a:off x="13515975" y="2867992"/>
            <a:ext cx="2145023" cy="314325"/>
          </a:xfrm>
          <a:prstGeom prst="rect">
            <a:avLst/>
          </a:prstGeom>
          <a:noFill/>
          <a:ln/>
        </p:spPr>
        <p:txBody>
          <a:bodyPr wrap="square" lIns="25400" tIns="25400" rIns="25400" bIns="25400" rtlCol="0" anchor="t">
            <a:normAutofit/>
          </a:bodyPr>
          <a:lstStyle/>
          <a:p>
            <a:pPr algn="l" indent="0" marL="0">
              <a:buNone/>
            </a:pPr>
            <a:r>
              <a:rPr lang="en-US" sz="1800" dirty="0">
                <a:solidFill>
                  <a:srgbClr val="9D9D9D"/>
                </a:solidFill>
                <a:latin typeface="Arial" pitchFamily="34" charset="0"/>
                <a:ea typeface="Arial" pitchFamily="34" charset="-122"/>
                <a:cs typeface="Arial" pitchFamily="34" charset="-120"/>
              </a:rPr>
              <a:t>박람회 명함·리드 원본</a:t>
            </a:r>
            <a:endParaRPr lang="en-US" sz="1800" dirty="0"/>
          </a:p>
        </p:txBody>
      </p:sp>
      <p:pic>
        <p:nvPicPr>
          <p:cNvPr id="1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4839950" y="3410917"/>
            <a:ext cx="228600" cy="228600"/>
          </a:xfrm>
          <a:prstGeom prst="rect">
            <a:avLst/>
          </a:prstGeom>
        </p:spPr>
      </p:pic>
      <p:sp>
        <p:nvSpPr>
          <p:cNvPr id="17" name="Shape 13"/>
          <p:cNvSpPr/>
          <p:nvPr/>
        </p:nvSpPr>
        <p:spPr>
          <a:xfrm>
            <a:off x="12573000" y="3706192"/>
            <a:ext cx="4762500" cy="1143000"/>
          </a:xfrm>
          <a:prstGeom prst="roundRect">
            <a:avLst>
              <a:gd name="adj" fmla="val 15000"/>
            </a:avLst>
          </a:prstGeom>
          <a:solidFill>
            <a:srgbClr val="FFFFFF"/>
          </a:solidFill>
          <a:ln w="9525">
            <a:solidFill>
              <a:srgbClr val="E3D9FB"/>
            </a:solidFill>
            <a:prstDash val="solid"/>
          </a:ln>
          <a:effectLst>
            <a:outerShdw sx="100000" sy="100000" kx="0" ky="0" algn="bl" rotWithShape="0" blurRad="247650" dist="95250" dir="5400000">
              <a:srgbClr val="6B52B1">
                <a:alpha val="7000"/>
              </a:srgbClr>
            </a:outerShdw>
          </a:effectLst>
        </p:spPr>
      </p:sp>
      <p:sp>
        <p:nvSpPr>
          <p:cNvPr id="18" name="Shape 14"/>
          <p:cNvSpPr/>
          <p:nvPr/>
        </p:nvSpPr>
        <p:spPr>
          <a:xfrm>
            <a:off x="12811125" y="4010992"/>
            <a:ext cx="533400" cy="533400"/>
          </a:xfrm>
          <a:prstGeom prst="roundRect">
            <a:avLst>
              <a:gd name="adj" fmla="val 26786"/>
            </a:avLst>
          </a:prstGeom>
          <a:solidFill>
            <a:srgbClr val="EDE7FE"/>
          </a:solidFill>
          <a:ln/>
        </p:spPr>
      </p:sp>
      <p:pic>
        <p:nvPicPr>
          <p:cNvPr id="1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2934950" y="4134817"/>
            <a:ext cx="285750" cy="285750"/>
          </a:xfrm>
          <a:prstGeom prst="rect">
            <a:avLst/>
          </a:prstGeom>
        </p:spPr>
      </p:pic>
      <p:sp>
        <p:nvSpPr>
          <p:cNvPr id="20" name="Text 15"/>
          <p:cNvSpPr/>
          <p:nvPr/>
        </p:nvSpPr>
        <p:spPr>
          <a:xfrm>
            <a:off x="13515975" y="3906217"/>
            <a:ext cx="2571080" cy="466725"/>
          </a:xfrm>
          <a:prstGeom prst="rect">
            <a:avLst/>
          </a:prstGeom>
          <a:noFill/>
          <a:ln/>
        </p:spPr>
        <p:txBody>
          <a:bodyPr wrap="square" lIns="25400" tIns="25400" rIns="25400" bIns="25400" rtlCol="0" anchor="t">
            <a:normAutofit/>
          </a:bodyPr>
          <a:lstStyle/>
          <a:p>
            <a:pPr algn="l" indent="0" marL="0">
              <a:buNone/>
            </a:pPr>
            <a:r>
              <a:rPr lang="en-US" sz="2325" b="1" dirty="0">
                <a:solidFill>
                  <a:srgbClr val="131313"/>
                </a:solidFill>
                <a:latin typeface="Arial" pitchFamily="34" charset="0"/>
                <a:ea typeface="Arial" pitchFamily="34" charset="-122"/>
                <a:cs typeface="Arial" pitchFamily="34" charset="-120"/>
              </a:rPr>
              <a:t>개인화 이메일 초안</a:t>
            </a:r>
            <a:endParaRPr lang="en-US" sz="2325" dirty="0"/>
          </a:p>
        </p:txBody>
      </p:sp>
      <p:sp>
        <p:nvSpPr>
          <p:cNvPr id="21" name="Text 16"/>
          <p:cNvSpPr/>
          <p:nvPr/>
        </p:nvSpPr>
        <p:spPr>
          <a:xfrm>
            <a:off x="13515975" y="4372942"/>
            <a:ext cx="2571080" cy="314325"/>
          </a:xfrm>
          <a:prstGeom prst="rect">
            <a:avLst/>
          </a:prstGeom>
          <a:noFill/>
          <a:ln/>
        </p:spPr>
        <p:txBody>
          <a:bodyPr wrap="square" lIns="25400" tIns="25400" rIns="25400" bIns="25400" rtlCol="0" anchor="t">
            <a:normAutofit/>
          </a:bodyPr>
          <a:lstStyle/>
          <a:p>
            <a:pPr algn="l" indent="0" marL="0">
              <a:buNone/>
            </a:pPr>
            <a:r>
              <a:rPr lang="en-US" sz="1800" dirty="0">
                <a:solidFill>
                  <a:srgbClr val="8969E3"/>
                </a:solidFill>
                <a:latin typeface="Arial" pitchFamily="34" charset="0"/>
                <a:ea typeface="Arial" pitchFamily="34" charset="-122"/>
                <a:cs typeface="Arial" pitchFamily="34" charset="-120"/>
              </a:rPr>
              <a:t>직책별 소구점 반영</a:t>
            </a:r>
            <a:endParaRPr lang="en-US" sz="1800" dirty="0"/>
          </a:p>
        </p:txBody>
      </p:sp>
      <p:pic>
        <p:nvPicPr>
          <p:cNvPr id="2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4839950" y="4915867"/>
            <a:ext cx="228600" cy="228600"/>
          </a:xfrm>
          <a:prstGeom prst="rect">
            <a:avLst/>
          </a:prstGeom>
        </p:spPr>
      </p:pic>
      <p:sp>
        <p:nvSpPr>
          <p:cNvPr id="23" name="Shape 17"/>
          <p:cNvSpPr/>
          <p:nvPr/>
        </p:nvSpPr>
        <p:spPr>
          <a:xfrm>
            <a:off x="12573000" y="5211142"/>
            <a:ext cx="4762500" cy="1162050"/>
          </a:xfrm>
          <a:prstGeom prst="roundRect">
            <a:avLst>
              <a:gd name="adj" fmla="val 14754"/>
            </a:avLst>
          </a:prstGeom>
          <a:gradFill rotWithShape="1">
            <a:gsLst>
              <a:gs pos="0">
                <a:srgbClr val="9673F9">
                  <a:alpha val="100000"/>
                </a:srgbClr>
              </a:gs>
              <a:gs pos="100000">
                <a:srgbClr val="8969E3">
                  <a:alpha val="100000"/>
                </a:srgbClr>
              </a:gs>
            </a:gsLst>
            <a:lin ang="2700000" scaled="0"/>
          </a:gradFill>
          <a:ln/>
          <a:effectLst>
            <a:outerShdw sx="100000" sy="100000" kx="0" ky="0" algn="bl" rotWithShape="0" blurRad="342900" dist="171450" dir="5400000">
              <a:srgbClr val="9673F9">
                <a:alpha val="34000"/>
              </a:srgbClr>
            </a:outerShdw>
          </a:effectLst>
        </p:spPr>
      </p:sp>
      <p:sp>
        <p:nvSpPr>
          <p:cNvPr id="24" name="Shape 18"/>
          <p:cNvSpPr/>
          <p:nvPr/>
        </p:nvSpPr>
        <p:spPr>
          <a:xfrm>
            <a:off x="16438587" y="5077792"/>
            <a:ext cx="706413" cy="447675"/>
          </a:xfrm>
          <a:prstGeom prst="roundRect">
            <a:avLst>
              <a:gd name="adj" fmla="val 50000"/>
            </a:avLst>
          </a:prstGeom>
          <a:solidFill>
            <a:srgbClr val="FFFAEB"/>
          </a:solidFill>
          <a:ln/>
          <a:effectLst>
            <a:outerShdw sx="100000" sy="100000" kx="0" ky="0" algn="bl" rotWithShape="0" blurRad="133350" dist="57150" dir="5400000">
              <a:srgbClr val="6B52B1">
                <a:alpha val="20000"/>
              </a:srgbClr>
            </a:outerShdw>
          </a:effectLst>
        </p:spPr>
      </p:sp>
      <p:sp>
        <p:nvSpPr>
          <p:cNvPr id="25" name="Text 19"/>
          <p:cNvSpPr/>
          <p:nvPr/>
        </p:nvSpPr>
        <p:spPr>
          <a:xfrm>
            <a:off x="16581462" y="5134942"/>
            <a:ext cx="496863"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8969E3"/>
                </a:solidFill>
                <a:latin typeface="Arial" pitchFamily="34" charset="0"/>
                <a:ea typeface="Arial" pitchFamily="34" charset="-122"/>
                <a:cs typeface="Arial" pitchFamily="34" charset="-120"/>
              </a:rPr>
              <a:t>핵심</a:t>
            </a:r>
            <a:endParaRPr lang="en-US" sz="1800" dirty="0"/>
          </a:p>
        </p:txBody>
      </p:sp>
      <p:sp>
        <p:nvSpPr>
          <p:cNvPr id="26" name="Shape 20"/>
          <p:cNvSpPr/>
          <p:nvPr/>
        </p:nvSpPr>
        <p:spPr>
          <a:xfrm>
            <a:off x="12801600" y="5525467"/>
            <a:ext cx="533400" cy="533400"/>
          </a:xfrm>
          <a:prstGeom prst="roundRect">
            <a:avLst>
              <a:gd name="adj" fmla="val 26786"/>
            </a:avLst>
          </a:prstGeom>
          <a:solidFill>
            <a:srgbClr val="FFFFFF">
              <a:alpha val="20000"/>
            </a:srgbClr>
          </a:solidFill>
          <a:ln/>
        </p:spPr>
      </p:sp>
      <p:pic>
        <p:nvPicPr>
          <p:cNvPr id="27"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2925425" y="5649292"/>
            <a:ext cx="285750" cy="285750"/>
          </a:xfrm>
          <a:prstGeom prst="rect">
            <a:avLst/>
          </a:prstGeom>
        </p:spPr>
      </p:pic>
      <p:sp>
        <p:nvSpPr>
          <p:cNvPr id="28" name="Text 21"/>
          <p:cNvSpPr/>
          <p:nvPr/>
        </p:nvSpPr>
        <p:spPr>
          <a:xfrm>
            <a:off x="13506450" y="5420692"/>
            <a:ext cx="2869853" cy="466725"/>
          </a:xfrm>
          <a:prstGeom prst="rect">
            <a:avLst/>
          </a:prstGeom>
          <a:noFill/>
          <a:ln/>
        </p:spPr>
        <p:txBody>
          <a:bodyPr wrap="square" lIns="25400" tIns="25400" rIns="25400" bIns="25400" rtlCol="0" anchor="t">
            <a:normAutofit/>
          </a:bodyPr>
          <a:lstStyle/>
          <a:p>
            <a:pPr algn="l" indent="0" marL="0">
              <a:buNone/>
            </a:pPr>
            <a:r>
              <a:rPr lang="en-US" sz="2325" b="1" dirty="0">
                <a:solidFill>
                  <a:srgbClr val="FFFFFF"/>
                </a:solidFill>
                <a:latin typeface="Arial" pitchFamily="34" charset="0"/>
                <a:ea typeface="Arial" pitchFamily="34" charset="-122"/>
                <a:cs typeface="Arial" pitchFamily="34" charset="-120"/>
              </a:rPr>
              <a:t>실행형 캠페인 기획안</a:t>
            </a:r>
            <a:endParaRPr lang="en-US" sz="2325" dirty="0"/>
          </a:p>
        </p:txBody>
      </p:sp>
      <p:sp>
        <p:nvSpPr>
          <p:cNvPr id="29" name="Text 22"/>
          <p:cNvSpPr/>
          <p:nvPr/>
        </p:nvSpPr>
        <p:spPr>
          <a:xfrm>
            <a:off x="13506450" y="5887417"/>
            <a:ext cx="2869853" cy="314325"/>
          </a:xfrm>
          <a:prstGeom prst="rect">
            <a:avLst/>
          </a:prstGeom>
          <a:noFill/>
          <a:ln/>
        </p:spPr>
        <p:txBody>
          <a:bodyPr wrap="square" lIns="25400" tIns="25400" rIns="25400" bIns="25400" rtlCol="0" anchor="t">
            <a:normAutofit/>
          </a:bodyPr>
          <a:lstStyle/>
          <a:p>
            <a:pPr algn="l" indent="0" marL="0">
              <a:buNone/>
            </a:pPr>
            <a:r>
              <a:rPr lang="en-US" sz="1800" b="1" dirty="0">
                <a:solidFill>
                  <a:srgbClr val="EFE7FF"/>
                </a:solidFill>
                <a:latin typeface="Arial" pitchFamily="34" charset="0"/>
                <a:ea typeface="Arial" pitchFamily="34" charset="-122"/>
                <a:cs typeface="Arial" pitchFamily="34" charset="-120"/>
              </a:rPr>
              <a:t>회의 없이 바로 착수</a:t>
            </a:r>
            <a:endParaRPr lang="en-US" sz="1800" dirty="0"/>
          </a:p>
        </p:txBody>
      </p:sp>
      <p:sp>
        <p:nvSpPr>
          <p:cNvPr id="30" name="Shape 23"/>
          <p:cNvSpPr/>
          <p:nvPr/>
        </p:nvSpPr>
        <p:spPr>
          <a:xfrm>
            <a:off x="952500" y="7536210"/>
            <a:ext cx="3924300" cy="1531590"/>
          </a:xfrm>
          <a:prstGeom prst="roundRect">
            <a:avLst>
              <a:gd name="adj" fmla="val 12438"/>
            </a:avLst>
          </a:prstGeom>
          <a:solidFill>
            <a:srgbClr val="FFFFFF"/>
          </a:solidFill>
          <a:ln w="9525">
            <a:solidFill>
              <a:srgbClr val="EEE8FB"/>
            </a:solidFill>
            <a:prstDash val="solid"/>
          </a:ln>
          <a:effectLst>
            <a:outerShdw sx="100000" sy="100000" kx="0" ky="0" algn="bl" rotWithShape="0" blurRad="285750" dist="114300" dir="5400000">
              <a:srgbClr val="6B52B1">
                <a:alpha val="7000"/>
              </a:srgbClr>
            </a:outerShdw>
          </a:effectLst>
        </p:spPr>
      </p:sp>
      <p:sp>
        <p:nvSpPr>
          <p:cNvPr id="31" name="Shape 24"/>
          <p:cNvSpPr/>
          <p:nvPr/>
        </p:nvSpPr>
        <p:spPr>
          <a:xfrm>
            <a:off x="1209675" y="7793385"/>
            <a:ext cx="514350" cy="514350"/>
          </a:xfrm>
          <a:prstGeom prst="roundRect">
            <a:avLst>
              <a:gd name="adj" fmla="val 27778"/>
            </a:avLst>
          </a:prstGeom>
          <a:solidFill>
            <a:srgbClr val="EFE9FD"/>
          </a:solidFill>
          <a:ln/>
        </p:spPr>
      </p:sp>
      <p:pic>
        <p:nvPicPr>
          <p:cNvPr id="32"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333500" y="7917210"/>
            <a:ext cx="266700" cy="266700"/>
          </a:xfrm>
          <a:prstGeom prst="rect">
            <a:avLst/>
          </a:prstGeom>
        </p:spPr>
      </p:pic>
      <p:sp>
        <p:nvSpPr>
          <p:cNvPr id="33" name="Text 25"/>
          <p:cNvSpPr/>
          <p:nvPr/>
        </p:nvSpPr>
        <p:spPr>
          <a:xfrm>
            <a:off x="1876425" y="7843391"/>
            <a:ext cx="602010" cy="452438"/>
          </a:xfrm>
          <a:prstGeom prst="rect">
            <a:avLst/>
          </a:prstGeom>
          <a:noFill/>
          <a:ln/>
        </p:spPr>
        <p:txBody>
          <a:bodyPr wrap="square" lIns="25400" tIns="25400" rIns="25400" bIns="25400" rtlCol="0" anchor="t">
            <a:normAutofit/>
          </a:bodyPr>
          <a:lstStyle/>
          <a:p>
            <a:pPr algn="l" indent="0" marL="0">
              <a:buNone/>
            </a:pPr>
            <a:r>
              <a:rPr lang="en-US" sz="2250" b="1" dirty="0">
                <a:solidFill>
                  <a:srgbClr val="131313"/>
                </a:solidFill>
                <a:latin typeface="Arial" pitchFamily="34" charset="0"/>
                <a:ea typeface="Arial" pitchFamily="34" charset="-122"/>
                <a:cs typeface="Arial" pitchFamily="34" charset="-120"/>
              </a:rPr>
              <a:t>속도</a:t>
            </a:r>
            <a:endParaRPr lang="en-US" sz="2250" dirty="0"/>
          </a:p>
        </p:txBody>
      </p:sp>
      <p:sp>
        <p:nvSpPr>
          <p:cNvPr id="34" name="Text 26"/>
          <p:cNvSpPr/>
          <p:nvPr/>
        </p:nvSpPr>
        <p:spPr>
          <a:xfrm>
            <a:off x="1209675" y="8460135"/>
            <a:ext cx="3750945" cy="369540"/>
          </a:xfrm>
          <a:prstGeom prst="rect">
            <a:avLst/>
          </a:prstGeom>
          <a:noFill/>
          <a:ln/>
        </p:spPr>
        <p:txBody>
          <a:bodyPr wrap="square" lIns="25400" tIns="25400" rIns="25400" bIns="25400" rtlCol="0" anchor="t">
            <a:normAutofit/>
          </a:bodyPr>
          <a:lstStyle/>
          <a:p>
            <a:pPr algn="l" indent="0" marL="0">
              <a:lnSpc>
                <a:spcPct val="145000"/>
              </a:lnSpc>
              <a:buNone/>
            </a:pPr>
            <a:r>
              <a:rPr lang="en-US" sz="1800" b="1" dirty="0">
                <a:solidFill>
                  <a:srgbClr val="6B52B1"/>
                </a:solidFill>
                <a:latin typeface="Arial" pitchFamily="34" charset="0"/>
                <a:ea typeface="Arial" pitchFamily="34" charset="-122"/>
                <a:cs typeface="Arial" pitchFamily="34" charset="-120"/>
              </a:rPr>
              <a:t>8시간+ </a:t>
            </a:r>
            <a:pPr algn="l" indent="0" marL="0">
              <a:lnSpc>
                <a:spcPct val="145000"/>
              </a:lnSpc>
              <a:buNone/>
            </a:pPr>
            <a:r>
              <a:rPr lang="en-US" sz="1800" dirty="0">
                <a:solidFill>
                  <a:srgbClr val="585858"/>
                </a:solidFill>
                <a:latin typeface="Arial" pitchFamily="34" charset="0"/>
                <a:ea typeface="Arial" pitchFamily="34" charset="-122"/>
                <a:cs typeface="Arial" pitchFamily="34" charset="-120"/>
              </a:rPr>
              <a:t>수작업을 1회 실행으로</a:t>
            </a:r>
            <a:endParaRPr lang="en-US" sz="1800" dirty="0"/>
          </a:p>
        </p:txBody>
      </p:sp>
      <p:sp>
        <p:nvSpPr>
          <p:cNvPr id="35" name="Shape 27"/>
          <p:cNvSpPr/>
          <p:nvPr/>
        </p:nvSpPr>
        <p:spPr>
          <a:xfrm>
            <a:off x="5105400" y="7536210"/>
            <a:ext cx="3924300" cy="1531590"/>
          </a:xfrm>
          <a:prstGeom prst="roundRect">
            <a:avLst>
              <a:gd name="adj" fmla="val 12438"/>
            </a:avLst>
          </a:prstGeom>
          <a:solidFill>
            <a:srgbClr val="FFFFFF"/>
          </a:solidFill>
          <a:ln w="9525">
            <a:solidFill>
              <a:srgbClr val="EEE8FB"/>
            </a:solidFill>
            <a:prstDash val="solid"/>
          </a:ln>
          <a:effectLst>
            <a:outerShdw sx="100000" sy="100000" kx="0" ky="0" algn="bl" rotWithShape="0" blurRad="285750" dist="114300" dir="5400000">
              <a:srgbClr val="6B52B1">
                <a:alpha val="7000"/>
              </a:srgbClr>
            </a:outerShdw>
          </a:effectLst>
        </p:spPr>
      </p:sp>
      <p:sp>
        <p:nvSpPr>
          <p:cNvPr id="36" name="Shape 28"/>
          <p:cNvSpPr/>
          <p:nvPr/>
        </p:nvSpPr>
        <p:spPr>
          <a:xfrm>
            <a:off x="5362575" y="7793385"/>
            <a:ext cx="514350" cy="514350"/>
          </a:xfrm>
          <a:prstGeom prst="roundRect">
            <a:avLst>
              <a:gd name="adj" fmla="val 27778"/>
            </a:avLst>
          </a:prstGeom>
          <a:solidFill>
            <a:srgbClr val="EFE9FD"/>
          </a:solidFill>
          <a:ln/>
        </p:spPr>
      </p:sp>
      <p:pic>
        <p:nvPicPr>
          <p:cNvPr id="37"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5486400" y="7917210"/>
            <a:ext cx="266700" cy="266700"/>
          </a:xfrm>
          <a:prstGeom prst="rect">
            <a:avLst/>
          </a:prstGeom>
        </p:spPr>
      </p:pic>
      <p:sp>
        <p:nvSpPr>
          <p:cNvPr id="38" name="Text 29"/>
          <p:cNvSpPr/>
          <p:nvPr/>
        </p:nvSpPr>
        <p:spPr>
          <a:xfrm>
            <a:off x="6029325" y="7843391"/>
            <a:ext cx="864915" cy="452438"/>
          </a:xfrm>
          <a:prstGeom prst="rect">
            <a:avLst/>
          </a:prstGeom>
          <a:noFill/>
          <a:ln/>
        </p:spPr>
        <p:txBody>
          <a:bodyPr wrap="square" lIns="25400" tIns="25400" rIns="25400" bIns="25400" rtlCol="0" anchor="t">
            <a:normAutofit/>
          </a:bodyPr>
          <a:lstStyle/>
          <a:p>
            <a:pPr algn="l" indent="0" marL="0">
              <a:buNone/>
            </a:pPr>
            <a:r>
              <a:rPr lang="en-US" sz="2250" b="1" dirty="0">
                <a:solidFill>
                  <a:srgbClr val="131313"/>
                </a:solidFill>
                <a:latin typeface="Arial" pitchFamily="34" charset="0"/>
                <a:ea typeface="Arial" pitchFamily="34" charset="-122"/>
                <a:cs typeface="Arial" pitchFamily="34" charset="-120"/>
              </a:rPr>
              <a:t>전환력</a:t>
            </a:r>
            <a:endParaRPr lang="en-US" sz="2250" dirty="0"/>
          </a:p>
        </p:txBody>
      </p:sp>
      <p:sp>
        <p:nvSpPr>
          <p:cNvPr id="39" name="Text 30"/>
          <p:cNvSpPr/>
          <p:nvPr/>
        </p:nvSpPr>
        <p:spPr>
          <a:xfrm>
            <a:off x="5362575" y="8460135"/>
            <a:ext cx="3750945" cy="369540"/>
          </a:xfrm>
          <a:prstGeom prst="rect">
            <a:avLst/>
          </a:prstGeom>
          <a:noFill/>
          <a:ln/>
        </p:spPr>
        <p:txBody>
          <a:bodyPr wrap="square" lIns="25400" tIns="25400" rIns="25400" bIns="25400" rtlCol="0" anchor="t">
            <a:normAutofit/>
          </a:bodyPr>
          <a:lstStyle/>
          <a:p>
            <a:pPr algn="l" indent="0" marL="0">
              <a:lnSpc>
                <a:spcPct val="145000"/>
              </a:lnSpc>
              <a:buNone/>
            </a:pPr>
            <a:r>
              <a:rPr lang="en-US" sz="1800" dirty="0">
                <a:solidFill>
                  <a:srgbClr val="585858"/>
                </a:solidFill>
                <a:latin typeface="Arial" pitchFamily="34" charset="0"/>
                <a:ea typeface="Arial" pitchFamily="34" charset="-122"/>
                <a:cs typeface="Arial" pitchFamily="34" charset="-120"/>
              </a:rPr>
              <a:t>직책별 소구점·CTA 차별화</a:t>
            </a:r>
            <a:endParaRPr lang="en-US" sz="1800" dirty="0"/>
          </a:p>
        </p:txBody>
      </p:sp>
      <p:sp>
        <p:nvSpPr>
          <p:cNvPr id="40" name="Shape 31"/>
          <p:cNvSpPr/>
          <p:nvPr/>
        </p:nvSpPr>
        <p:spPr>
          <a:xfrm>
            <a:off x="9258300" y="7536210"/>
            <a:ext cx="3924300" cy="1531590"/>
          </a:xfrm>
          <a:prstGeom prst="roundRect">
            <a:avLst>
              <a:gd name="adj" fmla="val 12438"/>
            </a:avLst>
          </a:prstGeom>
          <a:solidFill>
            <a:srgbClr val="FFFFFF"/>
          </a:solidFill>
          <a:ln w="9525">
            <a:solidFill>
              <a:srgbClr val="EEE8FB"/>
            </a:solidFill>
            <a:prstDash val="solid"/>
          </a:ln>
          <a:effectLst>
            <a:outerShdw sx="100000" sy="100000" kx="0" ky="0" algn="bl" rotWithShape="0" blurRad="285750" dist="114300" dir="5400000">
              <a:srgbClr val="6B52B1">
                <a:alpha val="7000"/>
              </a:srgbClr>
            </a:outerShdw>
          </a:effectLst>
        </p:spPr>
      </p:sp>
      <p:sp>
        <p:nvSpPr>
          <p:cNvPr id="41" name="Shape 32"/>
          <p:cNvSpPr/>
          <p:nvPr/>
        </p:nvSpPr>
        <p:spPr>
          <a:xfrm>
            <a:off x="9515475" y="7793385"/>
            <a:ext cx="514350" cy="514350"/>
          </a:xfrm>
          <a:prstGeom prst="roundRect">
            <a:avLst>
              <a:gd name="adj" fmla="val 27778"/>
            </a:avLst>
          </a:prstGeom>
          <a:solidFill>
            <a:srgbClr val="EFE9FD"/>
          </a:solidFill>
          <a:ln/>
        </p:spPr>
      </p:sp>
      <p:pic>
        <p:nvPicPr>
          <p:cNvPr id="42" name="Image 7" descr="preencoded.png">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9639300" y="7917210"/>
            <a:ext cx="266700" cy="266700"/>
          </a:xfrm>
          <a:prstGeom prst="rect">
            <a:avLst/>
          </a:prstGeom>
        </p:spPr>
      </p:pic>
      <p:sp>
        <p:nvSpPr>
          <p:cNvPr id="43" name="Text 33"/>
          <p:cNvSpPr/>
          <p:nvPr/>
        </p:nvSpPr>
        <p:spPr>
          <a:xfrm>
            <a:off x="10182225" y="7843391"/>
            <a:ext cx="864915" cy="452438"/>
          </a:xfrm>
          <a:prstGeom prst="rect">
            <a:avLst/>
          </a:prstGeom>
          <a:noFill/>
          <a:ln/>
        </p:spPr>
        <p:txBody>
          <a:bodyPr wrap="square" lIns="25400" tIns="25400" rIns="25400" bIns="25400" rtlCol="0" anchor="t">
            <a:normAutofit/>
          </a:bodyPr>
          <a:lstStyle/>
          <a:p>
            <a:pPr algn="l" indent="0" marL="0">
              <a:buNone/>
            </a:pPr>
            <a:r>
              <a:rPr lang="en-US" sz="2250" b="1" dirty="0">
                <a:solidFill>
                  <a:srgbClr val="131313"/>
                </a:solidFill>
                <a:latin typeface="Arial" pitchFamily="34" charset="0"/>
                <a:ea typeface="Arial" pitchFamily="34" charset="-122"/>
                <a:cs typeface="Arial" pitchFamily="34" charset="-120"/>
              </a:rPr>
              <a:t>실행력</a:t>
            </a:r>
            <a:endParaRPr lang="en-US" sz="2250" dirty="0"/>
          </a:p>
        </p:txBody>
      </p:sp>
      <p:sp>
        <p:nvSpPr>
          <p:cNvPr id="44" name="Text 34"/>
          <p:cNvSpPr/>
          <p:nvPr/>
        </p:nvSpPr>
        <p:spPr>
          <a:xfrm>
            <a:off x="9515475" y="8460135"/>
            <a:ext cx="3750945" cy="369540"/>
          </a:xfrm>
          <a:prstGeom prst="rect">
            <a:avLst/>
          </a:prstGeom>
          <a:noFill/>
          <a:ln/>
        </p:spPr>
        <p:txBody>
          <a:bodyPr wrap="square" lIns="25400" tIns="25400" rIns="25400" bIns="25400" rtlCol="0" anchor="t">
            <a:normAutofit/>
          </a:bodyPr>
          <a:lstStyle/>
          <a:p>
            <a:pPr algn="l" indent="0" marL="0">
              <a:lnSpc>
                <a:spcPct val="145000"/>
              </a:lnSpc>
              <a:buNone/>
            </a:pPr>
            <a:r>
              <a:rPr lang="en-US" sz="1800" dirty="0">
                <a:solidFill>
                  <a:srgbClr val="585858"/>
                </a:solidFill>
                <a:latin typeface="Arial" pitchFamily="34" charset="0"/>
                <a:ea typeface="Arial" pitchFamily="34" charset="-122"/>
                <a:cs typeface="Arial" pitchFamily="34" charset="-120"/>
              </a:rPr>
              <a:t>담당·체크리스트·리스크까지</a:t>
            </a:r>
            <a:endParaRPr lang="en-US" sz="1800" dirty="0"/>
          </a:p>
        </p:txBody>
      </p:sp>
      <p:sp>
        <p:nvSpPr>
          <p:cNvPr id="45" name="Shape 35"/>
          <p:cNvSpPr/>
          <p:nvPr/>
        </p:nvSpPr>
        <p:spPr>
          <a:xfrm>
            <a:off x="13411200" y="7536210"/>
            <a:ext cx="3924300" cy="1531590"/>
          </a:xfrm>
          <a:prstGeom prst="roundRect">
            <a:avLst>
              <a:gd name="adj" fmla="val 12438"/>
            </a:avLst>
          </a:prstGeom>
          <a:solidFill>
            <a:srgbClr val="FFFFFF"/>
          </a:solidFill>
          <a:ln w="9525">
            <a:solidFill>
              <a:srgbClr val="EEE8FB"/>
            </a:solidFill>
            <a:prstDash val="solid"/>
          </a:ln>
          <a:effectLst>
            <a:outerShdw sx="100000" sy="100000" kx="0" ky="0" algn="bl" rotWithShape="0" blurRad="285750" dist="114300" dir="5400000">
              <a:srgbClr val="6B52B1">
                <a:alpha val="7000"/>
              </a:srgbClr>
            </a:outerShdw>
          </a:effectLst>
        </p:spPr>
      </p:sp>
      <p:sp>
        <p:nvSpPr>
          <p:cNvPr id="46" name="Shape 36"/>
          <p:cNvSpPr/>
          <p:nvPr/>
        </p:nvSpPr>
        <p:spPr>
          <a:xfrm>
            <a:off x="13668375" y="7793385"/>
            <a:ext cx="514350" cy="514350"/>
          </a:xfrm>
          <a:prstGeom prst="roundRect">
            <a:avLst>
              <a:gd name="adj" fmla="val 27778"/>
            </a:avLst>
          </a:prstGeom>
          <a:solidFill>
            <a:srgbClr val="EFE9FD"/>
          </a:solidFill>
          <a:ln/>
        </p:spPr>
      </p:sp>
      <p:pic>
        <p:nvPicPr>
          <p:cNvPr id="47" name="Image 8" descr="preencoded.png">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13792200" y="7917210"/>
            <a:ext cx="266700" cy="266700"/>
          </a:xfrm>
          <a:prstGeom prst="rect">
            <a:avLst/>
          </a:prstGeom>
        </p:spPr>
      </p:pic>
      <p:sp>
        <p:nvSpPr>
          <p:cNvPr id="48" name="Text 37"/>
          <p:cNvSpPr/>
          <p:nvPr/>
        </p:nvSpPr>
        <p:spPr>
          <a:xfrm>
            <a:off x="14335125" y="7843391"/>
            <a:ext cx="864915" cy="452438"/>
          </a:xfrm>
          <a:prstGeom prst="rect">
            <a:avLst/>
          </a:prstGeom>
          <a:noFill/>
          <a:ln/>
        </p:spPr>
        <p:txBody>
          <a:bodyPr wrap="square" lIns="25400" tIns="25400" rIns="25400" bIns="25400" rtlCol="0" anchor="t">
            <a:normAutofit/>
          </a:bodyPr>
          <a:lstStyle/>
          <a:p>
            <a:pPr algn="l" indent="0" marL="0">
              <a:buNone/>
            </a:pPr>
            <a:r>
              <a:rPr lang="en-US" sz="2250" b="1" dirty="0">
                <a:solidFill>
                  <a:srgbClr val="131313"/>
                </a:solidFill>
                <a:latin typeface="Arial" pitchFamily="34" charset="0"/>
                <a:ea typeface="Arial" pitchFamily="34" charset="-122"/>
                <a:cs typeface="Arial" pitchFamily="34" charset="-120"/>
              </a:rPr>
              <a:t>재현성</a:t>
            </a:r>
            <a:endParaRPr lang="en-US" sz="2250" dirty="0"/>
          </a:p>
        </p:txBody>
      </p:sp>
      <p:sp>
        <p:nvSpPr>
          <p:cNvPr id="49" name="Text 38"/>
          <p:cNvSpPr/>
          <p:nvPr/>
        </p:nvSpPr>
        <p:spPr>
          <a:xfrm>
            <a:off x="13668375" y="8460135"/>
            <a:ext cx="3750945" cy="369540"/>
          </a:xfrm>
          <a:prstGeom prst="rect">
            <a:avLst/>
          </a:prstGeom>
          <a:noFill/>
          <a:ln/>
        </p:spPr>
        <p:txBody>
          <a:bodyPr wrap="square" lIns="25400" tIns="25400" rIns="25400" bIns="25400" rtlCol="0" anchor="t">
            <a:normAutofit/>
          </a:bodyPr>
          <a:lstStyle/>
          <a:p>
            <a:pPr algn="l" indent="0" marL="0">
              <a:lnSpc>
                <a:spcPct val="145000"/>
              </a:lnSpc>
              <a:buNone/>
            </a:pPr>
            <a:r>
              <a:rPr lang="en-US" sz="1800" dirty="0">
                <a:solidFill>
                  <a:srgbClr val="585858"/>
                </a:solidFill>
                <a:latin typeface="Arial" pitchFamily="34" charset="0"/>
                <a:ea typeface="Arial" pitchFamily="34" charset="-122"/>
                <a:cs typeface="Arial" pitchFamily="34" charset="-120"/>
              </a:rPr>
              <a:t>새 CSV만 갈아 끼우면 재현</a:t>
            </a:r>
            <a:endParaRPr lang="en-US" sz="1800" dirty="0"/>
          </a:p>
        </p:txBody>
      </p:sp>
      <p:sp>
        <p:nvSpPr>
          <p:cNvPr id="50" name="Shape 39"/>
          <p:cNvSpPr/>
          <p:nvPr/>
        </p:nvSpPr>
        <p:spPr>
          <a:xfrm>
            <a:off x="952500" y="9334500"/>
            <a:ext cx="16383000" cy="9525"/>
          </a:xfrm>
          <a:prstGeom prst="rect">
            <a:avLst/>
          </a:prstGeom>
          <a:solidFill>
            <a:srgbClr val="ECECEC"/>
          </a:solidFill>
          <a:ln/>
        </p:spPr>
      </p:sp>
      <p:sp>
        <p:nvSpPr>
          <p:cNvPr id="51" name="Text 40"/>
          <p:cNvSpPr/>
          <p:nvPr/>
        </p:nvSpPr>
        <p:spPr>
          <a:xfrm>
            <a:off x="952500" y="9515475"/>
            <a:ext cx="2574764" cy="314325"/>
          </a:xfrm>
          <a:prstGeom prst="rect">
            <a:avLst/>
          </a:prstGeom>
          <a:noFill/>
          <a:ln/>
        </p:spPr>
        <p:txBody>
          <a:bodyPr wrap="square" lIns="25400" tIns="25400" rIns="25400" bIns="25400" rtlCol="0" anchor="t">
            <a:normAutofit/>
          </a:bodyPr>
          <a:lstStyle/>
          <a:p>
            <a:pPr algn="l" indent="0" marL="0">
              <a:buNone/>
            </a:pPr>
            <a:r>
              <a:rPr lang="en-US" sz="1800" dirty="0">
                <a:solidFill>
                  <a:srgbClr val="9D9D9D"/>
                </a:solidFill>
                <a:latin typeface="Arial" pitchFamily="34" charset="0"/>
                <a:ea typeface="Arial" pitchFamily="34" charset="-122"/>
                <a:cs typeface="Arial" pitchFamily="34" charset="-120"/>
              </a:rPr>
              <a:t>키즐링 후속 이메일 자동화</a:t>
            </a:r>
            <a:endParaRPr lang="en-US" sz="1800" dirty="0"/>
          </a:p>
        </p:txBody>
      </p:sp>
      <p:sp>
        <p:nvSpPr>
          <p:cNvPr id="52" name="Text 41"/>
          <p:cNvSpPr/>
          <p:nvPr/>
        </p:nvSpPr>
        <p:spPr>
          <a:xfrm>
            <a:off x="16607954" y="9515475"/>
            <a:ext cx="803746" cy="314325"/>
          </a:xfrm>
          <a:prstGeom prst="rect">
            <a:avLst/>
          </a:prstGeom>
          <a:noFill/>
          <a:ln/>
        </p:spPr>
        <p:txBody>
          <a:bodyPr wrap="square" lIns="25400" tIns="25400" rIns="25400" bIns="25400" rtlCol="0" anchor="t">
            <a:normAutofit/>
          </a:bodyPr>
          <a:lstStyle/>
          <a:p>
            <a:pPr algn="l" indent="0" marL="0">
              <a:buNone/>
            </a:pPr>
            <a:r>
              <a:rPr lang="en-US" sz="1800" b="1" dirty="0">
                <a:solidFill>
                  <a:srgbClr val="6B52B1"/>
                </a:solidFill>
                <a:latin typeface="Arial" pitchFamily="34" charset="0"/>
                <a:ea typeface="Arial" pitchFamily="34" charset="-122"/>
                <a:cs typeface="Arial" pitchFamily="34" charset="-120"/>
              </a:rPr>
              <a:t>01 </a:t>
            </a:r>
            <a:pPr algn="l" indent="0" marL="0">
              <a:buNone/>
            </a:pPr>
            <a:r>
              <a:rPr lang="en-US" sz="1800" dirty="0">
                <a:solidFill>
                  <a:srgbClr val="9D9D9D"/>
                </a:solidFill>
                <a:latin typeface="Arial" pitchFamily="34" charset="0"/>
                <a:ea typeface="Arial" pitchFamily="34" charset="-122"/>
                <a:cs typeface="Arial" pitchFamily="34" charset="-120"/>
              </a:rPr>
              <a:t>/ 08</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9673F9">
                  <a:alpha val="8000"/>
                </a:srgbClr>
              </a:gs>
              <a:gs pos="60000">
                <a:srgbClr val="9673F9">
                  <a:alpha val="0"/>
                </a:srgbClr>
              </a:gs>
            </a:gsLst>
            <a:path path="circle">
              <a:fillToRect l="94000" t="100000" r="6000" b="0"/>
            </a:path>
          </a:gradFill>
          <a:ln/>
        </p:spPr>
      </p:sp>
      <p:sp>
        <p:nvSpPr>
          <p:cNvPr id="3" name="Shape 1"/>
          <p:cNvSpPr/>
          <p:nvPr/>
        </p:nvSpPr>
        <p:spPr>
          <a:xfrm>
            <a:off x="952500" y="609600"/>
            <a:ext cx="1053852" cy="542925"/>
          </a:xfrm>
          <a:prstGeom prst="roundRect">
            <a:avLst>
              <a:gd name="adj" fmla="val 50000"/>
            </a:avLst>
          </a:prstGeom>
          <a:solidFill>
            <a:srgbClr val="EDE7FE"/>
          </a:solidFill>
          <a:ln/>
        </p:spPr>
      </p:sp>
      <p:sp>
        <p:nvSpPr>
          <p:cNvPr id="4" name="Shape 2"/>
          <p:cNvSpPr/>
          <p:nvPr/>
        </p:nvSpPr>
        <p:spPr>
          <a:xfrm>
            <a:off x="1162050" y="833438"/>
            <a:ext cx="95250" cy="95250"/>
          </a:xfrm>
          <a:prstGeom prst="ellipse">
            <a:avLst/>
          </a:prstGeom>
          <a:solidFill>
            <a:srgbClr val="9673F9"/>
          </a:solidFill>
          <a:ln/>
        </p:spPr>
      </p:sp>
      <p:sp>
        <p:nvSpPr>
          <p:cNvPr id="5" name="Text 3"/>
          <p:cNvSpPr/>
          <p:nvPr/>
        </p:nvSpPr>
        <p:spPr>
          <a:xfrm>
            <a:off x="1371600" y="714375"/>
            <a:ext cx="501402" cy="371475"/>
          </a:xfrm>
          <a:prstGeom prst="rect">
            <a:avLst/>
          </a:prstGeom>
          <a:noFill/>
          <a:ln/>
        </p:spPr>
        <p:txBody>
          <a:bodyPr wrap="square" lIns="25400" tIns="25400" rIns="25400" bIns="25400" rtlCol="0" anchor="t">
            <a:normAutofit/>
          </a:bodyPr>
          <a:lstStyle/>
          <a:p>
            <a:pPr algn="l" indent="0" marL="0">
              <a:buNone/>
            </a:pPr>
            <a:r>
              <a:rPr lang="en-US" sz="1800" b="1" spc="18" kern="0" dirty="0">
                <a:solidFill>
                  <a:srgbClr val="6B52B1"/>
                </a:solidFill>
                <a:latin typeface="Arial" pitchFamily="34" charset="0"/>
                <a:ea typeface="Arial" pitchFamily="34" charset="-122"/>
                <a:cs typeface="Arial" pitchFamily="34" charset="-120"/>
              </a:rPr>
              <a:t>문제</a:t>
            </a:r>
            <a:endParaRPr lang="en-US" sz="1800" dirty="0"/>
          </a:p>
        </p:txBody>
      </p:sp>
      <p:sp>
        <p:nvSpPr>
          <p:cNvPr id="6" name="Text 4"/>
          <p:cNvSpPr/>
          <p:nvPr/>
        </p:nvSpPr>
        <p:spPr>
          <a:xfrm>
            <a:off x="952500" y="3286720"/>
            <a:ext cx="9723120" cy="699492"/>
          </a:xfrm>
          <a:prstGeom prst="rect">
            <a:avLst/>
          </a:prstGeom>
          <a:noFill/>
          <a:ln/>
        </p:spPr>
        <p:txBody>
          <a:bodyPr wrap="square" lIns="25400" tIns="25400" rIns="25400" bIns="25400" rtlCol="0" anchor="t">
            <a:normAutofit/>
          </a:bodyPr>
          <a:lstStyle/>
          <a:p>
            <a:pPr algn="l" indent="0" marL="0">
              <a:lnSpc>
                <a:spcPct val="124000"/>
              </a:lnSpc>
              <a:buNone/>
            </a:pPr>
            <a:r>
              <a:rPr lang="en-US" sz="4200" b="1" spc="-84" kern="0" dirty="0">
                <a:solidFill>
                  <a:srgbClr val="131313"/>
                </a:solidFill>
                <a:latin typeface="Arial" pitchFamily="34" charset="0"/>
                <a:ea typeface="Arial" pitchFamily="34" charset="-122"/>
                <a:cs typeface="Arial" pitchFamily="34" charset="-120"/>
              </a:rPr>
              <a:t>이메일을 </a:t>
            </a:r>
            <a:pPr algn="l" indent="0" marL="0">
              <a:lnSpc>
                <a:spcPct val="124000"/>
              </a:lnSpc>
              <a:buNone/>
            </a:pPr>
            <a:r>
              <a:rPr lang="en-US" sz="4200" b="1" spc="-84" kern="0" dirty="0">
                <a:solidFill>
                  <a:srgbClr val="9D9D9D"/>
                </a:solidFill>
                <a:latin typeface="Arial" pitchFamily="34" charset="0"/>
                <a:ea typeface="Arial" pitchFamily="34" charset="-122"/>
                <a:cs typeface="Arial" pitchFamily="34" charset="-120"/>
              </a:rPr>
              <a:t>'많이' </a:t>
            </a:r>
            <a:pPr algn="l" indent="0" marL="0">
              <a:lnSpc>
                <a:spcPct val="124000"/>
              </a:lnSpc>
              <a:buNone/>
            </a:pPr>
            <a:r>
              <a:rPr lang="en-US" sz="4200" b="1" spc="-84" kern="0" dirty="0">
                <a:solidFill>
                  <a:srgbClr val="131313"/>
                </a:solidFill>
                <a:latin typeface="Arial" pitchFamily="34" charset="0"/>
                <a:ea typeface="Arial" pitchFamily="34" charset="-122"/>
                <a:cs typeface="Arial" pitchFamily="34" charset="-120"/>
              </a:rPr>
              <a:t>만드는 게 아니라,</a:t>
            </a:r>
            <a:endParaRPr lang="en-US" sz="4200" dirty="0"/>
          </a:p>
        </p:txBody>
      </p:sp>
      <p:sp>
        <p:nvSpPr>
          <p:cNvPr id="7" name="Text 5"/>
          <p:cNvSpPr/>
          <p:nvPr/>
        </p:nvSpPr>
        <p:spPr>
          <a:xfrm>
            <a:off x="952500" y="3986213"/>
            <a:ext cx="9723120" cy="699492"/>
          </a:xfrm>
          <a:prstGeom prst="rect">
            <a:avLst/>
          </a:prstGeom>
          <a:noFill/>
          <a:ln/>
        </p:spPr>
        <p:txBody>
          <a:bodyPr wrap="square" lIns="25400" tIns="25400" rIns="25400" bIns="25400" rtlCol="0" anchor="t">
            <a:normAutofit/>
          </a:bodyPr>
          <a:lstStyle/>
          <a:p>
            <a:pPr algn="l" indent="0" marL="0">
              <a:lnSpc>
                <a:spcPct val="124000"/>
              </a:lnSpc>
              <a:buNone/>
            </a:pPr>
            <a:r>
              <a:rPr lang="en-US" sz="4200" b="1" spc="-84" kern="0" dirty="0">
                <a:solidFill>
                  <a:srgbClr val="131313"/>
                </a:solidFill>
                <a:latin typeface="Arial" pitchFamily="34" charset="0"/>
                <a:ea typeface="Arial" pitchFamily="34" charset="-122"/>
                <a:cs typeface="Arial" pitchFamily="34" charset="-120"/>
              </a:rPr>
              <a:t>48시간 안에 </a:t>
            </a:r>
            <a:pPr algn="l" indent="0" marL="0">
              <a:lnSpc>
                <a:spcPct val="124000"/>
              </a:lnSpc>
              <a:buNone/>
            </a:pPr>
            <a:r>
              <a:rPr lang="en-US" sz="4200" b="1" spc="-84" kern="0" dirty="0">
                <a:solidFill>
                  <a:srgbClr val="9673F9"/>
                </a:solidFill>
                <a:latin typeface="Arial" pitchFamily="34" charset="0"/>
                <a:ea typeface="Arial" pitchFamily="34" charset="-122"/>
                <a:cs typeface="Arial" pitchFamily="34" charset="-120"/>
              </a:rPr>
              <a:t>'꽂히게' </a:t>
            </a:r>
            <a:pPr algn="l" indent="0" marL="0">
              <a:lnSpc>
                <a:spcPct val="124000"/>
              </a:lnSpc>
              <a:buNone/>
            </a:pPr>
            <a:r>
              <a:rPr lang="en-US" sz="4200" b="1" spc="-84" kern="0" dirty="0">
                <a:solidFill>
                  <a:srgbClr val="131313"/>
                </a:solidFill>
                <a:latin typeface="Arial" pitchFamily="34" charset="0"/>
                <a:ea typeface="Arial" pitchFamily="34" charset="-122"/>
                <a:cs typeface="Arial" pitchFamily="34" charset="-120"/>
              </a:rPr>
              <a:t>보내는 게 문제</a:t>
            </a:r>
            <a:endParaRPr lang="en-US" sz="4200" dirty="0"/>
          </a:p>
        </p:txBody>
      </p:sp>
      <p:sp>
        <p:nvSpPr>
          <p:cNvPr id="8" name="Shape 6"/>
          <p:cNvSpPr/>
          <p:nvPr/>
        </p:nvSpPr>
        <p:spPr>
          <a:xfrm>
            <a:off x="952500" y="5066705"/>
            <a:ext cx="8839200" cy="1866900"/>
          </a:xfrm>
          <a:prstGeom prst="roundRect">
            <a:avLst>
              <a:gd name="adj" fmla="val 10204"/>
            </a:avLst>
          </a:prstGeom>
          <a:solidFill>
            <a:srgbClr val="F5F1FE"/>
          </a:solidFill>
          <a:ln w="9525">
            <a:solidFill>
              <a:srgbClr val="E7DFFB"/>
            </a:solidFill>
            <a:prstDash val="solid"/>
          </a:ln>
        </p:spPr>
      </p:sp>
      <p:sp>
        <p:nvSpPr>
          <p:cNvPr id="9" name="Text 7"/>
          <p:cNvSpPr/>
          <p:nvPr/>
        </p:nvSpPr>
        <p:spPr>
          <a:xfrm>
            <a:off x="1247775" y="5342930"/>
            <a:ext cx="9073515" cy="371475"/>
          </a:xfrm>
          <a:prstGeom prst="rect">
            <a:avLst/>
          </a:prstGeom>
          <a:noFill/>
          <a:ln/>
        </p:spPr>
        <p:txBody>
          <a:bodyPr wrap="square" lIns="25400" tIns="25400" rIns="25400" bIns="25400" rtlCol="0" anchor="t">
            <a:normAutofit/>
          </a:bodyPr>
          <a:lstStyle/>
          <a:p>
            <a:pPr algn="l" indent="0" marL="0">
              <a:buNone/>
            </a:pPr>
            <a:r>
              <a:rPr lang="en-US" sz="1800" b="1" spc="36" kern="0" dirty="0">
                <a:solidFill>
                  <a:srgbClr val="8969E3"/>
                </a:solidFill>
                <a:latin typeface="Arial" pitchFamily="34" charset="0"/>
                <a:ea typeface="Arial" pitchFamily="34" charset="-122"/>
                <a:cs typeface="Arial" pitchFamily="34" charset="-120"/>
              </a:rPr>
              <a:t>문제 재정의</a:t>
            </a:r>
            <a:endParaRPr lang="en-US" sz="1800" dirty="0"/>
          </a:p>
        </p:txBody>
      </p:sp>
      <p:sp>
        <p:nvSpPr>
          <p:cNvPr id="10" name="Text 8"/>
          <p:cNvSpPr/>
          <p:nvPr/>
        </p:nvSpPr>
        <p:spPr>
          <a:xfrm>
            <a:off x="1247775" y="5790605"/>
            <a:ext cx="8496110" cy="904875"/>
          </a:xfrm>
          <a:prstGeom prst="rect">
            <a:avLst/>
          </a:prstGeom>
          <a:noFill/>
          <a:ln/>
        </p:spPr>
        <p:txBody>
          <a:bodyPr wrap="square" lIns="25400" tIns="25400" rIns="25400" bIns="25400" rtlCol="0" anchor="t">
            <a:normAutofit/>
          </a:bodyPr>
          <a:lstStyle/>
          <a:p>
            <a:pPr algn="l" indent="0" marL="0">
              <a:lnSpc>
                <a:spcPct val="150000"/>
              </a:lnSpc>
              <a:buNone/>
            </a:pPr>
            <a:r>
              <a:rPr lang="en-US" sz="2250" b="1" dirty="0">
                <a:solidFill>
                  <a:srgbClr val="9D9D9D"/>
                </a:solidFill>
                <a:latin typeface="Arial" pitchFamily="34" charset="0"/>
                <a:ea typeface="Arial" pitchFamily="34" charset="-122"/>
                <a:cs typeface="Arial" pitchFamily="34" charset="-120"/>
              </a:rPr>
              <a:t>'많이 만든다'가 아니라 </a:t>
            </a:r>
            <a:pPr algn="l" indent="0" marL="0">
              <a:lnSpc>
                <a:spcPct val="150000"/>
              </a:lnSpc>
              <a:buNone/>
            </a:pPr>
            <a:r>
              <a:rPr lang="en-US" sz="2250" b="1" dirty="0">
                <a:solidFill>
                  <a:srgbClr val="131313"/>
                </a:solidFill>
                <a:latin typeface="Arial" pitchFamily="34" charset="0"/>
                <a:ea typeface="Arial" pitchFamily="34" charset="-122"/>
                <a:cs typeface="Arial" pitchFamily="34" charset="-120"/>
              </a:rPr>
              <a:t>— 골든타임 안에 </a:t>
            </a:r>
            <a:pPr algn="l" indent="0" marL="0">
              <a:lnSpc>
                <a:spcPct val="150000"/>
              </a:lnSpc>
              <a:buNone/>
            </a:pPr>
            <a:r>
              <a:rPr lang="en-US" sz="2250" b="1" dirty="0">
                <a:solidFill>
                  <a:srgbClr val="6B52B1"/>
                </a:solidFill>
                <a:latin typeface="Arial" pitchFamily="34" charset="0"/>
                <a:ea typeface="Arial" pitchFamily="34" charset="-122"/>
                <a:cs typeface="Arial" pitchFamily="34" charset="-120"/>
              </a:rPr>
              <a:t>직책별 맥락과 실제 상담</a:t>
            </a:r>
            <a:pPr algn="l" indent="0" marL="0">
              <a:lnSpc>
                <a:spcPct val="150000"/>
              </a:lnSpc>
              <a:buNone/>
            </a:pPr>
            <a:r>
              <a:rPr lang="en-US" sz="2250" b="1" dirty="0">
                <a:solidFill>
                  <a:srgbClr val="131313"/>
                </a:solidFill>
                <a:latin typeface="Arial" pitchFamily="34" charset="0"/>
                <a:ea typeface="Arial" pitchFamily="34" charset="-122"/>
                <a:cs typeface="Arial" pitchFamily="34" charset="-120"/>
              </a:rPr>
              <a:t>을 살려 </a:t>
            </a:r>
            <a:pPr algn="l" indent="0" marL="0">
              <a:lnSpc>
                <a:spcPct val="150000"/>
              </a:lnSpc>
              <a:buNone/>
            </a:pPr>
            <a:r>
              <a:rPr lang="en-US" sz="2250" b="1" dirty="0">
                <a:solidFill>
                  <a:srgbClr val="9673F9"/>
                </a:solidFill>
                <a:latin typeface="Arial" pitchFamily="34" charset="0"/>
                <a:ea typeface="Arial" pitchFamily="34" charset="-122"/>
                <a:cs typeface="Arial" pitchFamily="34" charset="-120"/>
              </a:rPr>
              <a:t>후속 전환 가능성</a:t>
            </a:r>
            <a:pPr algn="l" indent="0" marL="0">
              <a:lnSpc>
                <a:spcPct val="150000"/>
              </a:lnSpc>
              <a:buNone/>
            </a:pPr>
            <a:r>
              <a:rPr lang="en-US" sz="2250" b="1" dirty="0">
                <a:solidFill>
                  <a:srgbClr val="131313"/>
                </a:solidFill>
                <a:latin typeface="Arial" pitchFamily="34" charset="0"/>
                <a:ea typeface="Arial" pitchFamily="34" charset="-122"/>
                <a:cs typeface="Arial" pitchFamily="34" charset="-120"/>
              </a:rPr>
              <a:t>을 높인다.</a:t>
            </a:r>
            <a:endParaRPr lang="en-US" sz="2250" dirty="0"/>
          </a:p>
        </p:txBody>
      </p:sp>
      <p:sp>
        <p:nvSpPr>
          <p:cNvPr id="11" name="Shape 9"/>
          <p:cNvSpPr/>
          <p:nvPr/>
        </p:nvSpPr>
        <p:spPr>
          <a:xfrm>
            <a:off x="10477500" y="2856607"/>
            <a:ext cx="76200" cy="76200"/>
          </a:xfrm>
          <a:prstGeom prst="ellipse">
            <a:avLst/>
          </a:prstGeom>
          <a:solidFill>
            <a:srgbClr val="C7B6F5"/>
          </a:solidFill>
          <a:ln/>
        </p:spPr>
      </p:sp>
      <p:sp>
        <p:nvSpPr>
          <p:cNvPr id="12" name="Text 10"/>
          <p:cNvSpPr/>
          <p:nvPr/>
        </p:nvSpPr>
        <p:spPr>
          <a:xfrm>
            <a:off x="10648950" y="2728020"/>
            <a:ext cx="1781830" cy="371475"/>
          </a:xfrm>
          <a:prstGeom prst="rect">
            <a:avLst/>
          </a:prstGeom>
          <a:noFill/>
          <a:ln/>
        </p:spPr>
        <p:txBody>
          <a:bodyPr wrap="square" lIns="25400" tIns="25400" rIns="25400" bIns="25400" rtlCol="0" anchor="t">
            <a:normAutofit/>
          </a:bodyPr>
          <a:lstStyle/>
          <a:p>
            <a:pPr algn="l" indent="0" marL="0">
              <a:buNone/>
            </a:pPr>
            <a:r>
              <a:rPr lang="en-US" sz="1800" b="1" spc="18" kern="0" dirty="0">
                <a:solidFill>
                  <a:srgbClr val="8969E3"/>
                </a:solidFill>
                <a:latin typeface="Arial" pitchFamily="34" charset="0"/>
                <a:ea typeface="Arial" pitchFamily="34" charset="-122"/>
                <a:cs typeface="Arial" pitchFamily="34" charset="-120"/>
              </a:rPr>
              <a:t>지금 벌어지는 일</a:t>
            </a:r>
            <a:endParaRPr lang="en-US" sz="1800" dirty="0"/>
          </a:p>
        </p:txBody>
      </p:sp>
      <p:sp>
        <p:nvSpPr>
          <p:cNvPr id="13" name="Shape 11"/>
          <p:cNvSpPr/>
          <p:nvPr/>
        </p:nvSpPr>
        <p:spPr>
          <a:xfrm>
            <a:off x="10477500" y="3251895"/>
            <a:ext cx="3324225" cy="2015430"/>
          </a:xfrm>
          <a:prstGeom prst="roundRect">
            <a:avLst>
              <a:gd name="adj" fmla="val 9452"/>
            </a:avLst>
          </a:prstGeom>
          <a:solidFill>
            <a:srgbClr val="FFFFFF"/>
          </a:solidFill>
          <a:ln w="9525">
            <a:solidFill>
              <a:srgbClr val="EEE8FB"/>
            </a:solidFill>
            <a:prstDash val="solid"/>
          </a:ln>
          <a:effectLst>
            <a:outerShdw sx="100000" sy="100000" kx="0" ky="0" algn="bl" rotWithShape="0" blurRad="285750" dist="114300" dir="5400000">
              <a:srgbClr val="6B52B1">
                <a:alpha val="7000"/>
              </a:srgbClr>
            </a:outerShdw>
          </a:effectLst>
        </p:spPr>
      </p:sp>
      <p:sp>
        <p:nvSpPr>
          <p:cNvPr id="14" name="Shape 12"/>
          <p:cNvSpPr/>
          <p:nvPr/>
        </p:nvSpPr>
        <p:spPr>
          <a:xfrm>
            <a:off x="10734675" y="3509070"/>
            <a:ext cx="476250" cy="476250"/>
          </a:xfrm>
          <a:prstGeom prst="roundRect">
            <a:avLst>
              <a:gd name="adj" fmla="val 28000"/>
            </a:avLst>
          </a:prstGeom>
          <a:solidFill>
            <a:srgbClr val="EFE9FD"/>
          </a:solidFill>
          <a:ln/>
        </p:spPr>
      </p:sp>
      <p:pic>
        <p:nvPicPr>
          <p:cNvPr id="1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839450" y="3613845"/>
            <a:ext cx="266700" cy="266700"/>
          </a:xfrm>
          <a:prstGeom prst="rect">
            <a:avLst/>
          </a:prstGeom>
        </p:spPr>
      </p:pic>
      <p:sp>
        <p:nvSpPr>
          <p:cNvPr id="16" name="Text 13"/>
          <p:cNvSpPr/>
          <p:nvPr/>
        </p:nvSpPr>
        <p:spPr>
          <a:xfrm>
            <a:off x="11344275" y="3559076"/>
            <a:ext cx="1876127" cy="414338"/>
          </a:xfrm>
          <a:prstGeom prst="rect">
            <a:avLst/>
          </a:prstGeom>
          <a:noFill/>
          <a:ln/>
        </p:spPr>
        <p:txBody>
          <a:bodyPr wrap="square" lIns="25400" tIns="25400" rIns="25400" bIns="25400" rtlCol="0" anchor="t">
            <a:normAutofit/>
          </a:bodyPr>
          <a:lstStyle/>
          <a:p>
            <a:pPr algn="l" indent="0" marL="0">
              <a:buNone/>
            </a:pPr>
            <a:r>
              <a:rPr lang="en-US" sz="2025" b="1" dirty="0">
                <a:solidFill>
                  <a:srgbClr val="131313"/>
                </a:solidFill>
                <a:latin typeface="Arial" pitchFamily="34" charset="0"/>
                <a:ea typeface="Arial" pitchFamily="34" charset="-122"/>
                <a:cs typeface="Arial" pitchFamily="34" charset="-120"/>
              </a:rPr>
              <a:t>1인 전수 수작업</a:t>
            </a:r>
            <a:endParaRPr lang="en-US" sz="2025" dirty="0"/>
          </a:p>
        </p:txBody>
      </p:sp>
      <p:sp>
        <p:nvSpPr>
          <p:cNvPr id="17" name="Text 14"/>
          <p:cNvSpPr/>
          <p:nvPr/>
        </p:nvSpPr>
        <p:spPr>
          <a:xfrm>
            <a:off x="10734675" y="4099620"/>
            <a:ext cx="3090862" cy="514350"/>
          </a:xfrm>
          <a:prstGeom prst="rect">
            <a:avLst/>
          </a:prstGeom>
          <a:noFill/>
          <a:ln/>
        </p:spPr>
        <p:txBody>
          <a:bodyPr wrap="square" lIns="25400" tIns="25400" rIns="25400" bIns="25400" rtlCol="0" anchor="t">
            <a:normAutofit/>
          </a:bodyPr>
          <a:lstStyle/>
          <a:p>
            <a:pPr algn="l" indent="0" marL="0">
              <a:lnSpc>
                <a:spcPct val="100000"/>
              </a:lnSpc>
              <a:buNone/>
            </a:pPr>
            <a:r>
              <a:rPr lang="en-US" sz="3750" b="1" dirty="0">
                <a:solidFill>
                  <a:srgbClr val="6B52B1"/>
                </a:solidFill>
                <a:latin typeface="Arial" pitchFamily="34" charset="0"/>
                <a:ea typeface="Arial" pitchFamily="34" charset="-122"/>
                <a:cs typeface="Arial" pitchFamily="34" charset="-120"/>
              </a:rPr>
              <a:t>8시간+</a:t>
            </a:r>
            <a:endParaRPr lang="en-US" sz="3750" dirty="0"/>
          </a:p>
        </p:txBody>
      </p:sp>
      <p:sp>
        <p:nvSpPr>
          <p:cNvPr id="18" name="Text 15"/>
          <p:cNvSpPr/>
          <p:nvPr/>
        </p:nvSpPr>
        <p:spPr>
          <a:xfrm>
            <a:off x="10734675" y="4690170"/>
            <a:ext cx="3090862"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585858"/>
                </a:solidFill>
                <a:latin typeface="Arial" pitchFamily="34" charset="0"/>
                <a:ea typeface="Arial" pitchFamily="34" charset="-122"/>
                <a:cs typeface="Arial" pitchFamily="34" charset="-120"/>
              </a:rPr>
              <a:t>리드 50건 · 리드당 10~15분</a:t>
            </a:r>
            <a:endParaRPr lang="en-US" sz="1800" dirty="0"/>
          </a:p>
        </p:txBody>
      </p:sp>
      <p:sp>
        <p:nvSpPr>
          <p:cNvPr id="19" name="Shape 16"/>
          <p:cNvSpPr/>
          <p:nvPr/>
        </p:nvSpPr>
        <p:spPr>
          <a:xfrm>
            <a:off x="14011275" y="3251895"/>
            <a:ext cx="3324225" cy="2015430"/>
          </a:xfrm>
          <a:prstGeom prst="roundRect">
            <a:avLst>
              <a:gd name="adj" fmla="val 9452"/>
            </a:avLst>
          </a:prstGeom>
          <a:solidFill>
            <a:srgbClr val="FFFFFF"/>
          </a:solidFill>
          <a:ln w="9525">
            <a:solidFill>
              <a:srgbClr val="EEE8FB"/>
            </a:solidFill>
            <a:prstDash val="solid"/>
          </a:ln>
          <a:effectLst>
            <a:outerShdw sx="100000" sy="100000" kx="0" ky="0" algn="bl" rotWithShape="0" blurRad="285750" dist="114300" dir="5400000">
              <a:srgbClr val="6B52B1">
                <a:alpha val="7000"/>
              </a:srgbClr>
            </a:outerShdw>
          </a:effectLst>
        </p:spPr>
      </p:sp>
      <p:sp>
        <p:nvSpPr>
          <p:cNvPr id="20" name="Shape 17"/>
          <p:cNvSpPr/>
          <p:nvPr/>
        </p:nvSpPr>
        <p:spPr>
          <a:xfrm>
            <a:off x="14268450" y="3623370"/>
            <a:ext cx="476250" cy="476250"/>
          </a:xfrm>
          <a:prstGeom prst="roundRect">
            <a:avLst>
              <a:gd name="adj" fmla="val 28000"/>
            </a:avLst>
          </a:prstGeom>
          <a:solidFill>
            <a:srgbClr val="EFE9FD"/>
          </a:solidFill>
          <a:ln/>
        </p:spPr>
      </p:sp>
      <p:pic>
        <p:nvPicPr>
          <p:cNvPr id="21"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4373225" y="3728145"/>
            <a:ext cx="266700" cy="266700"/>
          </a:xfrm>
          <a:prstGeom prst="rect">
            <a:avLst/>
          </a:prstGeom>
        </p:spPr>
      </p:pic>
      <p:sp>
        <p:nvSpPr>
          <p:cNvPr id="22" name="Text 18"/>
          <p:cNvSpPr/>
          <p:nvPr/>
        </p:nvSpPr>
        <p:spPr>
          <a:xfrm>
            <a:off x="14878050" y="3673376"/>
            <a:ext cx="1875964" cy="414338"/>
          </a:xfrm>
          <a:prstGeom prst="rect">
            <a:avLst/>
          </a:prstGeom>
          <a:noFill/>
          <a:ln/>
        </p:spPr>
        <p:txBody>
          <a:bodyPr wrap="square" lIns="25400" tIns="25400" rIns="25400" bIns="25400" rtlCol="0" anchor="t">
            <a:normAutofit/>
          </a:bodyPr>
          <a:lstStyle/>
          <a:p>
            <a:pPr algn="l" indent="0" marL="0">
              <a:buNone/>
            </a:pPr>
            <a:r>
              <a:rPr lang="en-US" sz="2025" b="1" dirty="0">
                <a:solidFill>
                  <a:srgbClr val="131313"/>
                </a:solidFill>
                <a:latin typeface="Arial" pitchFamily="34" charset="0"/>
                <a:ea typeface="Arial" pitchFamily="34" charset="-122"/>
                <a:cs typeface="Arial" pitchFamily="34" charset="-120"/>
              </a:rPr>
              <a:t>같은 톤, 안 꽂힘</a:t>
            </a:r>
            <a:endParaRPr lang="en-US" sz="2025" dirty="0"/>
          </a:p>
        </p:txBody>
      </p:sp>
      <p:sp>
        <p:nvSpPr>
          <p:cNvPr id="23" name="Text 19"/>
          <p:cNvSpPr/>
          <p:nvPr/>
        </p:nvSpPr>
        <p:spPr>
          <a:xfrm>
            <a:off x="14268450" y="4232970"/>
            <a:ext cx="2894171" cy="700980"/>
          </a:xfrm>
          <a:prstGeom prst="rect">
            <a:avLst/>
          </a:prstGeom>
          <a:noFill/>
          <a:ln/>
        </p:spPr>
        <p:txBody>
          <a:bodyPr wrap="square" lIns="25400" tIns="25400" rIns="25400" bIns="25400" rtlCol="0" anchor="t">
            <a:normAutofit/>
          </a:bodyPr>
          <a:lstStyle/>
          <a:p>
            <a:pPr algn="l" indent="0" marL="0">
              <a:lnSpc>
                <a:spcPct val="145000"/>
              </a:lnSpc>
              <a:buNone/>
            </a:pPr>
            <a:r>
              <a:rPr lang="en-US" sz="1800" dirty="0">
                <a:solidFill>
                  <a:srgbClr val="585858"/>
                </a:solidFill>
                <a:latin typeface="Arial" pitchFamily="34" charset="0"/>
                <a:ea typeface="Arial" pitchFamily="34" charset="-122"/>
                <a:cs typeface="Arial" pitchFamily="34" charset="-120"/>
              </a:rPr>
              <a:t>원장·팀장·사업개발, 궁금한 게 다르다</a:t>
            </a:r>
            <a:endParaRPr lang="en-US" sz="1800" dirty="0"/>
          </a:p>
        </p:txBody>
      </p:sp>
      <p:sp>
        <p:nvSpPr>
          <p:cNvPr id="24" name="Shape 20"/>
          <p:cNvSpPr/>
          <p:nvPr/>
        </p:nvSpPr>
        <p:spPr>
          <a:xfrm>
            <a:off x="10477500" y="5476875"/>
            <a:ext cx="3324225" cy="2015430"/>
          </a:xfrm>
          <a:prstGeom prst="roundRect">
            <a:avLst>
              <a:gd name="adj" fmla="val 9452"/>
            </a:avLst>
          </a:prstGeom>
          <a:solidFill>
            <a:srgbClr val="FFFFFF"/>
          </a:solidFill>
          <a:ln w="9525">
            <a:solidFill>
              <a:srgbClr val="EEE8FB"/>
            </a:solidFill>
            <a:prstDash val="solid"/>
          </a:ln>
          <a:effectLst>
            <a:outerShdw sx="100000" sy="100000" kx="0" ky="0" algn="bl" rotWithShape="0" blurRad="285750" dist="114300" dir="5400000">
              <a:srgbClr val="6B52B1">
                <a:alpha val="7000"/>
              </a:srgbClr>
            </a:outerShdw>
          </a:effectLst>
        </p:spPr>
      </p:sp>
      <p:sp>
        <p:nvSpPr>
          <p:cNvPr id="25" name="Shape 21"/>
          <p:cNvSpPr/>
          <p:nvPr/>
        </p:nvSpPr>
        <p:spPr>
          <a:xfrm>
            <a:off x="10734675" y="6014070"/>
            <a:ext cx="476250" cy="476250"/>
          </a:xfrm>
          <a:prstGeom prst="roundRect">
            <a:avLst>
              <a:gd name="adj" fmla="val 28000"/>
            </a:avLst>
          </a:prstGeom>
          <a:solidFill>
            <a:srgbClr val="EFE9FD"/>
          </a:solidFill>
          <a:ln/>
        </p:spPr>
      </p:sp>
      <p:pic>
        <p:nvPicPr>
          <p:cNvPr id="26"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839450" y="6118845"/>
            <a:ext cx="266700" cy="266700"/>
          </a:xfrm>
          <a:prstGeom prst="rect">
            <a:avLst/>
          </a:prstGeom>
        </p:spPr>
      </p:pic>
      <p:sp>
        <p:nvSpPr>
          <p:cNvPr id="27" name="Text 22"/>
          <p:cNvSpPr/>
          <p:nvPr/>
        </p:nvSpPr>
        <p:spPr>
          <a:xfrm>
            <a:off x="11344275" y="6064076"/>
            <a:ext cx="2165650" cy="414338"/>
          </a:xfrm>
          <a:prstGeom prst="rect">
            <a:avLst/>
          </a:prstGeom>
          <a:noFill/>
          <a:ln/>
        </p:spPr>
        <p:txBody>
          <a:bodyPr wrap="square" lIns="25400" tIns="25400" rIns="25400" bIns="25400" rtlCol="0" anchor="t">
            <a:normAutofit/>
          </a:bodyPr>
          <a:lstStyle/>
          <a:p>
            <a:pPr algn="l" indent="0" marL="0">
              <a:buNone/>
            </a:pPr>
            <a:r>
              <a:rPr lang="en-US" sz="2025" b="1" dirty="0">
                <a:solidFill>
                  <a:srgbClr val="131313"/>
                </a:solidFill>
                <a:latin typeface="Arial" pitchFamily="34" charset="0"/>
                <a:ea typeface="Arial" pitchFamily="34" charset="-122"/>
                <a:cs typeface="Arial" pitchFamily="34" charset="-120"/>
              </a:rPr>
              <a:t>'기억 못 하는 회사'</a:t>
            </a:r>
            <a:endParaRPr lang="en-US" sz="2025" dirty="0"/>
          </a:p>
        </p:txBody>
      </p:sp>
      <p:sp>
        <p:nvSpPr>
          <p:cNvPr id="28" name="Text 23"/>
          <p:cNvSpPr/>
          <p:nvPr/>
        </p:nvSpPr>
        <p:spPr>
          <a:xfrm>
            <a:off x="10734675" y="6623670"/>
            <a:ext cx="3090862" cy="369540"/>
          </a:xfrm>
          <a:prstGeom prst="rect">
            <a:avLst/>
          </a:prstGeom>
          <a:noFill/>
          <a:ln/>
        </p:spPr>
        <p:txBody>
          <a:bodyPr wrap="square" lIns="25400" tIns="25400" rIns="25400" bIns="25400" rtlCol="0" anchor="t">
            <a:normAutofit/>
          </a:bodyPr>
          <a:lstStyle/>
          <a:p>
            <a:pPr algn="l" indent="0" marL="0">
              <a:lnSpc>
                <a:spcPct val="145000"/>
              </a:lnSpc>
              <a:buNone/>
            </a:pPr>
            <a:r>
              <a:rPr lang="en-US" sz="1800" dirty="0">
                <a:solidFill>
                  <a:srgbClr val="585858"/>
                </a:solidFill>
                <a:latin typeface="Arial" pitchFamily="34" charset="0"/>
                <a:ea typeface="Arial" pitchFamily="34" charset="-122"/>
                <a:cs typeface="Arial" pitchFamily="34" charset="-120"/>
              </a:rPr>
              <a:t>부스 상담 내용이 빠진 후속</a:t>
            </a:r>
            <a:endParaRPr lang="en-US" sz="1800" dirty="0"/>
          </a:p>
        </p:txBody>
      </p:sp>
      <p:sp>
        <p:nvSpPr>
          <p:cNvPr id="29" name="Shape 24"/>
          <p:cNvSpPr/>
          <p:nvPr/>
        </p:nvSpPr>
        <p:spPr>
          <a:xfrm>
            <a:off x="14011275" y="5476875"/>
            <a:ext cx="3324225" cy="2015430"/>
          </a:xfrm>
          <a:prstGeom prst="roundRect">
            <a:avLst>
              <a:gd name="adj" fmla="val 9452"/>
            </a:avLst>
          </a:prstGeom>
          <a:solidFill>
            <a:srgbClr val="FFFFFF"/>
          </a:solidFill>
          <a:ln w="9525">
            <a:solidFill>
              <a:srgbClr val="EEE8FB"/>
            </a:solidFill>
            <a:prstDash val="solid"/>
          </a:ln>
          <a:effectLst>
            <a:outerShdw sx="100000" sy="100000" kx="0" ky="0" algn="bl" rotWithShape="0" blurRad="285750" dist="114300" dir="5400000">
              <a:srgbClr val="6B52B1">
                <a:alpha val="7000"/>
              </a:srgbClr>
            </a:outerShdw>
          </a:effectLst>
        </p:spPr>
      </p:sp>
      <p:sp>
        <p:nvSpPr>
          <p:cNvPr id="30" name="Shape 25"/>
          <p:cNvSpPr/>
          <p:nvPr/>
        </p:nvSpPr>
        <p:spPr>
          <a:xfrm>
            <a:off x="14268450" y="5734050"/>
            <a:ext cx="476250" cy="476250"/>
          </a:xfrm>
          <a:prstGeom prst="roundRect">
            <a:avLst>
              <a:gd name="adj" fmla="val 28000"/>
            </a:avLst>
          </a:prstGeom>
          <a:solidFill>
            <a:srgbClr val="EFE9FD"/>
          </a:solidFill>
          <a:ln/>
        </p:spPr>
      </p:sp>
      <p:pic>
        <p:nvPicPr>
          <p:cNvPr id="31"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4373225" y="5838825"/>
            <a:ext cx="266700" cy="266700"/>
          </a:xfrm>
          <a:prstGeom prst="rect">
            <a:avLst/>
          </a:prstGeom>
        </p:spPr>
      </p:pic>
      <p:sp>
        <p:nvSpPr>
          <p:cNvPr id="32" name="Text 26"/>
          <p:cNvSpPr/>
          <p:nvPr/>
        </p:nvSpPr>
        <p:spPr>
          <a:xfrm>
            <a:off x="14878050" y="5784056"/>
            <a:ext cx="1640220" cy="414338"/>
          </a:xfrm>
          <a:prstGeom prst="rect">
            <a:avLst/>
          </a:prstGeom>
          <a:noFill/>
          <a:ln/>
        </p:spPr>
        <p:txBody>
          <a:bodyPr wrap="square" lIns="25400" tIns="25400" rIns="25400" bIns="25400" rtlCol="0" anchor="t">
            <a:normAutofit/>
          </a:bodyPr>
          <a:lstStyle/>
          <a:p>
            <a:pPr algn="l" indent="0" marL="0">
              <a:buNone/>
            </a:pPr>
            <a:r>
              <a:rPr lang="en-US" sz="2025" b="1" dirty="0">
                <a:solidFill>
                  <a:srgbClr val="131313"/>
                </a:solidFill>
                <a:latin typeface="Arial" pitchFamily="34" charset="0"/>
                <a:ea typeface="Arial" pitchFamily="34" charset="-122"/>
                <a:cs typeface="Arial" pitchFamily="34" charset="-120"/>
              </a:rPr>
              <a:t>골든타임 초과</a:t>
            </a:r>
            <a:endParaRPr lang="en-US" sz="2025" dirty="0"/>
          </a:p>
        </p:txBody>
      </p:sp>
      <p:sp>
        <p:nvSpPr>
          <p:cNvPr id="33" name="Text 27"/>
          <p:cNvSpPr/>
          <p:nvPr/>
        </p:nvSpPr>
        <p:spPr>
          <a:xfrm>
            <a:off x="14268450" y="6324600"/>
            <a:ext cx="3090862" cy="514350"/>
          </a:xfrm>
          <a:prstGeom prst="rect">
            <a:avLst/>
          </a:prstGeom>
          <a:noFill/>
          <a:ln/>
        </p:spPr>
        <p:txBody>
          <a:bodyPr wrap="square" lIns="25400" tIns="25400" rIns="25400" bIns="25400" rtlCol="0" anchor="t">
            <a:normAutofit/>
          </a:bodyPr>
          <a:lstStyle/>
          <a:p>
            <a:pPr algn="l" indent="0" marL="0">
              <a:lnSpc>
                <a:spcPct val="100000"/>
              </a:lnSpc>
              <a:buNone/>
            </a:pPr>
            <a:r>
              <a:rPr lang="en-US" sz="3750" b="1" dirty="0">
                <a:solidFill>
                  <a:srgbClr val="8969E3"/>
                </a:solidFill>
                <a:latin typeface="Arial" pitchFamily="34" charset="0"/>
                <a:ea typeface="Arial" pitchFamily="34" charset="-122"/>
                <a:cs typeface="Arial" pitchFamily="34" charset="-120"/>
              </a:rPr>
              <a:t>48시간</a:t>
            </a:r>
            <a:endParaRPr lang="en-US" sz="3750" dirty="0"/>
          </a:p>
        </p:txBody>
      </p:sp>
      <p:sp>
        <p:nvSpPr>
          <p:cNvPr id="34" name="Text 28"/>
          <p:cNvSpPr/>
          <p:nvPr/>
        </p:nvSpPr>
        <p:spPr>
          <a:xfrm>
            <a:off x="14268450" y="6915150"/>
            <a:ext cx="3090862"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585858"/>
                </a:solidFill>
                <a:latin typeface="Arial" pitchFamily="34" charset="0"/>
                <a:ea typeface="Arial" pitchFamily="34" charset="-122"/>
                <a:cs typeface="Arial" pitchFamily="34" charset="-120"/>
              </a:rPr>
              <a:t>넘기면 경쟁사에 기회 상실</a:t>
            </a:r>
            <a:endParaRPr lang="en-US" sz="1800" dirty="0"/>
          </a:p>
        </p:txBody>
      </p:sp>
      <p:sp>
        <p:nvSpPr>
          <p:cNvPr id="35" name="Shape 29"/>
          <p:cNvSpPr/>
          <p:nvPr/>
        </p:nvSpPr>
        <p:spPr>
          <a:xfrm>
            <a:off x="952500" y="9334500"/>
            <a:ext cx="16383000" cy="9525"/>
          </a:xfrm>
          <a:prstGeom prst="rect">
            <a:avLst/>
          </a:prstGeom>
          <a:solidFill>
            <a:srgbClr val="ECECEC"/>
          </a:solidFill>
          <a:ln/>
        </p:spPr>
      </p:sp>
      <p:sp>
        <p:nvSpPr>
          <p:cNvPr id="36" name="Text 30"/>
          <p:cNvSpPr/>
          <p:nvPr/>
        </p:nvSpPr>
        <p:spPr>
          <a:xfrm>
            <a:off x="952500" y="9515475"/>
            <a:ext cx="2574764" cy="314325"/>
          </a:xfrm>
          <a:prstGeom prst="rect">
            <a:avLst/>
          </a:prstGeom>
          <a:noFill/>
          <a:ln/>
        </p:spPr>
        <p:txBody>
          <a:bodyPr wrap="square" lIns="25400" tIns="25400" rIns="25400" bIns="25400" rtlCol="0" anchor="t">
            <a:normAutofit/>
          </a:bodyPr>
          <a:lstStyle/>
          <a:p>
            <a:pPr algn="l" indent="0" marL="0">
              <a:buNone/>
            </a:pPr>
            <a:r>
              <a:rPr lang="en-US" sz="1800" dirty="0">
                <a:solidFill>
                  <a:srgbClr val="9D9D9D"/>
                </a:solidFill>
                <a:latin typeface="Arial" pitchFamily="34" charset="0"/>
                <a:ea typeface="Arial" pitchFamily="34" charset="-122"/>
                <a:cs typeface="Arial" pitchFamily="34" charset="-120"/>
              </a:rPr>
              <a:t>키즐링 후속 이메일 자동화</a:t>
            </a:r>
            <a:endParaRPr lang="en-US" sz="1800" dirty="0"/>
          </a:p>
        </p:txBody>
      </p:sp>
      <p:sp>
        <p:nvSpPr>
          <p:cNvPr id="37" name="Text 31"/>
          <p:cNvSpPr/>
          <p:nvPr/>
        </p:nvSpPr>
        <p:spPr>
          <a:xfrm>
            <a:off x="16607954" y="9515475"/>
            <a:ext cx="803746" cy="314325"/>
          </a:xfrm>
          <a:prstGeom prst="rect">
            <a:avLst/>
          </a:prstGeom>
          <a:noFill/>
          <a:ln/>
        </p:spPr>
        <p:txBody>
          <a:bodyPr wrap="square" lIns="25400" tIns="25400" rIns="25400" bIns="25400" rtlCol="0" anchor="t">
            <a:normAutofit/>
          </a:bodyPr>
          <a:lstStyle/>
          <a:p>
            <a:pPr algn="l" indent="0" marL="0">
              <a:buNone/>
            </a:pPr>
            <a:r>
              <a:rPr lang="en-US" sz="1800" b="1" dirty="0">
                <a:solidFill>
                  <a:srgbClr val="6B52B1"/>
                </a:solidFill>
                <a:latin typeface="Arial" pitchFamily="34" charset="0"/>
                <a:ea typeface="Arial" pitchFamily="34" charset="-122"/>
                <a:cs typeface="Arial" pitchFamily="34" charset="-120"/>
              </a:rPr>
              <a:t>02 </a:t>
            </a:r>
            <a:pPr algn="l" indent="0" marL="0">
              <a:buNone/>
            </a:pPr>
            <a:r>
              <a:rPr lang="en-US" sz="1800" dirty="0">
                <a:solidFill>
                  <a:srgbClr val="9D9D9D"/>
                </a:solidFill>
                <a:latin typeface="Arial" pitchFamily="34" charset="0"/>
                <a:ea typeface="Arial" pitchFamily="34" charset="-122"/>
                <a:cs typeface="Arial" pitchFamily="34" charset="-120"/>
              </a:rPr>
              <a:t>/ 08</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9673F9">
                  <a:alpha val="8000"/>
                </a:srgbClr>
              </a:gs>
              <a:gs pos="60000">
                <a:srgbClr val="9673F9">
                  <a:alpha val="0"/>
                </a:srgbClr>
              </a:gs>
            </a:gsLst>
            <a:path path="circle">
              <a:fillToRect l="94000" t="100000" r="6000" b="0"/>
            </a:path>
          </a:gradFill>
          <a:ln/>
        </p:spPr>
      </p:sp>
      <p:sp>
        <p:nvSpPr>
          <p:cNvPr id="3" name="Shape 1"/>
          <p:cNvSpPr/>
          <p:nvPr/>
        </p:nvSpPr>
        <p:spPr>
          <a:xfrm>
            <a:off x="952500" y="609600"/>
            <a:ext cx="1053852" cy="542925"/>
          </a:xfrm>
          <a:prstGeom prst="roundRect">
            <a:avLst>
              <a:gd name="adj" fmla="val 50000"/>
            </a:avLst>
          </a:prstGeom>
          <a:solidFill>
            <a:srgbClr val="EDE7FE"/>
          </a:solidFill>
          <a:ln/>
        </p:spPr>
      </p:sp>
      <p:sp>
        <p:nvSpPr>
          <p:cNvPr id="4" name="Shape 2"/>
          <p:cNvSpPr/>
          <p:nvPr/>
        </p:nvSpPr>
        <p:spPr>
          <a:xfrm>
            <a:off x="1162050" y="833438"/>
            <a:ext cx="95250" cy="95250"/>
          </a:xfrm>
          <a:prstGeom prst="ellipse">
            <a:avLst/>
          </a:prstGeom>
          <a:solidFill>
            <a:srgbClr val="9673F9"/>
          </a:solidFill>
          <a:ln/>
        </p:spPr>
      </p:sp>
      <p:sp>
        <p:nvSpPr>
          <p:cNvPr id="5" name="Text 3"/>
          <p:cNvSpPr/>
          <p:nvPr/>
        </p:nvSpPr>
        <p:spPr>
          <a:xfrm>
            <a:off x="1371600" y="714375"/>
            <a:ext cx="501402" cy="371475"/>
          </a:xfrm>
          <a:prstGeom prst="rect">
            <a:avLst/>
          </a:prstGeom>
          <a:noFill/>
          <a:ln/>
        </p:spPr>
        <p:txBody>
          <a:bodyPr wrap="square" lIns="25400" tIns="25400" rIns="25400" bIns="25400" rtlCol="0" anchor="t">
            <a:normAutofit/>
          </a:bodyPr>
          <a:lstStyle/>
          <a:p>
            <a:pPr algn="l" indent="0" marL="0">
              <a:buNone/>
            </a:pPr>
            <a:r>
              <a:rPr lang="en-US" sz="1800" b="1" spc="18" kern="0" dirty="0">
                <a:solidFill>
                  <a:srgbClr val="6B52B1"/>
                </a:solidFill>
                <a:latin typeface="Arial" pitchFamily="34" charset="0"/>
                <a:ea typeface="Arial" pitchFamily="34" charset="-122"/>
                <a:cs typeface="Arial" pitchFamily="34" charset="-120"/>
              </a:rPr>
              <a:t>해법</a:t>
            </a:r>
            <a:endParaRPr lang="en-US" sz="1800" dirty="0"/>
          </a:p>
        </p:txBody>
      </p:sp>
      <p:sp>
        <p:nvSpPr>
          <p:cNvPr id="6" name="Text 4"/>
          <p:cNvSpPr/>
          <p:nvPr/>
        </p:nvSpPr>
        <p:spPr>
          <a:xfrm>
            <a:off x="15360700" y="742950"/>
            <a:ext cx="1857955" cy="314325"/>
          </a:xfrm>
          <a:prstGeom prst="rect">
            <a:avLst/>
          </a:prstGeom>
          <a:noFill/>
          <a:ln/>
        </p:spPr>
        <p:txBody>
          <a:bodyPr wrap="square" lIns="25400" tIns="25400" rIns="25400" bIns="25400" rtlCol="0" anchor="t">
            <a:normAutofit/>
          </a:bodyPr>
          <a:lstStyle/>
          <a:p>
            <a:pPr algn="l" indent="0" marL="0">
              <a:buNone/>
            </a:pPr>
            <a:r>
              <a:rPr lang="en-US" sz="1800" b="1" dirty="0">
                <a:solidFill>
                  <a:srgbClr val="8969E3"/>
                </a:solidFill>
                <a:latin typeface="Arial" pitchFamily="34" charset="0"/>
                <a:ea typeface="Arial" pitchFamily="34" charset="-122"/>
                <a:cs typeface="Arial" pitchFamily="34" charset="-120"/>
              </a:rPr>
              <a:t>위로 갈수록 완성도</a:t>
            </a:r>
            <a:endParaRPr lang="en-US" sz="180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7125950" y="776288"/>
            <a:ext cx="209550" cy="209550"/>
          </a:xfrm>
          <a:prstGeom prst="rect">
            <a:avLst/>
          </a:prstGeom>
        </p:spPr>
      </p:pic>
      <p:sp>
        <p:nvSpPr>
          <p:cNvPr id="8" name="Text 5"/>
          <p:cNvSpPr/>
          <p:nvPr/>
        </p:nvSpPr>
        <p:spPr>
          <a:xfrm>
            <a:off x="952500" y="1533525"/>
            <a:ext cx="18021300" cy="655290"/>
          </a:xfrm>
          <a:prstGeom prst="rect">
            <a:avLst/>
          </a:prstGeom>
          <a:noFill/>
          <a:ln/>
        </p:spPr>
        <p:txBody>
          <a:bodyPr wrap="square" lIns="25400" tIns="25400" rIns="25400" bIns="25400" rtlCol="0" anchor="t">
            <a:normAutofit/>
          </a:bodyPr>
          <a:lstStyle/>
          <a:p>
            <a:pPr algn="l" indent="0" marL="0">
              <a:lnSpc>
                <a:spcPct val="120000"/>
              </a:lnSpc>
              <a:buNone/>
            </a:pPr>
            <a:r>
              <a:rPr lang="en-US" sz="4050" b="1" spc="-81" kern="0" dirty="0">
                <a:solidFill>
                  <a:srgbClr val="131313"/>
                </a:solidFill>
                <a:latin typeface="Arial" pitchFamily="34" charset="0"/>
                <a:ea typeface="Arial" pitchFamily="34" charset="-122"/>
                <a:cs typeface="Arial" pitchFamily="34" charset="-120"/>
              </a:rPr>
              <a:t>Skill 한 번 실행 </a:t>
            </a:r>
            <a:pPr algn="l" indent="0" marL="0">
              <a:lnSpc>
                <a:spcPct val="120000"/>
              </a:lnSpc>
              <a:buNone/>
            </a:pPr>
            <a:r>
              <a:rPr lang="en-US" sz="4050" b="1" spc="-81" kern="0" dirty="0">
                <a:solidFill>
                  <a:srgbClr val="9673F9"/>
                </a:solidFill>
                <a:latin typeface="Arial" pitchFamily="34" charset="0"/>
                <a:ea typeface="Arial" pitchFamily="34" charset="-122"/>
                <a:cs typeface="Arial" pitchFamily="34" charset="-120"/>
              </a:rPr>
              <a:t>= </a:t>
            </a:r>
            <a:pPr algn="l" indent="0" marL="0">
              <a:lnSpc>
                <a:spcPct val="120000"/>
              </a:lnSpc>
              <a:buNone/>
            </a:pPr>
            <a:r>
              <a:rPr lang="en-US" sz="4050" b="1" spc="-81" kern="0" dirty="0">
                <a:solidFill>
                  <a:srgbClr val="131313"/>
                </a:solidFill>
                <a:latin typeface="Arial" pitchFamily="34" charset="0"/>
                <a:ea typeface="Arial" pitchFamily="34" charset="-122"/>
                <a:cs typeface="Arial" pitchFamily="34" charset="-120"/>
              </a:rPr>
              <a:t>개인화 초안 </a:t>
            </a:r>
            <a:pPr algn="l" indent="0" marL="0">
              <a:lnSpc>
                <a:spcPct val="120000"/>
              </a:lnSpc>
              <a:buNone/>
            </a:pPr>
            <a:r>
              <a:rPr lang="en-US" sz="4050" b="1" spc="-81" kern="0" dirty="0">
                <a:solidFill>
                  <a:srgbClr val="9673F9"/>
                </a:solidFill>
                <a:latin typeface="Arial" pitchFamily="34" charset="0"/>
                <a:ea typeface="Arial" pitchFamily="34" charset="-122"/>
                <a:cs typeface="Arial" pitchFamily="34" charset="-120"/>
              </a:rPr>
              <a:t>+ 실행형 캠페인 기획안</a:t>
            </a:r>
            <a:endParaRPr lang="en-US" sz="4050" dirty="0"/>
          </a:p>
        </p:txBody>
      </p:sp>
      <p:sp>
        <p:nvSpPr>
          <p:cNvPr id="9" name="Shape 6"/>
          <p:cNvSpPr/>
          <p:nvPr/>
        </p:nvSpPr>
        <p:spPr>
          <a:xfrm>
            <a:off x="952500" y="2398365"/>
            <a:ext cx="11404402" cy="838200"/>
          </a:xfrm>
          <a:prstGeom prst="roundRect">
            <a:avLst>
              <a:gd name="adj" fmla="val 18182"/>
            </a:avLst>
          </a:prstGeom>
          <a:solidFill>
            <a:srgbClr val="F9F6FF"/>
          </a:solidFill>
          <a:ln w="9525">
            <a:solidFill>
              <a:srgbClr val="ECE6FB"/>
            </a:solidFill>
            <a:prstDash val="solid"/>
          </a:ln>
        </p:spPr>
      </p:sp>
      <p:sp>
        <p:nvSpPr>
          <p:cNvPr id="10" name="Shape 7"/>
          <p:cNvSpPr/>
          <p:nvPr/>
        </p:nvSpPr>
        <p:spPr>
          <a:xfrm>
            <a:off x="1133475" y="2522190"/>
            <a:ext cx="2536478" cy="590550"/>
          </a:xfrm>
          <a:prstGeom prst="roundRect">
            <a:avLst>
              <a:gd name="adj" fmla="val 19355"/>
            </a:avLst>
          </a:prstGeom>
          <a:solidFill>
            <a:srgbClr val="FFFFFF"/>
          </a:solidFill>
          <a:ln w="9525">
            <a:solidFill>
              <a:srgbClr val="EBE4FA"/>
            </a:solidFill>
            <a:prstDash val="solid"/>
          </a:ln>
        </p:spPr>
      </p:sp>
      <p:sp>
        <p:nvSpPr>
          <p:cNvPr id="11" name="Shape 8"/>
          <p:cNvSpPr/>
          <p:nvPr/>
        </p:nvSpPr>
        <p:spPr>
          <a:xfrm>
            <a:off x="1295400" y="2626965"/>
            <a:ext cx="381000" cy="381000"/>
          </a:xfrm>
          <a:prstGeom prst="roundRect">
            <a:avLst>
              <a:gd name="adj" fmla="val 27500"/>
            </a:avLst>
          </a:prstGeom>
          <a:solidFill>
            <a:srgbClr val="EFE9FD"/>
          </a:solidFill>
          <a:ln/>
        </p:spPr>
      </p:sp>
      <p:pic>
        <p:nvPicPr>
          <p:cNvPr id="1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81125" y="2712690"/>
            <a:ext cx="209550" cy="209550"/>
          </a:xfrm>
          <a:prstGeom prst="rect">
            <a:avLst/>
          </a:prstGeom>
        </p:spPr>
      </p:pic>
      <p:sp>
        <p:nvSpPr>
          <p:cNvPr id="13" name="Text 9"/>
          <p:cNvSpPr/>
          <p:nvPr/>
        </p:nvSpPr>
        <p:spPr>
          <a:xfrm>
            <a:off x="1790700" y="2646015"/>
            <a:ext cx="1889061" cy="381000"/>
          </a:xfrm>
          <a:prstGeom prst="rect">
            <a:avLst/>
          </a:prstGeom>
          <a:noFill/>
          <a:ln/>
        </p:spPr>
        <p:txBody>
          <a:bodyPr wrap="square" lIns="25400" tIns="25400" rIns="25400" bIns="25400" rtlCol="0" anchor="t">
            <a:normAutofit/>
          </a:bodyPr>
          <a:lstStyle/>
          <a:p>
            <a:pPr algn="l" indent="0" marL="0">
              <a:buNone/>
            </a:pPr>
            <a:r>
              <a:rPr lang="en-US" sz="1875" b="1" dirty="0">
                <a:solidFill>
                  <a:srgbClr val="131313"/>
                </a:solidFill>
                <a:latin typeface="Arial" pitchFamily="34" charset="0"/>
                <a:ea typeface="Arial" pitchFamily="34" charset="-122"/>
                <a:cs typeface="Arial" pitchFamily="34" charset="-120"/>
              </a:rPr>
              <a:t>박람회 리드 CSV</a:t>
            </a:r>
            <a:endParaRPr lang="en-US" sz="1875" dirty="0"/>
          </a:p>
        </p:txBody>
      </p:sp>
      <p:pic>
        <p:nvPicPr>
          <p:cNvPr id="14"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822353" y="2684115"/>
            <a:ext cx="266700" cy="266700"/>
          </a:xfrm>
          <a:prstGeom prst="rect">
            <a:avLst/>
          </a:prstGeom>
        </p:spPr>
      </p:pic>
      <p:sp>
        <p:nvSpPr>
          <p:cNvPr id="15" name="Shape 10"/>
          <p:cNvSpPr/>
          <p:nvPr/>
        </p:nvSpPr>
        <p:spPr>
          <a:xfrm>
            <a:off x="4241453" y="2522190"/>
            <a:ext cx="2483495" cy="590550"/>
          </a:xfrm>
          <a:prstGeom prst="roundRect">
            <a:avLst>
              <a:gd name="adj" fmla="val 19355"/>
            </a:avLst>
          </a:prstGeom>
          <a:solidFill>
            <a:srgbClr val="FFFFFF"/>
          </a:solidFill>
          <a:ln w="9525">
            <a:solidFill>
              <a:srgbClr val="EBE4FA"/>
            </a:solidFill>
            <a:prstDash val="solid"/>
          </a:ln>
        </p:spPr>
      </p:sp>
      <p:sp>
        <p:nvSpPr>
          <p:cNvPr id="16" name="Shape 11"/>
          <p:cNvSpPr/>
          <p:nvPr/>
        </p:nvSpPr>
        <p:spPr>
          <a:xfrm>
            <a:off x="4403378" y="2626965"/>
            <a:ext cx="381000" cy="381000"/>
          </a:xfrm>
          <a:prstGeom prst="roundRect">
            <a:avLst>
              <a:gd name="adj" fmla="val 27500"/>
            </a:avLst>
          </a:prstGeom>
          <a:solidFill>
            <a:srgbClr val="EFE9FD"/>
          </a:solidFill>
          <a:ln/>
        </p:spPr>
      </p:sp>
      <p:pic>
        <p:nvPicPr>
          <p:cNvPr id="17"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489103" y="2712690"/>
            <a:ext cx="209550" cy="209550"/>
          </a:xfrm>
          <a:prstGeom prst="rect">
            <a:avLst/>
          </a:prstGeom>
        </p:spPr>
      </p:pic>
      <p:sp>
        <p:nvSpPr>
          <p:cNvPr id="18" name="Text 12"/>
          <p:cNvSpPr/>
          <p:nvPr/>
        </p:nvSpPr>
        <p:spPr>
          <a:xfrm>
            <a:off x="4898678" y="2646015"/>
            <a:ext cx="1830779" cy="381000"/>
          </a:xfrm>
          <a:prstGeom prst="rect">
            <a:avLst/>
          </a:prstGeom>
          <a:noFill/>
          <a:ln/>
        </p:spPr>
        <p:txBody>
          <a:bodyPr wrap="square" lIns="25400" tIns="25400" rIns="25400" bIns="25400" rtlCol="0" anchor="t">
            <a:normAutofit/>
          </a:bodyPr>
          <a:lstStyle/>
          <a:p>
            <a:pPr algn="l" indent="0" marL="0">
              <a:buNone/>
            </a:pPr>
            <a:r>
              <a:rPr lang="en-US" sz="1875" b="1" dirty="0">
                <a:solidFill>
                  <a:srgbClr val="131313"/>
                </a:solidFill>
                <a:latin typeface="Arial" pitchFamily="34" charset="0"/>
                <a:ea typeface="Arial" pitchFamily="34" charset="-122"/>
                <a:cs typeface="Arial" pitchFamily="34" charset="-120"/>
              </a:rPr>
              <a:t>키즐링 Skill 체인</a:t>
            </a:r>
            <a:endParaRPr lang="en-US" sz="1875" dirty="0"/>
          </a:p>
        </p:txBody>
      </p:sp>
      <p:pic>
        <p:nvPicPr>
          <p:cNvPr id="19"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877348" y="2684115"/>
            <a:ext cx="266700" cy="266700"/>
          </a:xfrm>
          <a:prstGeom prst="rect">
            <a:avLst/>
          </a:prstGeom>
        </p:spPr>
      </p:pic>
      <p:sp>
        <p:nvSpPr>
          <p:cNvPr id="20" name="Shape 13"/>
          <p:cNvSpPr/>
          <p:nvPr/>
        </p:nvSpPr>
        <p:spPr>
          <a:xfrm>
            <a:off x="7296448" y="2531715"/>
            <a:ext cx="4879479" cy="571500"/>
          </a:xfrm>
          <a:prstGeom prst="roundRect">
            <a:avLst>
              <a:gd name="adj" fmla="val 20000"/>
            </a:avLst>
          </a:prstGeom>
          <a:gradFill rotWithShape="1">
            <a:gsLst>
              <a:gs pos="0">
                <a:srgbClr val="9673F9">
                  <a:alpha val="100000"/>
                </a:srgbClr>
              </a:gs>
              <a:gs pos="100000">
                <a:srgbClr val="8969E3">
                  <a:alpha val="100000"/>
                </a:srgbClr>
              </a:gs>
            </a:gsLst>
            <a:lin ang="2700000" scaled="0"/>
          </a:gradFill>
          <a:ln/>
          <a:effectLst>
            <a:outerShdw sx="100000" sy="100000" kx="0" ky="0" algn="bl" rotWithShape="0" blurRad="209550" dist="95250" dir="5400000">
              <a:srgbClr val="9673F9">
                <a:alpha val="28000"/>
              </a:srgbClr>
            </a:outerShdw>
          </a:effectLst>
        </p:spPr>
      </p:sp>
      <p:sp>
        <p:nvSpPr>
          <p:cNvPr id="21" name="Shape 14"/>
          <p:cNvSpPr/>
          <p:nvPr/>
        </p:nvSpPr>
        <p:spPr>
          <a:xfrm>
            <a:off x="7467898" y="2626965"/>
            <a:ext cx="381000" cy="381000"/>
          </a:xfrm>
          <a:prstGeom prst="roundRect">
            <a:avLst>
              <a:gd name="adj" fmla="val 27500"/>
            </a:avLst>
          </a:prstGeom>
          <a:solidFill>
            <a:srgbClr val="FFFFFF">
              <a:alpha val="20000"/>
            </a:srgbClr>
          </a:solidFill>
          <a:ln/>
        </p:spPr>
      </p:sp>
      <p:pic>
        <p:nvPicPr>
          <p:cNvPr id="22"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553623" y="2712690"/>
            <a:ext cx="209550" cy="209550"/>
          </a:xfrm>
          <a:prstGeom prst="rect">
            <a:avLst/>
          </a:prstGeom>
        </p:spPr>
      </p:pic>
      <p:sp>
        <p:nvSpPr>
          <p:cNvPr id="23" name="Text 15"/>
          <p:cNvSpPr/>
          <p:nvPr/>
        </p:nvSpPr>
        <p:spPr>
          <a:xfrm>
            <a:off x="7963198" y="2646015"/>
            <a:ext cx="4445407" cy="381000"/>
          </a:xfrm>
          <a:prstGeom prst="rect">
            <a:avLst/>
          </a:prstGeom>
          <a:noFill/>
          <a:ln/>
        </p:spPr>
        <p:txBody>
          <a:bodyPr wrap="square" lIns="25400" tIns="25400" rIns="25400" bIns="25400" rtlCol="0" anchor="t">
            <a:normAutofit/>
          </a:bodyPr>
          <a:lstStyle/>
          <a:p>
            <a:pPr algn="l" indent="0" marL="0">
              <a:buNone/>
            </a:pPr>
            <a:r>
              <a:rPr lang="en-US" sz="1875" b="1" dirty="0">
                <a:solidFill>
                  <a:srgbClr val="FFFFFF"/>
                </a:solidFill>
                <a:latin typeface="Arial" pitchFamily="34" charset="0"/>
                <a:ea typeface="Arial" pitchFamily="34" charset="-122"/>
                <a:cs typeface="Arial" pitchFamily="34" charset="-120"/>
              </a:rPr>
              <a:t>개인화 이메일 초안 + 후속 캠페인 기획안</a:t>
            </a:r>
            <a:endParaRPr lang="en-US" sz="1875" dirty="0"/>
          </a:p>
        </p:txBody>
      </p:sp>
      <p:sp>
        <p:nvSpPr>
          <p:cNvPr id="24" name="Shape 16"/>
          <p:cNvSpPr/>
          <p:nvPr/>
        </p:nvSpPr>
        <p:spPr>
          <a:xfrm>
            <a:off x="952500" y="4335810"/>
            <a:ext cx="16383000" cy="1219200"/>
          </a:xfrm>
          <a:prstGeom prst="roundRect">
            <a:avLst>
              <a:gd name="adj" fmla="val 14063"/>
            </a:avLst>
          </a:prstGeom>
          <a:gradFill rotWithShape="1">
            <a:gsLst>
              <a:gs pos="0">
                <a:srgbClr val="9673F9">
                  <a:alpha val="100000"/>
                </a:srgbClr>
              </a:gs>
              <a:gs pos="100000">
                <a:srgbClr val="8969E3">
                  <a:alpha val="100000"/>
                </a:srgbClr>
              </a:gs>
            </a:gsLst>
            <a:lin ang="2700000" scaled="0"/>
          </a:gradFill>
          <a:ln/>
          <a:effectLst>
            <a:outerShdw sx="100000" sy="100000" kx="0" ky="0" algn="bl" rotWithShape="0" blurRad="323850" dist="152400" dir="5400000">
              <a:srgbClr val="9673F9">
                <a:alpha val="30000"/>
              </a:srgbClr>
            </a:outerShdw>
          </a:effectLst>
        </p:spPr>
      </p:sp>
      <p:sp>
        <p:nvSpPr>
          <p:cNvPr id="25" name="Shape 17"/>
          <p:cNvSpPr/>
          <p:nvPr/>
        </p:nvSpPr>
        <p:spPr>
          <a:xfrm>
            <a:off x="1257300" y="4721572"/>
            <a:ext cx="104775" cy="104775"/>
          </a:xfrm>
          <a:prstGeom prst="ellipse">
            <a:avLst/>
          </a:prstGeom>
          <a:solidFill>
            <a:srgbClr val="FFFFFF"/>
          </a:solidFill>
          <a:ln/>
        </p:spPr>
      </p:sp>
      <p:sp>
        <p:nvSpPr>
          <p:cNvPr id="26" name="Shape 18"/>
          <p:cNvSpPr/>
          <p:nvPr/>
        </p:nvSpPr>
        <p:spPr>
          <a:xfrm>
            <a:off x="1257300" y="4893022"/>
            <a:ext cx="104775" cy="104775"/>
          </a:xfrm>
          <a:prstGeom prst="ellipse">
            <a:avLst/>
          </a:prstGeom>
          <a:solidFill>
            <a:srgbClr val="FFFFFF"/>
          </a:solidFill>
          <a:ln/>
        </p:spPr>
      </p:sp>
      <p:sp>
        <p:nvSpPr>
          <p:cNvPr id="27" name="Shape 19"/>
          <p:cNvSpPr/>
          <p:nvPr/>
        </p:nvSpPr>
        <p:spPr>
          <a:xfrm>
            <a:off x="1257300" y="5064472"/>
            <a:ext cx="104775" cy="104775"/>
          </a:xfrm>
          <a:prstGeom prst="ellipse">
            <a:avLst/>
          </a:prstGeom>
          <a:solidFill>
            <a:srgbClr val="FFFFFF"/>
          </a:solidFill>
          <a:ln/>
        </p:spPr>
      </p:sp>
      <p:sp>
        <p:nvSpPr>
          <p:cNvPr id="28" name="Text 20"/>
          <p:cNvSpPr/>
          <p:nvPr/>
        </p:nvSpPr>
        <p:spPr>
          <a:xfrm>
            <a:off x="1609725" y="4583460"/>
            <a:ext cx="2242185" cy="314325"/>
          </a:xfrm>
          <a:prstGeom prst="rect">
            <a:avLst/>
          </a:prstGeom>
          <a:noFill/>
          <a:ln/>
        </p:spPr>
        <p:txBody>
          <a:bodyPr wrap="square" lIns="25400" tIns="25400" rIns="25400" bIns="25400" rtlCol="0" anchor="t">
            <a:normAutofit/>
          </a:bodyPr>
          <a:lstStyle/>
          <a:p>
            <a:pPr algn="l" indent="0" marL="0">
              <a:buNone/>
            </a:pPr>
            <a:r>
              <a:rPr lang="en-US" sz="1800" b="1" dirty="0">
                <a:solidFill>
                  <a:srgbClr val="E7DBFF"/>
                </a:solidFill>
                <a:latin typeface="Arial" pitchFamily="34" charset="0"/>
                <a:ea typeface="Arial" pitchFamily="34" charset="-122"/>
                <a:cs typeface="Arial" pitchFamily="34" charset="-120"/>
              </a:rPr>
              <a:t>Lv 3</a:t>
            </a:r>
            <a:endParaRPr lang="en-US" sz="1800" dirty="0"/>
          </a:p>
        </p:txBody>
      </p:sp>
      <p:sp>
        <p:nvSpPr>
          <p:cNvPr id="29" name="Text 21"/>
          <p:cNvSpPr/>
          <p:nvPr/>
        </p:nvSpPr>
        <p:spPr>
          <a:xfrm>
            <a:off x="1609725" y="4943029"/>
            <a:ext cx="1462757" cy="376238"/>
          </a:xfrm>
          <a:prstGeom prst="rect">
            <a:avLst/>
          </a:prstGeom>
          <a:noFill/>
          <a:ln/>
        </p:spPr>
        <p:txBody>
          <a:bodyPr wrap="square" lIns="25400" tIns="25400" rIns="25400" bIns="25400" rtlCol="0" anchor="t">
            <a:normAutofit/>
          </a:bodyPr>
          <a:lstStyle/>
          <a:p>
            <a:pPr algn="l" indent="0" marL="0">
              <a:buNone/>
            </a:pPr>
            <a:r>
              <a:rPr lang="en-US" sz="2325" b="1" dirty="0">
                <a:solidFill>
                  <a:srgbClr val="FFFFFF"/>
                </a:solidFill>
                <a:latin typeface="Arial" pitchFamily="34" charset="0"/>
                <a:ea typeface="Arial" pitchFamily="34" charset="-122"/>
                <a:cs typeface="Arial" pitchFamily="34" charset="-120"/>
              </a:rPr>
              <a:t>Challenge</a:t>
            </a:r>
            <a:endParaRPr lang="en-US" sz="2325" dirty="0"/>
          </a:p>
        </p:txBody>
      </p:sp>
      <p:sp>
        <p:nvSpPr>
          <p:cNvPr id="30" name="Shape 22"/>
          <p:cNvSpPr/>
          <p:nvPr/>
        </p:nvSpPr>
        <p:spPr>
          <a:xfrm>
            <a:off x="3034754" y="4916835"/>
            <a:ext cx="668313" cy="390525"/>
          </a:xfrm>
          <a:prstGeom prst="roundRect">
            <a:avLst>
              <a:gd name="adj" fmla="val 50000"/>
            </a:avLst>
          </a:prstGeom>
          <a:solidFill>
            <a:srgbClr val="FFFAEB"/>
          </a:solidFill>
          <a:ln/>
        </p:spPr>
      </p:sp>
      <p:sp>
        <p:nvSpPr>
          <p:cNvPr id="31" name="Text 23"/>
          <p:cNvSpPr/>
          <p:nvPr/>
        </p:nvSpPr>
        <p:spPr>
          <a:xfrm>
            <a:off x="3158579" y="4945410"/>
            <a:ext cx="496863"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8969E3"/>
                </a:solidFill>
                <a:latin typeface="Arial" pitchFamily="34" charset="0"/>
                <a:ea typeface="Arial" pitchFamily="34" charset="-122"/>
                <a:cs typeface="Arial" pitchFamily="34" charset="-120"/>
              </a:rPr>
              <a:t>핵심</a:t>
            </a:r>
            <a:endParaRPr lang="en-US" sz="1800" dirty="0"/>
          </a:p>
        </p:txBody>
      </p:sp>
      <p:sp>
        <p:nvSpPr>
          <p:cNvPr id="32" name="Shape 24"/>
          <p:cNvSpPr/>
          <p:nvPr/>
        </p:nvSpPr>
        <p:spPr>
          <a:xfrm>
            <a:off x="3895725" y="4669185"/>
            <a:ext cx="9525" cy="552450"/>
          </a:xfrm>
          <a:prstGeom prst="rect">
            <a:avLst/>
          </a:prstGeom>
          <a:solidFill>
            <a:srgbClr val="FFFFFF">
              <a:alpha val="32000"/>
            </a:srgbClr>
          </a:solidFill>
          <a:ln/>
        </p:spPr>
      </p:sp>
      <p:sp>
        <p:nvSpPr>
          <p:cNvPr id="33" name="Text 25"/>
          <p:cNvSpPr/>
          <p:nvPr/>
        </p:nvSpPr>
        <p:spPr>
          <a:xfrm>
            <a:off x="4152900" y="4595589"/>
            <a:ext cx="14165580" cy="385242"/>
          </a:xfrm>
          <a:prstGeom prst="rect">
            <a:avLst/>
          </a:prstGeom>
          <a:noFill/>
          <a:ln/>
        </p:spPr>
        <p:txBody>
          <a:bodyPr wrap="square" lIns="25400" tIns="25400" rIns="25400" bIns="25400" rtlCol="0" anchor="t">
            <a:normAutofit/>
          </a:bodyPr>
          <a:lstStyle/>
          <a:p>
            <a:pPr algn="l" indent="0" marL="0">
              <a:lnSpc>
                <a:spcPct val="135000"/>
              </a:lnSpc>
              <a:buNone/>
            </a:pPr>
            <a:r>
              <a:rPr lang="en-US" sz="2025" b="1" dirty="0">
                <a:solidFill>
                  <a:srgbClr val="FFFFFF"/>
                </a:solidFill>
                <a:latin typeface="Arial" pitchFamily="34" charset="0"/>
                <a:ea typeface="Arial" pitchFamily="34" charset="-122"/>
                <a:cs typeface="Arial" pitchFamily="34" charset="-120"/>
              </a:rPr>
              <a:t>후속 캠페인 기획안 2건 + 정적 HTML 시각화 + 통합 품질 QA</a:t>
            </a:r>
            <a:endParaRPr lang="en-US" sz="2025" dirty="0"/>
          </a:p>
        </p:txBody>
      </p:sp>
      <p:sp>
        <p:nvSpPr>
          <p:cNvPr id="34" name="Text 26"/>
          <p:cNvSpPr/>
          <p:nvPr/>
        </p:nvSpPr>
        <p:spPr>
          <a:xfrm>
            <a:off x="4152900" y="5018931"/>
            <a:ext cx="14165580" cy="314325"/>
          </a:xfrm>
          <a:prstGeom prst="rect">
            <a:avLst/>
          </a:prstGeom>
          <a:noFill/>
          <a:ln/>
        </p:spPr>
        <p:txBody>
          <a:bodyPr wrap="square" lIns="25400" tIns="25400" rIns="25400" bIns="25400" rtlCol="0" anchor="t">
            <a:normAutofit/>
          </a:bodyPr>
          <a:lstStyle/>
          <a:p>
            <a:pPr algn="l" indent="0" marL="0">
              <a:buNone/>
            </a:pPr>
            <a:r>
              <a:rPr lang="en-US" sz="1800" dirty="0">
                <a:solidFill>
                  <a:srgbClr val="EFE7FF"/>
                </a:solidFill>
                <a:latin typeface="Arial" pitchFamily="34" charset="0"/>
                <a:ea typeface="Arial" pitchFamily="34" charset="-122"/>
                <a:cs typeface="Arial" pitchFamily="34" charset="-120"/>
              </a:rPr>
              <a:t>담당·체크리스트·리스크까지</a:t>
            </a:r>
            <a:endParaRPr lang="en-US" sz="1800" dirty="0"/>
          </a:p>
        </p:txBody>
      </p:sp>
      <p:sp>
        <p:nvSpPr>
          <p:cNvPr id="35" name="Shape 27"/>
          <p:cNvSpPr/>
          <p:nvPr/>
        </p:nvSpPr>
        <p:spPr>
          <a:xfrm>
            <a:off x="952500" y="5688360"/>
            <a:ext cx="16383000" cy="1213917"/>
          </a:xfrm>
          <a:prstGeom prst="roundRect">
            <a:avLst>
              <a:gd name="adj" fmla="val 14124"/>
            </a:avLst>
          </a:prstGeom>
          <a:solidFill>
            <a:srgbClr val="E9DFFB"/>
          </a:solidFill>
          <a:ln w="9525">
            <a:solidFill>
              <a:srgbClr val="D9C9F6"/>
            </a:solidFill>
            <a:prstDash val="solid"/>
          </a:ln>
          <a:effectLst>
            <a:outerShdw sx="100000" sy="100000" kx="0" ky="0" algn="bl" rotWithShape="0" blurRad="266700" dist="114300" dir="5400000">
              <a:srgbClr val="6B52B1">
                <a:alpha val="8000"/>
              </a:srgbClr>
            </a:outerShdw>
          </a:effectLst>
        </p:spPr>
      </p:sp>
      <p:sp>
        <p:nvSpPr>
          <p:cNvPr id="36" name="Shape 28"/>
          <p:cNvSpPr/>
          <p:nvPr/>
        </p:nvSpPr>
        <p:spPr>
          <a:xfrm>
            <a:off x="1266825" y="6071443"/>
            <a:ext cx="104775" cy="104775"/>
          </a:xfrm>
          <a:prstGeom prst="ellipse">
            <a:avLst/>
          </a:prstGeom>
          <a:solidFill>
            <a:srgbClr val="CDBCF3"/>
          </a:solidFill>
          <a:ln/>
        </p:spPr>
      </p:sp>
      <p:sp>
        <p:nvSpPr>
          <p:cNvPr id="37" name="Shape 29"/>
          <p:cNvSpPr/>
          <p:nvPr/>
        </p:nvSpPr>
        <p:spPr>
          <a:xfrm>
            <a:off x="1266825" y="6242893"/>
            <a:ext cx="104775" cy="104775"/>
          </a:xfrm>
          <a:prstGeom prst="ellipse">
            <a:avLst/>
          </a:prstGeom>
          <a:solidFill>
            <a:srgbClr val="9673F9"/>
          </a:solidFill>
          <a:ln/>
        </p:spPr>
      </p:sp>
      <p:sp>
        <p:nvSpPr>
          <p:cNvPr id="38" name="Shape 30"/>
          <p:cNvSpPr/>
          <p:nvPr/>
        </p:nvSpPr>
        <p:spPr>
          <a:xfrm>
            <a:off x="1266825" y="6414343"/>
            <a:ext cx="104775" cy="104775"/>
          </a:xfrm>
          <a:prstGeom prst="ellipse">
            <a:avLst/>
          </a:prstGeom>
          <a:solidFill>
            <a:srgbClr val="9673F9"/>
          </a:solidFill>
          <a:ln/>
        </p:spPr>
      </p:sp>
      <p:sp>
        <p:nvSpPr>
          <p:cNvPr id="39" name="Text 31"/>
          <p:cNvSpPr/>
          <p:nvPr/>
        </p:nvSpPr>
        <p:spPr>
          <a:xfrm>
            <a:off x="1619250" y="5959525"/>
            <a:ext cx="2242185" cy="314325"/>
          </a:xfrm>
          <a:prstGeom prst="rect">
            <a:avLst/>
          </a:prstGeom>
          <a:noFill/>
          <a:ln/>
        </p:spPr>
        <p:txBody>
          <a:bodyPr wrap="square" lIns="25400" tIns="25400" rIns="25400" bIns="25400" rtlCol="0" anchor="t">
            <a:normAutofit/>
          </a:bodyPr>
          <a:lstStyle/>
          <a:p>
            <a:pPr algn="l" indent="0" marL="0">
              <a:buNone/>
            </a:pPr>
            <a:r>
              <a:rPr lang="en-US" sz="1800" b="1" dirty="0">
                <a:solidFill>
                  <a:srgbClr val="8969E3"/>
                </a:solidFill>
                <a:latin typeface="Arial" pitchFamily="34" charset="0"/>
                <a:ea typeface="Arial" pitchFamily="34" charset="-122"/>
                <a:cs typeface="Arial" pitchFamily="34" charset="-120"/>
              </a:rPr>
              <a:t>Lv 2</a:t>
            </a:r>
            <a:endParaRPr lang="en-US" sz="1800" dirty="0"/>
          </a:p>
        </p:txBody>
      </p:sp>
      <p:sp>
        <p:nvSpPr>
          <p:cNvPr id="40" name="Text 32"/>
          <p:cNvSpPr/>
          <p:nvPr/>
        </p:nvSpPr>
        <p:spPr>
          <a:xfrm>
            <a:off x="1619250" y="6292900"/>
            <a:ext cx="2242185" cy="376238"/>
          </a:xfrm>
          <a:prstGeom prst="rect">
            <a:avLst/>
          </a:prstGeom>
          <a:noFill/>
          <a:ln/>
        </p:spPr>
        <p:txBody>
          <a:bodyPr wrap="square" lIns="25400" tIns="25400" rIns="25400" bIns="25400" rtlCol="0" anchor="t">
            <a:normAutofit/>
          </a:bodyPr>
          <a:lstStyle/>
          <a:p>
            <a:pPr algn="l" indent="0" marL="0">
              <a:buNone/>
            </a:pPr>
            <a:r>
              <a:rPr lang="en-US" sz="2325" b="1" dirty="0">
                <a:solidFill>
                  <a:srgbClr val="6B52B1"/>
                </a:solidFill>
                <a:latin typeface="Arial" pitchFamily="34" charset="0"/>
                <a:ea typeface="Arial" pitchFamily="34" charset="-122"/>
                <a:cs typeface="Arial" pitchFamily="34" charset="-120"/>
              </a:rPr>
              <a:t>Standard</a:t>
            </a:r>
            <a:endParaRPr lang="en-US" sz="2325" dirty="0"/>
          </a:p>
        </p:txBody>
      </p:sp>
      <p:sp>
        <p:nvSpPr>
          <p:cNvPr id="41" name="Shape 33"/>
          <p:cNvSpPr/>
          <p:nvPr/>
        </p:nvSpPr>
        <p:spPr>
          <a:xfrm>
            <a:off x="3905250" y="6019056"/>
            <a:ext cx="9525" cy="552450"/>
          </a:xfrm>
          <a:prstGeom prst="rect">
            <a:avLst/>
          </a:prstGeom>
          <a:solidFill>
            <a:srgbClr val="CBB8F2"/>
          </a:solidFill>
          <a:ln/>
        </p:spPr>
      </p:sp>
      <p:sp>
        <p:nvSpPr>
          <p:cNvPr id="42" name="Text 34"/>
          <p:cNvSpPr/>
          <p:nvPr/>
        </p:nvSpPr>
        <p:spPr>
          <a:xfrm>
            <a:off x="4162425" y="5945535"/>
            <a:ext cx="14144625" cy="385242"/>
          </a:xfrm>
          <a:prstGeom prst="rect">
            <a:avLst/>
          </a:prstGeom>
          <a:noFill/>
          <a:ln/>
        </p:spPr>
        <p:txBody>
          <a:bodyPr wrap="square" lIns="25400" tIns="25400" rIns="25400" bIns="25400" rtlCol="0" anchor="t">
            <a:normAutofit/>
          </a:bodyPr>
          <a:lstStyle/>
          <a:p>
            <a:pPr algn="l" indent="0" marL="0">
              <a:lnSpc>
                <a:spcPct val="135000"/>
              </a:lnSpc>
              <a:buNone/>
            </a:pPr>
            <a:r>
              <a:rPr lang="en-US" sz="2025" b="1" dirty="0">
                <a:solidFill>
                  <a:srgbClr val="131313"/>
                </a:solidFill>
                <a:latin typeface="Arial" pitchFamily="34" charset="0"/>
                <a:ea typeface="Arial" pitchFamily="34" charset="-122"/>
                <a:cs typeface="Arial" pitchFamily="34" charset="-120"/>
              </a:rPr>
              <a:t>재현 Skill 체인 + 파이프라인 사용법 + 샘플 1부</a:t>
            </a:r>
            <a:endParaRPr lang="en-US" sz="2025" dirty="0"/>
          </a:p>
        </p:txBody>
      </p:sp>
      <p:sp>
        <p:nvSpPr>
          <p:cNvPr id="43" name="Text 35"/>
          <p:cNvSpPr/>
          <p:nvPr/>
        </p:nvSpPr>
        <p:spPr>
          <a:xfrm>
            <a:off x="4162425" y="6368876"/>
            <a:ext cx="14144625" cy="314325"/>
          </a:xfrm>
          <a:prstGeom prst="rect">
            <a:avLst/>
          </a:prstGeom>
          <a:noFill/>
          <a:ln/>
        </p:spPr>
        <p:txBody>
          <a:bodyPr wrap="square" lIns="25400" tIns="25400" rIns="25400" bIns="25400" rtlCol="0" anchor="t">
            <a:normAutofit/>
          </a:bodyPr>
          <a:lstStyle/>
          <a:p>
            <a:pPr algn="l" indent="0" marL="0">
              <a:buNone/>
            </a:pPr>
            <a:r>
              <a:rPr lang="en-US" sz="1800" dirty="0">
                <a:solidFill>
                  <a:srgbClr val="585858"/>
                </a:solidFill>
                <a:latin typeface="Arial" pitchFamily="34" charset="0"/>
                <a:ea typeface="Arial" pitchFamily="34" charset="-122"/>
                <a:cs typeface="Arial" pitchFamily="34" charset="-120"/>
              </a:rPr>
              <a:t>새 CSV도 동일 품질 · 스크립트·외부 API 의존 없음</a:t>
            </a:r>
            <a:endParaRPr lang="en-US" sz="1800" dirty="0"/>
          </a:p>
        </p:txBody>
      </p:sp>
      <p:sp>
        <p:nvSpPr>
          <p:cNvPr id="44" name="Shape 36"/>
          <p:cNvSpPr/>
          <p:nvPr/>
        </p:nvSpPr>
        <p:spPr>
          <a:xfrm>
            <a:off x="952500" y="7035626"/>
            <a:ext cx="16383000" cy="1218679"/>
          </a:xfrm>
          <a:prstGeom prst="roundRect">
            <a:avLst>
              <a:gd name="adj" fmla="val 14069"/>
            </a:avLst>
          </a:prstGeom>
          <a:solidFill>
            <a:srgbClr val="F6F2FE"/>
          </a:solidFill>
          <a:ln w="9525">
            <a:solidFill>
              <a:srgbClr val="E9E1FB"/>
            </a:solidFill>
            <a:prstDash val="solid"/>
          </a:ln>
          <a:effectLst>
            <a:outerShdw sx="100000" sy="100000" kx="0" ky="0" algn="bl" rotWithShape="0" blurRad="266700" dist="114300" dir="5400000">
              <a:srgbClr val="6B52B1">
                <a:alpha val="6000"/>
              </a:srgbClr>
            </a:outerShdw>
          </a:effectLst>
        </p:spPr>
      </p:sp>
      <p:sp>
        <p:nvSpPr>
          <p:cNvPr id="45" name="Shape 37"/>
          <p:cNvSpPr/>
          <p:nvPr/>
        </p:nvSpPr>
        <p:spPr>
          <a:xfrm>
            <a:off x="1266825" y="7421091"/>
            <a:ext cx="104775" cy="104775"/>
          </a:xfrm>
          <a:prstGeom prst="ellipse">
            <a:avLst/>
          </a:prstGeom>
          <a:solidFill>
            <a:srgbClr val="D8CCF6"/>
          </a:solidFill>
          <a:ln/>
        </p:spPr>
      </p:sp>
      <p:sp>
        <p:nvSpPr>
          <p:cNvPr id="46" name="Shape 38"/>
          <p:cNvSpPr/>
          <p:nvPr/>
        </p:nvSpPr>
        <p:spPr>
          <a:xfrm>
            <a:off x="1266825" y="7592541"/>
            <a:ext cx="104775" cy="104775"/>
          </a:xfrm>
          <a:prstGeom prst="ellipse">
            <a:avLst/>
          </a:prstGeom>
          <a:solidFill>
            <a:srgbClr val="D8CCF6"/>
          </a:solidFill>
          <a:ln/>
        </p:spPr>
      </p:sp>
      <p:sp>
        <p:nvSpPr>
          <p:cNvPr id="47" name="Shape 39"/>
          <p:cNvSpPr/>
          <p:nvPr/>
        </p:nvSpPr>
        <p:spPr>
          <a:xfrm>
            <a:off x="1266825" y="7763991"/>
            <a:ext cx="104775" cy="104775"/>
          </a:xfrm>
          <a:prstGeom prst="ellipse">
            <a:avLst/>
          </a:prstGeom>
          <a:solidFill>
            <a:srgbClr val="9673F9"/>
          </a:solidFill>
          <a:ln/>
        </p:spPr>
      </p:sp>
      <p:sp>
        <p:nvSpPr>
          <p:cNvPr id="48" name="Text 40"/>
          <p:cNvSpPr/>
          <p:nvPr/>
        </p:nvSpPr>
        <p:spPr>
          <a:xfrm>
            <a:off x="1619250" y="7309172"/>
            <a:ext cx="2242185" cy="314325"/>
          </a:xfrm>
          <a:prstGeom prst="rect">
            <a:avLst/>
          </a:prstGeom>
          <a:noFill/>
          <a:ln/>
        </p:spPr>
        <p:txBody>
          <a:bodyPr wrap="square" lIns="25400" tIns="25400" rIns="25400" bIns="25400" rtlCol="0" anchor="t">
            <a:normAutofit/>
          </a:bodyPr>
          <a:lstStyle/>
          <a:p>
            <a:pPr algn="l" indent="0" marL="0">
              <a:buNone/>
            </a:pPr>
            <a:r>
              <a:rPr lang="en-US" sz="1800" b="1" dirty="0">
                <a:solidFill>
                  <a:srgbClr val="9D9D9D"/>
                </a:solidFill>
                <a:latin typeface="Arial" pitchFamily="34" charset="0"/>
                <a:ea typeface="Arial" pitchFamily="34" charset="-122"/>
                <a:cs typeface="Arial" pitchFamily="34" charset="-120"/>
              </a:rPr>
              <a:t>Lv 1</a:t>
            </a:r>
            <a:endParaRPr lang="en-US" sz="1800" dirty="0"/>
          </a:p>
        </p:txBody>
      </p:sp>
      <p:sp>
        <p:nvSpPr>
          <p:cNvPr id="49" name="Text 41"/>
          <p:cNvSpPr/>
          <p:nvPr/>
        </p:nvSpPr>
        <p:spPr>
          <a:xfrm>
            <a:off x="1619250" y="7642547"/>
            <a:ext cx="2242185" cy="376238"/>
          </a:xfrm>
          <a:prstGeom prst="rect">
            <a:avLst/>
          </a:prstGeom>
          <a:noFill/>
          <a:ln/>
        </p:spPr>
        <p:txBody>
          <a:bodyPr wrap="square" lIns="25400" tIns="25400" rIns="25400" bIns="25400" rtlCol="0" anchor="t">
            <a:normAutofit/>
          </a:bodyPr>
          <a:lstStyle/>
          <a:p>
            <a:pPr algn="l" indent="0" marL="0">
              <a:buNone/>
            </a:pPr>
            <a:r>
              <a:rPr lang="en-US" sz="2325" b="1" dirty="0">
                <a:solidFill>
                  <a:srgbClr val="6B52B1"/>
                </a:solidFill>
                <a:latin typeface="Arial" pitchFamily="34" charset="0"/>
                <a:ea typeface="Arial" pitchFamily="34" charset="-122"/>
                <a:cs typeface="Arial" pitchFamily="34" charset="-120"/>
              </a:rPr>
              <a:t>Basic</a:t>
            </a:r>
            <a:endParaRPr lang="en-US" sz="2325" dirty="0"/>
          </a:p>
        </p:txBody>
      </p:sp>
      <p:sp>
        <p:nvSpPr>
          <p:cNvPr id="50" name="Shape 42"/>
          <p:cNvSpPr/>
          <p:nvPr/>
        </p:nvSpPr>
        <p:spPr>
          <a:xfrm>
            <a:off x="3905250" y="7368704"/>
            <a:ext cx="9525" cy="552450"/>
          </a:xfrm>
          <a:prstGeom prst="rect">
            <a:avLst/>
          </a:prstGeom>
          <a:solidFill>
            <a:srgbClr val="E3D9FB"/>
          </a:solidFill>
          <a:ln/>
        </p:spPr>
      </p:sp>
      <p:sp>
        <p:nvSpPr>
          <p:cNvPr id="51" name="Text 43"/>
          <p:cNvSpPr/>
          <p:nvPr/>
        </p:nvSpPr>
        <p:spPr>
          <a:xfrm>
            <a:off x="4162425" y="7292801"/>
            <a:ext cx="14144625" cy="390004"/>
          </a:xfrm>
          <a:prstGeom prst="rect">
            <a:avLst/>
          </a:prstGeom>
          <a:noFill/>
          <a:ln/>
        </p:spPr>
        <p:txBody>
          <a:bodyPr wrap="square" lIns="25400" tIns="25400" rIns="25400" bIns="25400" rtlCol="0" anchor="t">
            <a:normAutofit/>
          </a:bodyPr>
          <a:lstStyle/>
          <a:p>
            <a:pPr algn="l" indent="0" marL="0">
              <a:lnSpc>
                <a:spcPct val="135000"/>
              </a:lnSpc>
              <a:buNone/>
            </a:pPr>
            <a:r>
              <a:rPr lang="en-US" sz="2025" b="1" dirty="0">
                <a:solidFill>
                  <a:srgbClr val="6B52B1"/>
                </a:solidFill>
                <a:latin typeface="Courier New" pitchFamily="34" charset="0"/>
                <a:ea typeface="Courier New" pitchFamily="34" charset="-122"/>
                <a:cs typeface="Courier New" pitchFamily="34" charset="-120"/>
              </a:rPr>
              <a:t>email_drafts.csv </a:t>
            </a:r>
            <a:pPr algn="l" indent="0" marL="0">
              <a:lnSpc>
                <a:spcPct val="135000"/>
              </a:lnSpc>
              <a:buNone/>
            </a:pPr>
            <a:r>
              <a:rPr lang="en-US" sz="2025" b="1" dirty="0">
                <a:solidFill>
                  <a:srgbClr val="131313"/>
                </a:solidFill>
                <a:latin typeface="Arial" pitchFamily="34" charset="0"/>
                <a:ea typeface="Arial" pitchFamily="34" charset="-122"/>
                <a:cs typeface="Arial" pitchFamily="34" charset="-120"/>
              </a:rPr>
              <a:t>49건 </a:t>
            </a:r>
            <a:pPr algn="l" indent="0" marL="0">
              <a:lnSpc>
                <a:spcPct val="135000"/>
              </a:lnSpc>
              <a:buNone/>
            </a:pPr>
            <a:r>
              <a:rPr lang="en-US" sz="1800" b="1" dirty="0">
                <a:solidFill>
                  <a:srgbClr val="8969E3"/>
                </a:solidFill>
                <a:latin typeface="Courier New" pitchFamily="34" charset="0"/>
                <a:ea typeface="Courier New" pitchFamily="34" charset="-122"/>
                <a:cs typeface="Courier New" pitchFamily="34" charset="-120"/>
              </a:rPr>
              <a:t>(lead_id · subject · body · review_flag) </a:t>
            </a:r>
            <a:pPr algn="l" indent="0" marL="0">
              <a:lnSpc>
                <a:spcPct val="135000"/>
              </a:lnSpc>
              <a:buNone/>
            </a:pPr>
            <a:r>
              <a:rPr lang="en-US" sz="2025" b="1" dirty="0">
                <a:solidFill>
                  <a:srgbClr val="131313"/>
                </a:solidFill>
                <a:latin typeface="Arial" pitchFamily="34" charset="0"/>
                <a:ea typeface="Arial" pitchFamily="34" charset="-122"/>
                <a:cs typeface="Arial" pitchFamily="34" charset="-120"/>
              </a:rPr>
              <a:t>+ 예외 처리 요약</a:t>
            </a:r>
            <a:endParaRPr lang="en-US" sz="2025" dirty="0"/>
          </a:p>
        </p:txBody>
      </p:sp>
      <p:sp>
        <p:nvSpPr>
          <p:cNvPr id="52" name="Text 44"/>
          <p:cNvSpPr/>
          <p:nvPr/>
        </p:nvSpPr>
        <p:spPr>
          <a:xfrm>
            <a:off x="4162425" y="7720905"/>
            <a:ext cx="14144625" cy="314325"/>
          </a:xfrm>
          <a:prstGeom prst="rect">
            <a:avLst/>
          </a:prstGeom>
          <a:noFill/>
          <a:ln/>
        </p:spPr>
        <p:txBody>
          <a:bodyPr wrap="square" lIns="25400" tIns="25400" rIns="25400" bIns="25400" rtlCol="0" anchor="t">
            <a:normAutofit/>
          </a:bodyPr>
          <a:lstStyle/>
          <a:p>
            <a:pPr algn="l" indent="0" marL="0">
              <a:buNone/>
            </a:pPr>
            <a:r>
              <a:rPr lang="en-US" sz="1800" dirty="0">
                <a:solidFill>
                  <a:srgbClr val="585858"/>
                </a:solidFill>
                <a:latin typeface="Arial" pitchFamily="34" charset="0"/>
                <a:ea typeface="Arial" pitchFamily="34" charset="-122"/>
                <a:cs typeface="Arial" pitchFamily="34" charset="-120"/>
              </a:rPr>
              <a:t>직책별 차별화 초안 일괄 생성</a:t>
            </a:r>
            <a:endParaRPr lang="en-US" sz="1800" dirty="0"/>
          </a:p>
        </p:txBody>
      </p:sp>
      <p:sp>
        <p:nvSpPr>
          <p:cNvPr id="53" name="Shape 45"/>
          <p:cNvSpPr/>
          <p:nvPr/>
        </p:nvSpPr>
        <p:spPr>
          <a:xfrm>
            <a:off x="952500" y="9334500"/>
            <a:ext cx="16383000" cy="9525"/>
          </a:xfrm>
          <a:prstGeom prst="rect">
            <a:avLst/>
          </a:prstGeom>
          <a:solidFill>
            <a:srgbClr val="ECECEC"/>
          </a:solidFill>
          <a:ln/>
        </p:spPr>
      </p:sp>
      <p:sp>
        <p:nvSpPr>
          <p:cNvPr id="54" name="Text 46"/>
          <p:cNvSpPr/>
          <p:nvPr/>
        </p:nvSpPr>
        <p:spPr>
          <a:xfrm>
            <a:off x="952500" y="9515475"/>
            <a:ext cx="2574764" cy="314325"/>
          </a:xfrm>
          <a:prstGeom prst="rect">
            <a:avLst/>
          </a:prstGeom>
          <a:noFill/>
          <a:ln/>
        </p:spPr>
        <p:txBody>
          <a:bodyPr wrap="square" lIns="25400" tIns="25400" rIns="25400" bIns="25400" rtlCol="0" anchor="t">
            <a:normAutofit/>
          </a:bodyPr>
          <a:lstStyle/>
          <a:p>
            <a:pPr algn="l" indent="0" marL="0">
              <a:buNone/>
            </a:pPr>
            <a:r>
              <a:rPr lang="en-US" sz="1800" dirty="0">
                <a:solidFill>
                  <a:srgbClr val="9D9D9D"/>
                </a:solidFill>
                <a:latin typeface="Arial" pitchFamily="34" charset="0"/>
                <a:ea typeface="Arial" pitchFamily="34" charset="-122"/>
                <a:cs typeface="Arial" pitchFamily="34" charset="-120"/>
              </a:rPr>
              <a:t>키즐링 후속 이메일 자동화</a:t>
            </a:r>
            <a:endParaRPr lang="en-US" sz="1800" dirty="0"/>
          </a:p>
        </p:txBody>
      </p:sp>
      <p:sp>
        <p:nvSpPr>
          <p:cNvPr id="55" name="Text 47"/>
          <p:cNvSpPr/>
          <p:nvPr/>
        </p:nvSpPr>
        <p:spPr>
          <a:xfrm>
            <a:off x="16607954" y="9515475"/>
            <a:ext cx="803746" cy="314325"/>
          </a:xfrm>
          <a:prstGeom prst="rect">
            <a:avLst/>
          </a:prstGeom>
          <a:noFill/>
          <a:ln/>
        </p:spPr>
        <p:txBody>
          <a:bodyPr wrap="square" lIns="25400" tIns="25400" rIns="25400" bIns="25400" rtlCol="0" anchor="t">
            <a:normAutofit/>
          </a:bodyPr>
          <a:lstStyle/>
          <a:p>
            <a:pPr algn="l" indent="0" marL="0">
              <a:buNone/>
            </a:pPr>
            <a:r>
              <a:rPr lang="en-US" sz="1800" b="1" dirty="0">
                <a:solidFill>
                  <a:srgbClr val="6B52B1"/>
                </a:solidFill>
                <a:latin typeface="Arial" pitchFamily="34" charset="0"/>
                <a:ea typeface="Arial" pitchFamily="34" charset="-122"/>
                <a:cs typeface="Arial" pitchFamily="34" charset="-120"/>
              </a:rPr>
              <a:t>03 </a:t>
            </a:r>
            <a:pPr algn="l" indent="0" marL="0">
              <a:buNone/>
            </a:pPr>
            <a:r>
              <a:rPr lang="en-US" sz="1800" dirty="0">
                <a:solidFill>
                  <a:srgbClr val="9D9D9D"/>
                </a:solidFill>
                <a:latin typeface="Arial" pitchFamily="34" charset="0"/>
                <a:ea typeface="Arial" pitchFamily="34" charset="-122"/>
                <a:cs typeface="Arial" pitchFamily="34" charset="-120"/>
              </a:rPr>
              <a:t>/ 08</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9673F9">
                  <a:alpha val="8000"/>
                </a:srgbClr>
              </a:gs>
              <a:gs pos="60000">
                <a:srgbClr val="9673F9">
                  <a:alpha val="0"/>
                </a:srgbClr>
              </a:gs>
            </a:gsLst>
            <a:path path="circle">
              <a:fillToRect l="94000" t="100000" r="6000" b="0"/>
            </a:path>
          </a:gradFill>
          <a:ln/>
        </p:spPr>
      </p:sp>
      <p:sp>
        <p:nvSpPr>
          <p:cNvPr id="3" name="Shape 1"/>
          <p:cNvSpPr/>
          <p:nvPr/>
        </p:nvSpPr>
        <p:spPr>
          <a:xfrm>
            <a:off x="952500" y="609600"/>
            <a:ext cx="1266453" cy="542925"/>
          </a:xfrm>
          <a:prstGeom prst="roundRect">
            <a:avLst>
              <a:gd name="adj" fmla="val 50000"/>
            </a:avLst>
          </a:prstGeom>
          <a:solidFill>
            <a:srgbClr val="EDE7FE"/>
          </a:solidFill>
          <a:ln/>
        </p:spPr>
      </p:sp>
      <p:sp>
        <p:nvSpPr>
          <p:cNvPr id="4" name="Shape 2"/>
          <p:cNvSpPr/>
          <p:nvPr/>
        </p:nvSpPr>
        <p:spPr>
          <a:xfrm>
            <a:off x="1162050" y="833438"/>
            <a:ext cx="95250" cy="95250"/>
          </a:xfrm>
          <a:prstGeom prst="ellipse">
            <a:avLst/>
          </a:prstGeom>
          <a:solidFill>
            <a:srgbClr val="9673F9"/>
          </a:solidFill>
          <a:ln/>
        </p:spPr>
      </p:sp>
      <p:sp>
        <p:nvSpPr>
          <p:cNvPr id="5" name="Text 3"/>
          <p:cNvSpPr/>
          <p:nvPr/>
        </p:nvSpPr>
        <p:spPr>
          <a:xfrm>
            <a:off x="1371600" y="714375"/>
            <a:ext cx="714003" cy="371475"/>
          </a:xfrm>
          <a:prstGeom prst="rect">
            <a:avLst/>
          </a:prstGeom>
          <a:noFill/>
          <a:ln/>
        </p:spPr>
        <p:txBody>
          <a:bodyPr wrap="square" lIns="25400" tIns="25400" rIns="25400" bIns="25400" rtlCol="0" anchor="t">
            <a:normAutofit/>
          </a:bodyPr>
          <a:lstStyle/>
          <a:p>
            <a:pPr algn="l" indent="0" marL="0">
              <a:buNone/>
            </a:pPr>
            <a:r>
              <a:rPr lang="en-US" sz="1800" b="1" spc="18" kern="0" dirty="0">
                <a:solidFill>
                  <a:srgbClr val="6B52B1"/>
                </a:solidFill>
                <a:latin typeface="Arial" pitchFamily="34" charset="0"/>
                <a:ea typeface="Arial" pitchFamily="34" charset="-122"/>
                <a:cs typeface="Arial" pitchFamily="34" charset="-120"/>
              </a:rPr>
              <a:t>전환력</a:t>
            </a:r>
            <a:endParaRPr lang="en-US" sz="1800" dirty="0"/>
          </a:p>
        </p:txBody>
      </p:sp>
      <p:sp>
        <p:nvSpPr>
          <p:cNvPr id="6" name="Text 4"/>
          <p:cNvSpPr/>
          <p:nvPr/>
        </p:nvSpPr>
        <p:spPr>
          <a:xfrm>
            <a:off x="952500" y="1476375"/>
            <a:ext cx="18021300" cy="598884"/>
          </a:xfrm>
          <a:prstGeom prst="rect">
            <a:avLst/>
          </a:prstGeom>
          <a:noFill/>
          <a:ln/>
        </p:spPr>
        <p:txBody>
          <a:bodyPr wrap="square" lIns="25400" tIns="25400" rIns="25400" bIns="25400" rtlCol="0" anchor="t">
            <a:normAutofit/>
          </a:bodyPr>
          <a:lstStyle/>
          <a:p>
            <a:pPr algn="l" indent="0" marL="0">
              <a:lnSpc>
                <a:spcPct val="128000"/>
              </a:lnSpc>
              <a:buNone/>
            </a:pPr>
            <a:r>
              <a:rPr lang="en-US" sz="3450" b="1" spc="-69" kern="0" dirty="0">
                <a:solidFill>
                  <a:srgbClr val="9D9D9D"/>
                </a:solidFill>
                <a:latin typeface="Arial" pitchFamily="34" charset="0"/>
                <a:ea typeface="Arial" pitchFamily="34" charset="-122"/>
                <a:cs typeface="Arial" pitchFamily="34" charset="-120"/>
              </a:rPr>
              <a:t>같은 톤은 누구에게도 안 꽂힌다 </a:t>
            </a:r>
            <a:pPr algn="l" indent="0" marL="0">
              <a:lnSpc>
                <a:spcPct val="128000"/>
              </a:lnSpc>
              <a:buNone/>
            </a:pPr>
            <a:r>
              <a:rPr lang="en-US" sz="3450" b="1" spc="-69" kern="0" dirty="0">
                <a:solidFill>
                  <a:srgbClr val="131313"/>
                </a:solidFill>
                <a:latin typeface="Arial" pitchFamily="34" charset="0"/>
                <a:ea typeface="Arial" pitchFamily="34" charset="-122"/>
                <a:cs typeface="Arial" pitchFamily="34" charset="-120"/>
              </a:rPr>
              <a:t>— 직책별로 </a:t>
            </a:r>
            <a:pPr algn="l" indent="0" marL="0">
              <a:lnSpc>
                <a:spcPct val="128000"/>
              </a:lnSpc>
              <a:buNone/>
            </a:pPr>
            <a:r>
              <a:rPr lang="en-US" sz="3450" b="1" spc="-69" kern="0" dirty="0">
                <a:solidFill>
                  <a:srgbClr val="9673F9"/>
                </a:solidFill>
                <a:latin typeface="Arial" pitchFamily="34" charset="0"/>
                <a:ea typeface="Arial" pitchFamily="34" charset="-122"/>
                <a:cs typeface="Arial" pitchFamily="34" charset="-120"/>
              </a:rPr>
              <a:t>소구점·CTA를 다르게</a:t>
            </a:r>
            <a:endParaRPr lang="en-US" sz="3450" dirty="0"/>
          </a:p>
        </p:txBody>
      </p:sp>
      <p:sp>
        <p:nvSpPr>
          <p:cNvPr id="7" name="Shape 5"/>
          <p:cNvSpPr/>
          <p:nvPr/>
        </p:nvSpPr>
        <p:spPr>
          <a:xfrm>
            <a:off x="952500" y="2361009"/>
            <a:ext cx="5283175" cy="5592366"/>
          </a:xfrm>
          <a:prstGeom prst="roundRect">
            <a:avLst>
              <a:gd name="adj" fmla="val 3966"/>
            </a:avLst>
          </a:prstGeom>
          <a:solidFill>
            <a:srgbClr val="FFFFFF"/>
          </a:solidFill>
          <a:ln w="9525">
            <a:solidFill>
              <a:srgbClr val="EEE8FB"/>
            </a:solidFill>
            <a:prstDash val="solid"/>
          </a:ln>
          <a:effectLst>
            <a:outerShdw sx="100000" sy="100000" kx="0" ky="0" algn="bl" rotWithShape="0" blurRad="304800" dist="133350" dir="5400000">
              <a:srgbClr val="6B52B1">
                <a:alpha val="9000"/>
              </a:srgbClr>
            </a:outerShdw>
          </a:effectLst>
        </p:spPr>
      </p:sp>
      <p:sp>
        <p:nvSpPr>
          <p:cNvPr id="8" name="Shape 6"/>
          <p:cNvSpPr/>
          <p:nvPr/>
        </p:nvSpPr>
        <p:spPr>
          <a:xfrm>
            <a:off x="962025" y="2370534"/>
            <a:ext cx="5264125" cy="890588"/>
          </a:xfrm>
          <a:prstGeom prst="rect">
            <a:avLst/>
          </a:prstGeom>
          <a:solidFill>
            <a:srgbClr val="9673F9"/>
          </a:solidFill>
          <a:ln/>
        </p:spPr>
      </p:sp>
      <p:sp>
        <p:nvSpPr>
          <p:cNvPr id="9" name="Shape 7"/>
          <p:cNvSpPr/>
          <p:nvPr/>
        </p:nvSpPr>
        <p:spPr>
          <a:xfrm>
            <a:off x="1209675" y="2596753"/>
            <a:ext cx="438150" cy="438150"/>
          </a:xfrm>
          <a:prstGeom prst="roundRect">
            <a:avLst>
              <a:gd name="adj" fmla="val 26087"/>
            </a:avLst>
          </a:prstGeom>
          <a:solidFill>
            <a:srgbClr val="FFFFFF">
              <a:alpha val="20000"/>
            </a:srgbClr>
          </a:solidFill>
          <a:ln/>
        </p:spPr>
      </p:sp>
      <p:pic>
        <p:nvPicPr>
          <p:cNvPr id="10"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314450" y="2701528"/>
            <a:ext cx="228600" cy="228600"/>
          </a:xfrm>
          <a:prstGeom prst="rect">
            <a:avLst/>
          </a:prstGeom>
        </p:spPr>
      </p:pic>
      <p:sp>
        <p:nvSpPr>
          <p:cNvPr id="11" name="Text 8"/>
          <p:cNvSpPr/>
          <p:nvPr/>
        </p:nvSpPr>
        <p:spPr>
          <a:xfrm>
            <a:off x="1781175" y="2580084"/>
            <a:ext cx="672108" cy="509587"/>
          </a:xfrm>
          <a:prstGeom prst="rect">
            <a:avLst/>
          </a:prstGeom>
          <a:noFill/>
          <a:ln/>
        </p:spPr>
        <p:txBody>
          <a:bodyPr wrap="square" lIns="25400" tIns="25400" rIns="25400" bIns="25400" rtlCol="0" anchor="t">
            <a:normAutofit/>
          </a:bodyPr>
          <a:lstStyle/>
          <a:p>
            <a:pPr algn="l" indent="0" marL="0">
              <a:buNone/>
            </a:pPr>
            <a:r>
              <a:rPr lang="en-US" sz="2550" b="1" dirty="0">
                <a:solidFill>
                  <a:srgbClr val="FFFFFF"/>
                </a:solidFill>
                <a:latin typeface="Arial" pitchFamily="34" charset="0"/>
                <a:ea typeface="Arial" pitchFamily="34" charset="-122"/>
                <a:cs typeface="Arial" pitchFamily="34" charset="-120"/>
              </a:rPr>
              <a:t>원장</a:t>
            </a:r>
            <a:endParaRPr lang="en-US" sz="2550" dirty="0"/>
          </a:p>
        </p:txBody>
      </p:sp>
      <p:sp>
        <p:nvSpPr>
          <p:cNvPr id="12" name="Text 9"/>
          <p:cNvSpPr/>
          <p:nvPr/>
        </p:nvSpPr>
        <p:spPr>
          <a:xfrm>
            <a:off x="1209675" y="3508772"/>
            <a:ext cx="5245708"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8969E3"/>
                </a:solidFill>
                <a:latin typeface="Arial" pitchFamily="34" charset="0"/>
                <a:ea typeface="Arial" pitchFamily="34" charset="-122"/>
                <a:cs typeface="Arial" pitchFamily="34" charset="-120"/>
              </a:rPr>
              <a:t>관심</a:t>
            </a:r>
            <a:endParaRPr lang="en-US" sz="1800" dirty="0"/>
          </a:p>
        </p:txBody>
      </p:sp>
      <p:sp>
        <p:nvSpPr>
          <p:cNvPr id="13" name="Text 10"/>
          <p:cNvSpPr/>
          <p:nvPr/>
        </p:nvSpPr>
        <p:spPr>
          <a:xfrm>
            <a:off x="1209675" y="3899297"/>
            <a:ext cx="5245708" cy="395288"/>
          </a:xfrm>
          <a:prstGeom prst="rect">
            <a:avLst/>
          </a:prstGeom>
          <a:noFill/>
          <a:ln/>
        </p:spPr>
        <p:txBody>
          <a:bodyPr wrap="square" lIns="25400" tIns="25400" rIns="25400" bIns="25400" rtlCol="0" anchor="t">
            <a:normAutofit/>
          </a:bodyPr>
          <a:lstStyle/>
          <a:p>
            <a:pPr algn="l" indent="0" marL="0">
              <a:buNone/>
            </a:pPr>
            <a:r>
              <a:rPr lang="en-US" sz="1950" b="1" dirty="0">
                <a:solidFill>
                  <a:srgbClr val="131313"/>
                </a:solidFill>
                <a:latin typeface="Arial" pitchFamily="34" charset="0"/>
                <a:ea typeface="Arial" pitchFamily="34" charset="-122"/>
                <a:cs typeface="Arial" pitchFamily="34" charset="-120"/>
              </a:rPr>
              <a:t>원생 효과</a:t>
            </a:r>
            <a:endParaRPr lang="en-US" sz="1950" dirty="0"/>
          </a:p>
        </p:txBody>
      </p:sp>
      <p:sp>
        <p:nvSpPr>
          <p:cNvPr id="14" name="Text 11"/>
          <p:cNvSpPr/>
          <p:nvPr/>
        </p:nvSpPr>
        <p:spPr>
          <a:xfrm>
            <a:off x="1209675" y="4446984"/>
            <a:ext cx="5245708"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8969E3"/>
                </a:solidFill>
                <a:latin typeface="Arial" pitchFamily="34" charset="0"/>
                <a:ea typeface="Arial" pitchFamily="34" charset="-122"/>
                <a:cs typeface="Arial" pitchFamily="34" charset="-120"/>
              </a:rPr>
              <a:t>소구 포인트</a:t>
            </a:r>
            <a:endParaRPr lang="en-US" sz="1800" dirty="0"/>
          </a:p>
        </p:txBody>
      </p:sp>
      <p:sp>
        <p:nvSpPr>
          <p:cNvPr id="15" name="Text 12"/>
          <p:cNvSpPr/>
          <p:nvPr/>
        </p:nvSpPr>
        <p:spPr>
          <a:xfrm>
            <a:off x="1209675" y="4837509"/>
            <a:ext cx="5245708" cy="389706"/>
          </a:xfrm>
          <a:prstGeom prst="rect">
            <a:avLst/>
          </a:prstGeom>
          <a:noFill/>
          <a:ln/>
        </p:spPr>
        <p:txBody>
          <a:bodyPr wrap="square" lIns="25400" tIns="25400" rIns="25400" bIns="25400" rtlCol="0" anchor="t">
            <a:normAutofit/>
          </a:bodyPr>
          <a:lstStyle/>
          <a:p>
            <a:pPr algn="l" indent="0" marL="0">
              <a:lnSpc>
                <a:spcPct val="142000"/>
              </a:lnSpc>
              <a:buNone/>
            </a:pPr>
            <a:r>
              <a:rPr lang="en-US" sz="1950" dirty="0">
                <a:solidFill>
                  <a:srgbClr val="585858"/>
                </a:solidFill>
                <a:latin typeface="Arial" pitchFamily="34" charset="0"/>
                <a:ea typeface="Arial" pitchFamily="34" charset="-122"/>
                <a:cs typeface="Arial" pitchFamily="34" charset="-120"/>
              </a:rPr>
              <a:t>아이 참여·성과가 학부모에게 보이는 효과</a:t>
            </a:r>
            <a:endParaRPr lang="en-US" sz="1950" dirty="0"/>
          </a:p>
        </p:txBody>
      </p:sp>
      <p:sp>
        <p:nvSpPr>
          <p:cNvPr id="16" name="Shape 13"/>
          <p:cNvSpPr/>
          <p:nvPr/>
        </p:nvSpPr>
        <p:spPr>
          <a:xfrm>
            <a:off x="1209675" y="7086600"/>
            <a:ext cx="4768825" cy="628650"/>
          </a:xfrm>
          <a:prstGeom prst="roundRect">
            <a:avLst>
              <a:gd name="adj" fmla="val 21212"/>
            </a:avLst>
          </a:prstGeom>
          <a:solidFill>
            <a:srgbClr val="9673F9"/>
          </a:solidFill>
          <a:ln/>
          <a:effectLst>
            <a:outerShdw sx="100000" sy="100000" kx="0" ky="0" algn="bl" rotWithShape="0" blurRad="209550" dist="95250" dir="5400000">
              <a:srgbClr val="9673F9">
                <a:alpha val="28000"/>
              </a:srgbClr>
            </a:outerShdw>
          </a:effectLst>
        </p:spPr>
      </p:sp>
      <p:sp>
        <p:nvSpPr>
          <p:cNvPr id="17" name="Text 14"/>
          <p:cNvSpPr/>
          <p:nvPr/>
        </p:nvSpPr>
        <p:spPr>
          <a:xfrm>
            <a:off x="1400175" y="7229475"/>
            <a:ext cx="1591516" cy="381000"/>
          </a:xfrm>
          <a:prstGeom prst="rect">
            <a:avLst/>
          </a:prstGeom>
          <a:noFill/>
          <a:ln/>
        </p:spPr>
        <p:txBody>
          <a:bodyPr wrap="square" lIns="25400" tIns="25400" rIns="25400" bIns="25400" rtlCol="0" anchor="t">
            <a:normAutofit/>
          </a:bodyPr>
          <a:lstStyle/>
          <a:p>
            <a:pPr algn="l" indent="0" marL="0">
              <a:buNone/>
            </a:pPr>
            <a:r>
              <a:rPr lang="en-US" sz="1875" b="1" dirty="0">
                <a:solidFill>
                  <a:srgbClr val="FFFFFF"/>
                </a:solidFill>
                <a:latin typeface="Arial" pitchFamily="34" charset="0"/>
                <a:ea typeface="Arial" pitchFamily="34" charset="-122"/>
                <a:cs typeface="Arial" pitchFamily="34" charset="-120"/>
              </a:rPr>
              <a:t>무료 데모 신청</a:t>
            </a:r>
            <a:endParaRPr lang="en-US" sz="1875" dirty="0"/>
          </a:p>
        </p:txBody>
      </p:sp>
      <p:pic>
        <p:nvPicPr>
          <p:cNvPr id="1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559400" y="7286625"/>
            <a:ext cx="228600" cy="228600"/>
          </a:xfrm>
          <a:prstGeom prst="rect">
            <a:avLst/>
          </a:prstGeom>
        </p:spPr>
      </p:pic>
      <p:sp>
        <p:nvSpPr>
          <p:cNvPr id="19" name="Shape 15"/>
          <p:cNvSpPr/>
          <p:nvPr/>
        </p:nvSpPr>
        <p:spPr>
          <a:xfrm>
            <a:off x="6502375" y="2361009"/>
            <a:ext cx="5283175" cy="5592366"/>
          </a:xfrm>
          <a:prstGeom prst="roundRect">
            <a:avLst>
              <a:gd name="adj" fmla="val 3966"/>
            </a:avLst>
          </a:prstGeom>
          <a:solidFill>
            <a:srgbClr val="FFFFFF"/>
          </a:solidFill>
          <a:ln w="9525">
            <a:solidFill>
              <a:srgbClr val="EEE8FB"/>
            </a:solidFill>
            <a:prstDash val="solid"/>
          </a:ln>
          <a:effectLst>
            <a:outerShdw sx="100000" sy="100000" kx="0" ky="0" algn="bl" rotWithShape="0" blurRad="304800" dist="133350" dir="5400000">
              <a:srgbClr val="6B52B1">
                <a:alpha val="9000"/>
              </a:srgbClr>
            </a:outerShdw>
          </a:effectLst>
        </p:spPr>
      </p:sp>
      <p:sp>
        <p:nvSpPr>
          <p:cNvPr id="20" name="Shape 16"/>
          <p:cNvSpPr/>
          <p:nvPr/>
        </p:nvSpPr>
        <p:spPr>
          <a:xfrm>
            <a:off x="6511900" y="2370534"/>
            <a:ext cx="5264125" cy="890588"/>
          </a:xfrm>
          <a:prstGeom prst="rect">
            <a:avLst/>
          </a:prstGeom>
          <a:solidFill>
            <a:srgbClr val="8969E3"/>
          </a:solidFill>
          <a:ln/>
        </p:spPr>
      </p:sp>
      <p:sp>
        <p:nvSpPr>
          <p:cNvPr id="21" name="Shape 17"/>
          <p:cNvSpPr/>
          <p:nvPr/>
        </p:nvSpPr>
        <p:spPr>
          <a:xfrm>
            <a:off x="6759550" y="2596753"/>
            <a:ext cx="438150" cy="438150"/>
          </a:xfrm>
          <a:prstGeom prst="roundRect">
            <a:avLst>
              <a:gd name="adj" fmla="val 26087"/>
            </a:avLst>
          </a:prstGeom>
          <a:solidFill>
            <a:srgbClr val="FFFFFF">
              <a:alpha val="20000"/>
            </a:srgbClr>
          </a:solidFill>
          <a:ln/>
        </p:spPr>
      </p:sp>
      <p:pic>
        <p:nvPicPr>
          <p:cNvPr id="22"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864325" y="2701528"/>
            <a:ext cx="228600" cy="228600"/>
          </a:xfrm>
          <a:prstGeom prst="rect">
            <a:avLst/>
          </a:prstGeom>
        </p:spPr>
      </p:pic>
      <p:sp>
        <p:nvSpPr>
          <p:cNvPr id="23" name="Text 18"/>
          <p:cNvSpPr/>
          <p:nvPr/>
        </p:nvSpPr>
        <p:spPr>
          <a:xfrm>
            <a:off x="7331050" y="2580084"/>
            <a:ext cx="672108" cy="509587"/>
          </a:xfrm>
          <a:prstGeom prst="rect">
            <a:avLst/>
          </a:prstGeom>
          <a:noFill/>
          <a:ln/>
        </p:spPr>
        <p:txBody>
          <a:bodyPr wrap="square" lIns="25400" tIns="25400" rIns="25400" bIns="25400" rtlCol="0" anchor="t">
            <a:normAutofit/>
          </a:bodyPr>
          <a:lstStyle/>
          <a:p>
            <a:pPr algn="l" indent="0" marL="0">
              <a:buNone/>
            </a:pPr>
            <a:r>
              <a:rPr lang="en-US" sz="2550" b="1" dirty="0">
                <a:solidFill>
                  <a:srgbClr val="FFFFFF"/>
                </a:solidFill>
                <a:latin typeface="Arial" pitchFamily="34" charset="0"/>
                <a:ea typeface="Arial" pitchFamily="34" charset="-122"/>
                <a:cs typeface="Arial" pitchFamily="34" charset="-120"/>
              </a:rPr>
              <a:t>팀장</a:t>
            </a:r>
            <a:endParaRPr lang="en-US" sz="2550" dirty="0"/>
          </a:p>
        </p:txBody>
      </p:sp>
      <p:sp>
        <p:nvSpPr>
          <p:cNvPr id="24" name="Text 19"/>
          <p:cNvSpPr/>
          <p:nvPr/>
        </p:nvSpPr>
        <p:spPr>
          <a:xfrm>
            <a:off x="6759550" y="3508772"/>
            <a:ext cx="5245708"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8969E3"/>
                </a:solidFill>
                <a:latin typeface="Arial" pitchFamily="34" charset="0"/>
                <a:ea typeface="Arial" pitchFamily="34" charset="-122"/>
                <a:cs typeface="Arial" pitchFamily="34" charset="-120"/>
              </a:rPr>
              <a:t>관심</a:t>
            </a:r>
            <a:endParaRPr lang="en-US" sz="1800" dirty="0"/>
          </a:p>
        </p:txBody>
      </p:sp>
      <p:sp>
        <p:nvSpPr>
          <p:cNvPr id="25" name="Text 20"/>
          <p:cNvSpPr/>
          <p:nvPr/>
        </p:nvSpPr>
        <p:spPr>
          <a:xfrm>
            <a:off x="6759550" y="3899297"/>
            <a:ext cx="5245708" cy="395288"/>
          </a:xfrm>
          <a:prstGeom prst="rect">
            <a:avLst/>
          </a:prstGeom>
          <a:noFill/>
          <a:ln/>
        </p:spPr>
        <p:txBody>
          <a:bodyPr wrap="square" lIns="25400" tIns="25400" rIns="25400" bIns="25400" rtlCol="0" anchor="t">
            <a:normAutofit/>
          </a:bodyPr>
          <a:lstStyle/>
          <a:p>
            <a:pPr algn="l" indent="0" marL="0">
              <a:buNone/>
            </a:pPr>
            <a:r>
              <a:rPr lang="en-US" sz="1950" b="1" dirty="0">
                <a:solidFill>
                  <a:srgbClr val="131313"/>
                </a:solidFill>
                <a:latin typeface="Arial" pitchFamily="34" charset="0"/>
                <a:ea typeface="Arial" pitchFamily="34" charset="-122"/>
                <a:cs typeface="Arial" pitchFamily="34" charset="-120"/>
              </a:rPr>
              <a:t>도입 난이도</a:t>
            </a:r>
            <a:endParaRPr lang="en-US" sz="1950" dirty="0"/>
          </a:p>
        </p:txBody>
      </p:sp>
      <p:sp>
        <p:nvSpPr>
          <p:cNvPr id="26" name="Text 21"/>
          <p:cNvSpPr/>
          <p:nvPr/>
        </p:nvSpPr>
        <p:spPr>
          <a:xfrm>
            <a:off x="6759550" y="4446984"/>
            <a:ext cx="5245708"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8969E3"/>
                </a:solidFill>
                <a:latin typeface="Arial" pitchFamily="34" charset="0"/>
                <a:ea typeface="Arial" pitchFamily="34" charset="-122"/>
                <a:cs typeface="Arial" pitchFamily="34" charset="-120"/>
              </a:rPr>
              <a:t>소구 포인트</a:t>
            </a:r>
            <a:endParaRPr lang="en-US" sz="1800" dirty="0"/>
          </a:p>
        </p:txBody>
      </p:sp>
      <p:sp>
        <p:nvSpPr>
          <p:cNvPr id="27" name="Text 22"/>
          <p:cNvSpPr/>
          <p:nvPr/>
        </p:nvSpPr>
        <p:spPr>
          <a:xfrm>
            <a:off x="6759550" y="4837509"/>
            <a:ext cx="5245708" cy="389706"/>
          </a:xfrm>
          <a:prstGeom prst="rect">
            <a:avLst/>
          </a:prstGeom>
          <a:noFill/>
          <a:ln/>
        </p:spPr>
        <p:txBody>
          <a:bodyPr wrap="square" lIns="25400" tIns="25400" rIns="25400" bIns="25400" rtlCol="0" anchor="t">
            <a:normAutofit/>
          </a:bodyPr>
          <a:lstStyle/>
          <a:p>
            <a:pPr algn="l" indent="0" marL="0">
              <a:lnSpc>
                <a:spcPct val="142000"/>
              </a:lnSpc>
              <a:buNone/>
            </a:pPr>
            <a:r>
              <a:rPr lang="en-US" sz="1950" dirty="0">
                <a:solidFill>
                  <a:srgbClr val="585858"/>
                </a:solidFill>
                <a:latin typeface="Arial" pitchFamily="34" charset="0"/>
                <a:ea typeface="Arial" pitchFamily="34" charset="-122"/>
                <a:cs typeface="Arial" pitchFamily="34" charset="-120"/>
              </a:rPr>
              <a:t>접수·결제·심사·결과발표 자동화로 운영 공수 절감</a:t>
            </a:r>
            <a:endParaRPr lang="en-US" sz="1950" dirty="0"/>
          </a:p>
        </p:txBody>
      </p:sp>
      <p:sp>
        <p:nvSpPr>
          <p:cNvPr id="28" name="Shape 23"/>
          <p:cNvSpPr/>
          <p:nvPr/>
        </p:nvSpPr>
        <p:spPr>
          <a:xfrm>
            <a:off x="6759550" y="7086600"/>
            <a:ext cx="4768825" cy="628650"/>
          </a:xfrm>
          <a:prstGeom prst="roundRect">
            <a:avLst>
              <a:gd name="adj" fmla="val 21212"/>
            </a:avLst>
          </a:prstGeom>
          <a:solidFill>
            <a:srgbClr val="9673F9"/>
          </a:solidFill>
          <a:ln/>
          <a:effectLst>
            <a:outerShdw sx="100000" sy="100000" kx="0" ky="0" algn="bl" rotWithShape="0" blurRad="209550" dist="95250" dir="5400000">
              <a:srgbClr val="9673F9">
                <a:alpha val="28000"/>
              </a:srgbClr>
            </a:outerShdw>
          </a:effectLst>
        </p:spPr>
      </p:sp>
      <p:sp>
        <p:nvSpPr>
          <p:cNvPr id="29" name="Text 24"/>
          <p:cNvSpPr/>
          <p:nvPr/>
        </p:nvSpPr>
        <p:spPr>
          <a:xfrm>
            <a:off x="6950050" y="7229475"/>
            <a:ext cx="1591516" cy="381000"/>
          </a:xfrm>
          <a:prstGeom prst="rect">
            <a:avLst/>
          </a:prstGeom>
          <a:noFill/>
          <a:ln/>
        </p:spPr>
        <p:txBody>
          <a:bodyPr wrap="square" lIns="25400" tIns="25400" rIns="25400" bIns="25400" rtlCol="0" anchor="t">
            <a:normAutofit/>
          </a:bodyPr>
          <a:lstStyle/>
          <a:p>
            <a:pPr algn="l" indent="0" marL="0">
              <a:buNone/>
            </a:pPr>
            <a:r>
              <a:rPr lang="en-US" sz="1875" b="1" dirty="0">
                <a:solidFill>
                  <a:srgbClr val="FFFFFF"/>
                </a:solidFill>
                <a:latin typeface="Arial" pitchFamily="34" charset="0"/>
                <a:ea typeface="Arial" pitchFamily="34" charset="-122"/>
                <a:cs typeface="Arial" pitchFamily="34" charset="-120"/>
              </a:rPr>
              <a:t>기술 도입 미팅</a:t>
            </a:r>
            <a:endParaRPr lang="en-US" sz="1875" dirty="0"/>
          </a:p>
        </p:txBody>
      </p:sp>
      <p:pic>
        <p:nvPicPr>
          <p:cNvPr id="30"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109275" y="7286625"/>
            <a:ext cx="228600" cy="228600"/>
          </a:xfrm>
          <a:prstGeom prst="rect">
            <a:avLst/>
          </a:prstGeom>
        </p:spPr>
      </p:pic>
      <p:sp>
        <p:nvSpPr>
          <p:cNvPr id="31" name="Shape 25"/>
          <p:cNvSpPr/>
          <p:nvPr/>
        </p:nvSpPr>
        <p:spPr>
          <a:xfrm>
            <a:off x="12052250" y="2361009"/>
            <a:ext cx="5283250" cy="5592366"/>
          </a:xfrm>
          <a:prstGeom prst="roundRect">
            <a:avLst>
              <a:gd name="adj" fmla="val 3966"/>
            </a:avLst>
          </a:prstGeom>
          <a:solidFill>
            <a:srgbClr val="FFFFFF"/>
          </a:solidFill>
          <a:ln w="9525">
            <a:solidFill>
              <a:srgbClr val="EEE8FB"/>
            </a:solidFill>
            <a:prstDash val="solid"/>
          </a:ln>
          <a:effectLst>
            <a:outerShdw sx="100000" sy="100000" kx="0" ky="0" algn="bl" rotWithShape="0" blurRad="304800" dist="133350" dir="5400000">
              <a:srgbClr val="6B52B1">
                <a:alpha val="9000"/>
              </a:srgbClr>
            </a:outerShdw>
          </a:effectLst>
        </p:spPr>
      </p:sp>
      <p:sp>
        <p:nvSpPr>
          <p:cNvPr id="32" name="Shape 26"/>
          <p:cNvSpPr/>
          <p:nvPr/>
        </p:nvSpPr>
        <p:spPr>
          <a:xfrm>
            <a:off x="12061775" y="2370534"/>
            <a:ext cx="5264200" cy="890588"/>
          </a:xfrm>
          <a:prstGeom prst="rect">
            <a:avLst/>
          </a:prstGeom>
          <a:solidFill>
            <a:srgbClr val="6B52B1"/>
          </a:solidFill>
          <a:ln/>
        </p:spPr>
      </p:sp>
      <p:sp>
        <p:nvSpPr>
          <p:cNvPr id="33" name="Shape 27"/>
          <p:cNvSpPr/>
          <p:nvPr/>
        </p:nvSpPr>
        <p:spPr>
          <a:xfrm>
            <a:off x="12309425" y="2596753"/>
            <a:ext cx="438150" cy="438150"/>
          </a:xfrm>
          <a:prstGeom prst="roundRect">
            <a:avLst>
              <a:gd name="adj" fmla="val 26087"/>
            </a:avLst>
          </a:prstGeom>
          <a:solidFill>
            <a:srgbClr val="FFFFFF">
              <a:alpha val="20000"/>
            </a:srgbClr>
          </a:solidFill>
          <a:ln/>
        </p:spPr>
      </p:sp>
      <p:pic>
        <p:nvPicPr>
          <p:cNvPr id="34"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2414200" y="2701528"/>
            <a:ext cx="228600" cy="228600"/>
          </a:xfrm>
          <a:prstGeom prst="rect">
            <a:avLst/>
          </a:prstGeom>
        </p:spPr>
      </p:pic>
      <p:sp>
        <p:nvSpPr>
          <p:cNvPr id="35" name="Text 28"/>
          <p:cNvSpPr/>
          <p:nvPr/>
        </p:nvSpPr>
        <p:spPr>
          <a:xfrm>
            <a:off x="12880925" y="2580084"/>
            <a:ext cx="1268016" cy="509587"/>
          </a:xfrm>
          <a:prstGeom prst="rect">
            <a:avLst/>
          </a:prstGeom>
          <a:noFill/>
          <a:ln/>
        </p:spPr>
        <p:txBody>
          <a:bodyPr wrap="square" lIns="25400" tIns="25400" rIns="25400" bIns="25400" rtlCol="0" anchor="t">
            <a:normAutofit/>
          </a:bodyPr>
          <a:lstStyle/>
          <a:p>
            <a:pPr algn="l" indent="0" marL="0">
              <a:buNone/>
            </a:pPr>
            <a:r>
              <a:rPr lang="en-US" sz="2550" b="1" dirty="0">
                <a:solidFill>
                  <a:srgbClr val="FFFFFF"/>
                </a:solidFill>
                <a:latin typeface="Arial" pitchFamily="34" charset="0"/>
                <a:ea typeface="Arial" pitchFamily="34" charset="-122"/>
                <a:cs typeface="Arial" pitchFamily="34" charset="-120"/>
              </a:rPr>
              <a:t>사업개발</a:t>
            </a:r>
            <a:endParaRPr lang="en-US" sz="2550" dirty="0"/>
          </a:p>
        </p:txBody>
      </p:sp>
      <p:sp>
        <p:nvSpPr>
          <p:cNvPr id="36" name="Text 29"/>
          <p:cNvSpPr/>
          <p:nvPr/>
        </p:nvSpPr>
        <p:spPr>
          <a:xfrm>
            <a:off x="12309425" y="3508772"/>
            <a:ext cx="5245790"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8969E3"/>
                </a:solidFill>
                <a:latin typeface="Arial" pitchFamily="34" charset="0"/>
                <a:ea typeface="Arial" pitchFamily="34" charset="-122"/>
                <a:cs typeface="Arial" pitchFamily="34" charset="-120"/>
              </a:rPr>
              <a:t>관심</a:t>
            </a:r>
            <a:endParaRPr lang="en-US" sz="1800" dirty="0"/>
          </a:p>
        </p:txBody>
      </p:sp>
      <p:sp>
        <p:nvSpPr>
          <p:cNvPr id="37" name="Text 30"/>
          <p:cNvSpPr/>
          <p:nvPr/>
        </p:nvSpPr>
        <p:spPr>
          <a:xfrm>
            <a:off x="12309425" y="3899297"/>
            <a:ext cx="5245790" cy="395288"/>
          </a:xfrm>
          <a:prstGeom prst="rect">
            <a:avLst/>
          </a:prstGeom>
          <a:noFill/>
          <a:ln/>
        </p:spPr>
        <p:txBody>
          <a:bodyPr wrap="square" lIns="25400" tIns="25400" rIns="25400" bIns="25400" rtlCol="0" anchor="t">
            <a:normAutofit/>
          </a:bodyPr>
          <a:lstStyle/>
          <a:p>
            <a:pPr algn="l" indent="0" marL="0">
              <a:buNone/>
            </a:pPr>
            <a:r>
              <a:rPr lang="en-US" sz="1950" b="1" dirty="0">
                <a:solidFill>
                  <a:srgbClr val="131313"/>
                </a:solidFill>
                <a:latin typeface="Arial" pitchFamily="34" charset="0"/>
                <a:ea typeface="Arial" pitchFamily="34" charset="-122"/>
                <a:cs typeface="Arial" pitchFamily="34" charset="-120"/>
              </a:rPr>
              <a:t>수익 모델</a:t>
            </a:r>
            <a:endParaRPr lang="en-US" sz="1950" dirty="0"/>
          </a:p>
        </p:txBody>
      </p:sp>
      <p:sp>
        <p:nvSpPr>
          <p:cNvPr id="38" name="Text 31"/>
          <p:cNvSpPr/>
          <p:nvPr/>
        </p:nvSpPr>
        <p:spPr>
          <a:xfrm>
            <a:off x="12309425" y="4446984"/>
            <a:ext cx="5245790"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8969E3"/>
                </a:solidFill>
                <a:latin typeface="Arial" pitchFamily="34" charset="0"/>
                <a:ea typeface="Arial" pitchFamily="34" charset="-122"/>
                <a:cs typeface="Arial" pitchFamily="34" charset="-120"/>
              </a:rPr>
              <a:t>소구 포인트</a:t>
            </a:r>
            <a:endParaRPr lang="en-US" sz="1800" dirty="0"/>
          </a:p>
        </p:txBody>
      </p:sp>
      <p:sp>
        <p:nvSpPr>
          <p:cNvPr id="39" name="Text 32"/>
          <p:cNvSpPr/>
          <p:nvPr/>
        </p:nvSpPr>
        <p:spPr>
          <a:xfrm>
            <a:off x="12309425" y="4837509"/>
            <a:ext cx="5245790" cy="389706"/>
          </a:xfrm>
          <a:prstGeom prst="rect">
            <a:avLst/>
          </a:prstGeom>
          <a:noFill/>
          <a:ln/>
        </p:spPr>
        <p:txBody>
          <a:bodyPr wrap="square" lIns="25400" tIns="25400" rIns="25400" bIns="25400" rtlCol="0" anchor="t">
            <a:normAutofit/>
          </a:bodyPr>
          <a:lstStyle/>
          <a:p>
            <a:pPr algn="l" indent="0" marL="0">
              <a:lnSpc>
                <a:spcPct val="142000"/>
              </a:lnSpc>
              <a:buNone/>
            </a:pPr>
            <a:r>
              <a:rPr lang="en-US" sz="1950" dirty="0">
                <a:solidFill>
                  <a:srgbClr val="585858"/>
                </a:solidFill>
                <a:latin typeface="Arial" pitchFamily="34" charset="0"/>
                <a:ea typeface="Arial" pitchFamily="34" charset="-122"/>
                <a:cs typeface="Arial" pitchFamily="34" charset="-120"/>
              </a:rPr>
              <a:t>파트너십·수익화 구조</a:t>
            </a:r>
            <a:endParaRPr lang="en-US" sz="1950" dirty="0"/>
          </a:p>
        </p:txBody>
      </p:sp>
      <p:sp>
        <p:nvSpPr>
          <p:cNvPr id="40" name="Shape 33"/>
          <p:cNvSpPr/>
          <p:nvPr/>
        </p:nvSpPr>
        <p:spPr>
          <a:xfrm>
            <a:off x="12309425" y="7086600"/>
            <a:ext cx="4768900" cy="628650"/>
          </a:xfrm>
          <a:prstGeom prst="roundRect">
            <a:avLst>
              <a:gd name="adj" fmla="val 21212"/>
            </a:avLst>
          </a:prstGeom>
          <a:solidFill>
            <a:srgbClr val="9673F9"/>
          </a:solidFill>
          <a:ln/>
          <a:effectLst>
            <a:outerShdw sx="100000" sy="100000" kx="0" ky="0" algn="bl" rotWithShape="0" blurRad="209550" dist="95250" dir="5400000">
              <a:srgbClr val="9673F9">
                <a:alpha val="28000"/>
              </a:srgbClr>
            </a:outerShdw>
          </a:effectLst>
        </p:spPr>
      </p:sp>
      <p:sp>
        <p:nvSpPr>
          <p:cNvPr id="41" name="Text 34"/>
          <p:cNvSpPr/>
          <p:nvPr/>
        </p:nvSpPr>
        <p:spPr>
          <a:xfrm>
            <a:off x="12499925" y="7229475"/>
            <a:ext cx="2314463" cy="381000"/>
          </a:xfrm>
          <a:prstGeom prst="rect">
            <a:avLst/>
          </a:prstGeom>
          <a:noFill/>
          <a:ln/>
        </p:spPr>
        <p:txBody>
          <a:bodyPr wrap="square" lIns="25400" tIns="25400" rIns="25400" bIns="25400" rtlCol="0" anchor="t">
            <a:normAutofit/>
          </a:bodyPr>
          <a:lstStyle/>
          <a:p>
            <a:pPr algn="l" indent="0" marL="0">
              <a:buNone/>
            </a:pPr>
            <a:r>
              <a:rPr lang="en-US" sz="1875" b="1" dirty="0">
                <a:solidFill>
                  <a:srgbClr val="FFFFFF"/>
                </a:solidFill>
                <a:latin typeface="Arial" pitchFamily="34" charset="0"/>
                <a:ea typeface="Arial" pitchFamily="34" charset="-122"/>
                <a:cs typeface="Arial" pitchFamily="34" charset="-120"/>
              </a:rPr>
              <a:t>파트너십 제안서 송부</a:t>
            </a:r>
            <a:endParaRPr lang="en-US" sz="1875" dirty="0"/>
          </a:p>
        </p:txBody>
      </p:sp>
      <p:pic>
        <p:nvPicPr>
          <p:cNvPr id="42"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6659225" y="7286625"/>
            <a:ext cx="228600" cy="228600"/>
          </a:xfrm>
          <a:prstGeom prst="rect">
            <a:avLst/>
          </a:prstGeom>
        </p:spPr>
      </p:pic>
      <p:sp>
        <p:nvSpPr>
          <p:cNvPr id="43" name="Shape 35"/>
          <p:cNvSpPr/>
          <p:nvPr/>
        </p:nvSpPr>
        <p:spPr>
          <a:xfrm>
            <a:off x="952500" y="8220075"/>
            <a:ext cx="16383000" cy="904875"/>
          </a:xfrm>
          <a:prstGeom prst="roundRect">
            <a:avLst>
              <a:gd name="adj" fmla="val 18947"/>
            </a:avLst>
          </a:prstGeom>
          <a:solidFill>
            <a:srgbClr val="F5F1FE"/>
          </a:solidFill>
          <a:ln w="9525">
            <a:solidFill>
              <a:srgbClr val="E7DFFB"/>
            </a:solidFill>
            <a:prstDash val="solid"/>
          </a:ln>
        </p:spPr>
      </p:sp>
      <p:sp>
        <p:nvSpPr>
          <p:cNvPr id="44" name="Shape 36"/>
          <p:cNvSpPr/>
          <p:nvPr/>
        </p:nvSpPr>
        <p:spPr>
          <a:xfrm>
            <a:off x="1247775" y="8420100"/>
            <a:ext cx="1355750" cy="504825"/>
          </a:xfrm>
          <a:prstGeom prst="roundRect">
            <a:avLst>
              <a:gd name="adj" fmla="val 50000"/>
            </a:avLst>
          </a:prstGeom>
          <a:solidFill>
            <a:srgbClr val="6B52B1"/>
          </a:solidFill>
          <a:ln/>
        </p:spPr>
      </p:sp>
      <p:sp>
        <p:nvSpPr>
          <p:cNvPr id="45" name="Text 37"/>
          <p:cNvSpPr/>
          <p:nvPr/>
        </p:nvSpPr>
        <p:spPr>
          <a:xfrm>
            <a:off x="1409700" y="8505825"/>
            <a:ext cx="1108100"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FFFFFF"/>
                </a:solidFill>
                <a:latin typeface="Arial" pitchFamily="34" charset="0"/>
                <a:ea typeface="Arial" pitchFamily="34" charset="-122"/>
                <a:cs typeface="Arial" pitchFamily="34" charset="-120"/>
              </a:rPr>
              <a:t>본문 4요소</a:t>
            </a:r>
            <a:endParaRPr lang="en-US" sz="1800" dirty="0"/>
          </a:p>
        </p:txBody>
      </p:sp>
      <p:sp>
        <p:nvSpPr>
          <p:cNvPr id="46" name="Text 38"/>
          <p:cNvSpPr/>
          <p:nvPr/>
        </p:nvSpPr>
        <p:spPr>
          <a:xfrm>
            <a:off x="2774975" y="8529638"/>
            <a:ext cx="955923" cy="323850"/>
          </a:xfrm>
          <a:prstGeom prst="rect">
            <a:avLst/>
          </a:prstGeom>
          <a:noFill/>
          <a:ln/>
        </p:spPr>
        <p:txBody>
          <a:bodyPr wrap="square" lIns="25400" tIns="25400" rIns="25400" bIns="25400" rtlCol="0" anchor="t">
            <a:normAutofit/>
          </a:bodyPr>
          <a:lstStyle/>
          <a:p>
            <a:pPr algn="l" indent="0" marL="0">
              <a:buNone/>
            </a:pPr>
            <a:r>
              <a:rPr lang="en-US" sz="1875" b="1" dirty="0">
                <a:solidFill>
                  <a:srgbClr val="131313"/>
                </a:solidFill>
                <a:latin typeface="Arial" pitchFamily="34" charset="0"/>
                <a:ea typeface="Arial" pitchFamily="34" charset="-122"/>
                <a:cs typeface="Arial" pitchFamily="34" charset="-120"/>
              </a:rPr>
              <a:t>맞춤 인사</a:t>
            </a:r>
            <a:endParaRPr lang="en-US" sz="1875" dirty="0"/>
          </a:p>
        </p:txBody>
      </p:sp>
      <p:pic>
        <p:nvPicPr>
          <p:cNvPr id="47"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3768998" y="8577263"/>
            <a:ext cx="190500" cy="190500"/>
          </a:xfrm>
          <a:prstGeom prst="rect">
            <a:avLst/>
          </a:prstGeom>
        </p:spPr>
      </p:pic>
      <p:sp>
        <p:nvSpPr>
          <p:cNvPr id="48" name="Text 39"/>
          <p:cNvSpPr/>
          <p:nvPr/>
        </p:nvSpPr>
        <p:spPr>
          <a:xfrm>
            <a:off x="4073798" y="8529638"/>
            <a:ext cx="1482648" cy="323850"/>
          </a:xfrm>
          <a:prstGeom prst="rect">
            <a:avLst/>
          </a:prstGeom>
          <a:noFill/>
          <a:ln/>
        </p:spPr>
        <p:txBody>
          <a:bodyPr wrap="square" lIns="25400" tIns="25400" rIns="25400" bIns="25400" rtlCol="0" anchor="t">
            <a:normAutofit/>
          </a:bodyPr>
          <a:lstStyle/>
          <a:p>
            <a:pPr algn="l" indent="0" marL="0">
              <a:buNone/>
            </a:pPr>
            <a:r>
              <a:rPr lang="en-US" sz="1875" b="1" dirty="0">
                <a:solidFill>
                  <a:srgbClr val="131313"/>
                </a:solidFill>
                <a:latin typeface="Arial" pitchFamily="34" charset="0"/>
                <a:ea typeface="Arial" pitchFamily="34" charset="-122"/>
                <a:cs typeface="Arial" pitchFamily="34" charset="-120"/>
              </a:rPr>
              <a:t>부스 상담 언급</a:t>
            </a:r>
            <a:endParaRPr lang="en-US" sz="1875" dirty="0"/>
          </a:p>
        </p:txBody>
      </p:sp>
      <p:pic>
        <p:nvPicPr>
          <p:cNvPr id="49" name="Image 7" descr="preencoded.png">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5535960" y="8577263"/>
            <a:ext cx="190500" cy="190500"/>
          </a:xfrm>
          <a:prstGeom prst="rect">
            <a:avLst/>
          </a:prstGeom>
        </p:spPr>
      </p:pic>
      <p:sp>
        <p:nvSpPr>
          <p:cNvPr id="50" name="Text 40"/>
          <p:cNvSpPr/>
          <p:nvPr/>
        </p:nvSpPr>
        <p:spPr>
          <a:xfrm>
            <a:off x="5840760" y="8529638"/>
            <a:ext cx="2681340" cy="323850"/>
          </a:xfrm>
          <a:prstGeom prst="rect">
            <a:avLst/>
          </a:prstGeom>
          <a:noFill/>
          <a:ln/>
        </p:spPr>
        <p:txBody>
          <a:bodyPr wrap="square" lIns="25400" tIns="25400" rIns="25400" bIns="25400" rtlCol="0" anchor="t">
            <a:normAutofit/>
          </a:bodyPr>
          <a:lstStyle/>
          <a:p>
            <a:pPr algn="l" indent="0" marL="0">
              <a:buNone/>
            </a:pPr>
            <a:r>
              <a:rPr lang="en-US" sz="1875" b="1" dirty="0">
                <a:solidFill>
                  <a:srgbClr val="131313"/>
                </a:solidFill>
                <a:latin typeface="Arial" pitchFamily="34" charset="0"/>
                <a:ea typeface="Arial" pitchFamily="34" charset="-122"/>
                <a:cs typeface="Arial" pitchFamily="34" charset="-120"/>
              </a:rPr>
              <a:t>직책 소구점 + 키즐콘 기능</a:t>
            </a:r>
            <a:endParaRPr lang="en-US" sz="1875" dirty="0"/>
          </a:p>
        </p:txBody>
      </p:sp>
      <p:pic>
        <p:nvPicPr>
          <p:cNvPr id="51" name="Image 8" descr="preencoded.png">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8392641" y="8577263"/>
            <a:ext cx="190500" cy="190500"/>
          </a:xfrm>
          <a:prstGeom prst="rect">
            <a:avLst/>
          </a:prstGeom>
        </p:spPr>
      </p:pic>
      <p:sp>
        <p:nvSpPr>
          <p:cNvPr id="52" name="Text 41"/>
          <p:cNvSpPr/>
          <p:nvPr/>
        </p:nvSpPr>
        <p:spPr>
          <a:xfrm>
            <a:off x="8697441" y="8501063"/>
            <a:ext cx="1745159" cy="381000"/>
          </a:xfrm>
          <a:prstGeom prst="rect">
            <a:avLst/>
          </a:prstGeom>
          <a:noFill/>
          <a:ln/>
        </p:spPr>
        <p:txBody>
          <a:bodyPr wrap="square" lIns="25400" tIns="25400" rIns="25400" bIns="25400" rtlCol="0" anchor="t">
            <a:normAutofit/>
          </a:bodyPr>
          <a:lstStyle/>
          <a:p>
            <a:pPr algn="l" indent="0" marL="0">
              <a:buNone/>
            </a:pPr>
            <a:r>
              <a:rPr lang="en-US" sz="1875" b="1" dirty="0">
                <a:solidFill>
                  <a:srgbClr val="6B52B1"/>
                </a:solidFill>
                <a:latin typeface="Arial" pitchFamily="34" charset="0"/>
                <a:ea typeface="Arial" pitchFamily="34" charset="-122"/>
                <a:cs typeface="Arial" pitchFamily="34" charset="-120"/>
              </a:rPr>
              <a:t>명확한 CTA 1개</a:t>
            </a:r>
            <a:endParaRPr lang="en-US" sz="1875" dirty="0"/>
          </a:p>
        </p:txBody>
      </p:sp>
      <p:sp>
        <p:nvSpPr>
          <p:cNvPr id="53" name="Shape 42"/>
          <p:cNvSpPr/>
          <p:nvPr/>
        </p:nvSpPr>
        <p:spPr>
          <a:xfrm>
            <a:off x="14915257" y="8420100"/>
            <a:ext cx="2124968" cy="504825"/>
          </a:xfrm>
          <a:prstGeom prst="roundRect">
            <a:avLst>
              <a:gd name="adj" fmla="val 50000"/>
            </a:avLst>
          </a:prstGeom>
          <a:solidFill>
            <a:srgbClr val="EDE7FE"/>
          </a:solidFill>
          <a:ln/>
        </p:spPr>
      </p:sp>
      <p:sp>
        <p:nvSpPr>
          <p:cNvPr id="54" name="Text 43"/>
          <p:cNvSpPr/>
          <p:nvPr/>
        </p:nvSpPr>
        <p:spPr>
          <a:xfrm>
            <a:off x="15077182" y="8505825"/>
            <a:ext cx="1877318" cy="371475"/>
          </a:xfrm>
          <a:prstGeom prst="rect">
            <a:avLst/>
          </a:prstGeom>
          <a:noFill/>
          <a:ln/>
        </p:spPr>
        <p:txBody>
          <a:bodyPr wrap="none" lIns="25400" tIns="25400" rIns="25400" bIns="25400" rtlCol="0" anchor="t">
            <a:normAutofit/>
          </a:bodyPr>
          <a:lstStyle/>
          <a:p>
            <a:pPr algn="l" indent="0" marL="0">
              <a:buNone/>
            </a:pPr>
            <a:r>
              <a:rPr lang="en-US" sz="1800" b="1" dirty="0">
                <a:solidFill>
                  <a:srgbClr val="6B52B1"/>
                </a:solidFill>
                <a:latin typeface="Arial" pitchFamily="34" charset="0"/>
                <a:ea typeface="Arial" pitchFamily="34" charset="-122"/>
                <a:cs typeface="Arial" pitchFamily="34" charset="-120"/>
              </a:rPr>
              <a:t>한국어 250~400자</a:t>
            </a:r>
            <a:endParaRPr lang="en-US" sz="1800" dirty="0"/>
          </a:p>
        </p:txBody>
      </p:sp>
      <p:sp>
        <p:nvSpPr>
          <p:cNvPr id="55" name="Shape 44"/>
          <p:cNvSpPr/>
          <p:nvPr/>
        </p:nvSpPr>
        <p:spPr>
          <a:xfrm>
            <a:off x="952500" y="9334500"/>
            <a:ext cx="16383000" cy="9525"/>
          </a:xfrm>
          <a:prstGeom prst="rect">
            <a:avLst/>
          </a:prstGeom>
          <a:solidFill>
            <a:srgbClr val="ECECEC"/>
          </a:solidFill>
          <a:ln/>
        </p:spPr>
      </p:sp>
      <p:sp>
        <p:nvSpPr>
          <p:cNvPr id="56" name="Text 45"/>
          <p:cNvSpPr/>
          <p:nvPr/>
        </p:nvSpPr>
        <p:spPr>
          <a:xfrm>
            <a:off x="952500" y="9515475"/>
            <a:ext cx="2574764" cy="314325"/>
          </a:xfrm>
          <a:prstGeom prst="rect">
            <a:avLst/>
          </a:prstGeom>
          <a:noFill/>
          <a:ln/>
        </p:spPr>
        <p:txBody>
          <a:bodyPr wrap="square" lIns="25400" tIns="25400" rIns="25400" bIns="25400" rtlCol="0" anchor="t">
            <a:normAutofit/>
          </a:bodyPr>
          <a:lstStyle/>
          <a:p>
            <a:pPr algn="l" indent="0" marL="0">
              <a:buNone/>
            </a:pPr>
            <a:r>
              <a:rPr lang="en-US" sz="1800" dirty="0">
                <a:solidFill>
                  <a:srgbClr val="9D9D9D"/>
                </a:solidFill>
                <a:latin typeface="Arial" pitchFamily="34" charset="0"/>
                <a:ea typeface="Arial" pitchFamily="34" charset="-122"/>
                <a:cs typeface="Arial" pitchFamily="34" charset="-120"/>
              </a:rPr>
              <a:t>키즐링 후속 이메일 자동화</a:t>
            </a:r>
            <a:endParaRPr lang="en-US" sz="1800" dirty="0"/>
          </a:p>
        </p:txBody>
      </p:sp>
      <p:sp>
        <p:nvSpPr>
          <p:cNvPr id="57" name="Text 46"/>
          <p:cNvSpPr/>
          <p:nvPr/>
        </p:nvSpPr>
        <p:spPr>
          <a:xfrm>
            <a:off x="16607954" y="9515475"/>
            <a:ext cx="803746" cy="314325"/>
          </a:xfrm>
          <a:prstGeom prst="rect">
            <a:avLst/>
          </a:prstGeom>
          <a:noFill/>
          <a:ln/>
        </p:spPr>
        <p:txBody>
          <a:bodyPr wrap="square" lIns="25400" tIns="25400" rIns="25400" bIns="25400" rtlCol="0" anchor="t">
            <a:normAutofit/>
          </a:bodyPr>
          <a:lstStyle/>
          <a:p>
            <a:pPr algn="l" indent="0" marL="0">
              <a:buNone/>
            </a:pPr>
            <a:r>
              <a:rPr lang="en-US" sz="1800" b="1" dirty="0">
                <a:solidFill>
                  <a:srgbClr val="6B52B1"/>
                </a:solidFill>
                <a:latin typeface="Arial" pitchFamily="34" charset="0"/>
                <a:ea typeface="Arial" pitchFamily="34" charset="-122"/>
                <a:cs typeface="Arial" pitchFamily="34" charset="-120"/>
              </a:rPr>
              <a:t>04 </a:t>
            </a:r>
            <a:pPr algn="l" indent="0" marL="0">
              <a:buNone/>
            </a:pPr>
            <a:r>
              <a:rPr lang="en-US" sz="1800" dirty="0">
                <a:solidFill>
                  <a:srgbClr val="9D9D9D"/>
                </a:solidFill>
                <a:latin typeface="Arial" pitchFamily="34" charset="0"/>
                <a:ea typeface="Arial" pitchFamily="34" charset="-122"/>
                <a:cs typeface="Arial" pitchFamily="34" charset="-120"/>
              </a:rPr>
              <a:t>/ 08</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9673F9">
                  <a:alpha val="11000"/>
                </a:srgbClr>
              </a:gs>
              <a:gs pos="58000">
                <a:srgbClr val="9673F9">
                  <a:alpha val="0"/>
                </a:srgbClr>
              </a:gs>
            </a:gsLst>
            <a:path path="circle">
              <a:fillToRect l="50000" t="0" r="50000" b="100000"/>
            </a:path>
          </a:gradFill>
          <a:ln/>
        </p:spPr>
      </p:sp>
      <p:sp>
        <p:nvSpPr>
          <p:cNvPr id="3" name="Shape 1"/>
          <p:cNvSpPr/>
          <p:nvPr/>
        </p:nvSpPr>
        <p:spPr>
          <a:xfrm>
            <a:off x="952500" y="571500"/>
            <a:ext cx="1901651" cy="542925"/>
          </a:xfrm>
          <a:prstGeom prst="roundRect">
            <a:avLst>
              <a:gd name="adj" fmla="val 50000"/>
            </a:avLst>
          </a:prstGeom>
          <a:solidFill>
            <a:srgbClr val="DED4FD"/>
          </a:solidFill>
          <a:ln/>
        </p:spPr>
      </p:sp>
      <p:sp>
        <p:nvSpPr>
          <p:cNvPr id="4" name="Shape 2"/>
          <p:cNvSpPr/>
          <p:nvPr/>
        </p:nvSpPr>
        <p:spPr>
          <a:xfrm>
            <a:off x="1162050" y="795338"/>
            <a:ext cx="95250" cy="95250"/>
          </a:xfrm>
          <a:prstGeom prst="ellipse">
            <a:avLst/>
          </a:prstGeom>
          <a:solidFill>
            <a:srgbClr val="9673F9"/>
          </a:solidFill>
          <a:ln/>
        </p:spPr>
      </p:sp>
      <p:sp>
        <p:nvSpPr>
          <p:cNvPr id="5" name="Text 3"/>
          <p:cNvSpPr/>
          <p:nvPr/>
        </p:nvSpPr>
        <p:spPr>
          <a:xfrm>
            <a:off x="1371600" y="676275"/>
            <a:ext cx="1400302" cy="371475"/>
          </a:xfrm>
          <a:prstGeom prst="rect">
            <a:avLst/>
          </a:prstGeom>
          <a:noFill/>
          <a:ln/>
        </p:spPr>
        <p:txBody>
          <a:bodyPr wrap="square" lIns="25400" tIns="25400" rIns="25400" bIns="25400" rtlCol="0" anchor="t">
            <a:normAutofit/>
          </a:bodyPr>
          <a:lstStyle/>
          <a:p>
            <a:pPr algn="l" indent="0" marL="0">
              <a:buNone/>
            </a:pPr>
            <a:r>
              <a:rPr lang="en-US" sz="1800" b="1" spc="18" kern="0" dirty="0">
                <a:solidFill>
                  <a:srgbClr val="6B52B1"/>
                </a:solidFill>
                <a:latin typeface="Arial" pitchFamily="34" charset="0"/>
                <a:ea typeface="Arial" pitchFamily="34" charset="-122"/>
                <a:cs typeface="Arial" pitchFamily="34" charset="-120"/>
              </a:rPr>
              <a:t>핵심 · 캠페인</a:t>
            </a:r>
            <a:endParaRPr lang="en-US" sz="1800" dirty="0"/>
          </a:p>
        </p:txBody>
      </p:sp>
      <p:sp>
        <p:nvSpPr>
          <p:cNvPr id="6" name="Text 4"/>
          <p:cNvSpPr/>
          <p:nvPr/>
        </p:nvSpPr>
        <p:spPr>
          <a:xfrm>
            <a:off x="16017701" y="704850"/>
            <a:ext cx="1449578" cy="314325"/>
          </a:xfrm>
          <a:prstGeom prst="rect">
            <a:avLst/>
          </a:prstGeom>
          <a:noFill/>
          <a:ln/>
        </p:spPr>
        <p:txBody>
          <a:bodyPr wrap="square" lIns="25400" tIns="25400" rIns="25400" bIns="25400" rtlCol="0" anchor="t">
            <a:normAutofit/>
          </a:bodyPr>
          <a:lstStyle/>
          <a:p>
            <a:pPr algn="l" indent="0" marL="0">
              <a:buNone/>
            </a:pPr>
            <a:r>
              <a:rPr lang="en-US" sz="1800" b="1" dirty="0">
                <a:solidFill>
                  <a:srgbClr val="8969E3"/>
                </a:solidFill>
                <a:latin typeface="Arial" pitchFamily="34" charset="0"/>
                <a:ea typeface="Arial" pitchFamily="34" charset="-122"/>
                <a:cs typeface="Arial" pitchFamily="34" charset="-120"/>
              </a:rPr>
              <a:t>예시 · 캠페인 1</a:t>
            </a:r>
            <a:endParaRPr lang="en-US" sz="1800" dirty="0"/>
          </a:p>
        </p:txBody>
      </p:sp>
      <p:sp>
        <p:nvSpPr>
          <p:cNvPr id="7" name="Text 5"/>
          <p:cNvSpPr/>
          <p:nvPr/>
        </p:nvSpPr>
        <p:spPr>
          <a:xfrm>
            <a:off x="952500" y="1362075"/>
            <a:ext cx="18021300" cy="590104"/>
          </a:xfrm>
          <a:prstGeom prst="rect">
            <a:avLst/>
          </a:prstGeom>
          <a:noFill/>
          <a:ln/>
        </p:spPr>
        <p:txBody>
          <a:bodyPr wrap="square" lIns="25400" tIns="25400" rIns="25400" bIns="25400" rtlCol="0" anchor="t">
            <a:normAutofit/>
          </a:bodyPr>
          <a:lstStyle/>
          <a:p>
            <a:pPr algn="l" indent="0" marL="0">
              <a:lnSpc>
                <a:spcPct val="126000"/>
              </a:lnSpc>
              <a:buNone/>
            </a:pPr>
            <a:r>
              <a:rPr lang="en-US" sz="3450" b="1" spc="-69" kern="0" dirty="0">
                <a:solidFill>
                  <a:srgbClr val="585858"/>
                </a:solidFill>
                <a:latin typeface="Arial" pitchFamily="34" charset="0"/>
                <a:ea typeface="Arial" pitchFamily="34" charset="-122"/>
                <a:cs typeface="Arial" pitchFamily="34" charset="-120"/>
              </a:rPr>
              <a:t>세그먼트만 있는 기획안이 아니라, </a:t>
            </a:r>
            <a:pPr algn="l" indent="0" marL="0">
              <a:lnSpc>
                <a:spcPct val="126000"/>
              </a:lnSpc>
              <a:buNone/>
            </a:pPr>
            <a:r>
              <a:rPr lang="en-US" sz="3450" b="1" spc="-69" kern="0" dirty="0">
                <a:solidFill>
                  <a:srgbClr val="9673F9"/>
                </a:solidFill>
                <a:latin typeface="Arial" pitchFamily="34" charset="0"/>
                <a:ea typeface="Arial" pitchFamily="34" charset="-122"/>
                <a:cs typeface="Arial" pitchFamily="34" charset="-120"/>
              </a:rPr>
              <a:t>회의 없이 바로 착수하는 </a:t>
            </a:r>
            <a:pPr algn="l" indent="0" marL="0">
              <a:lnSpc>
                <a:spcPct val="126000"/>
              </a:lnSpc>
              <a:buNone/>
            </a:pPr>
            <a:r>
              <a:rPr lang="en-US" sz="3450" b="1" spc="-69" kern="0" dirty="0">
                <a:solidFill>
                  <a:srgbClr val="131313"/>
                </a:solidFill>
                <a:latin typeface="Arial" pitchFamily="34" charset="0"/>
                <a:ea typeface="Arial" pitchFamily="34" charset="-122"/>
                <a:cs typeface="Arial" pitchFamily="34" charset="-120"/>
              </a:rPr>
              <a:t>실행 문서</a:t>
            </a:r>
            <a:endParaRPr lang="en-US" sz="3450" dirty="0"/>
          </a:p>
        </p:txBody>
      </p:sp>
      <p:sp>
        <p:nvSpPr>
          <p:cNvPr id="8" name="Shape 6"/>
          <p:cNvSpPr/>
          <p:nvPr/>
        </p:nvSpPr>
        <p:spPr>
          <a:xfrm>
            <a:off x="952500" y="2142679"/>
            <a:ext cx="3967163" cy="995363"/>
          </a:xfrm>
          <a:prstGeom prst="roundRect">
            <a:avLst>
              <a:gd name="adj" fmla="val 13397"/>
            </a:avLst>
          </a:prstGeom>
          <a:solidFill>
            <a:srgbClr val="FFFFFF"/>
          </a:solidFill>
          <a:ln w="9525">
            <a:solidFill>
              <a:srgbClr val="EEE8FB"/>
            </a:solidFill>
            <a:prstDash val="solid"/>
          </a:ln>
          <a:effectLst>
            <a:outerShdw sx="100000" sy="100000" kx="0" ky="0" algn="bl" rotWithShape="0" blurRad="190500" dist="76200" dir="5400000">
              <a:srgbClr val="6B52B1">
                <a:alpha val="5000"/>
              </a:srgbClr>
            </a:outerShdw>
          </a:effectLst>
        </p:spPr>
      </p:sp>
      <p:sp>
        <p:nvSpPr>
          <p:cNvPr id="9" name="Shape 7"/>
          <p:cNvSpPr/>
          <p:nvPr/>
        </p:nvSpPr>
        <p:spPr>
          <a:xfrm>
            <a:off x="1133475" y="2430810"/>
            <a:ext cx="419100" cy="419100"/>
          </a:xfrm>
          <a:prstGeom prst="roundRect">
            <a:avLst>
              <a:gd name="adj" fmla="val 27273"/>
            </a:avLst>
          </a:prstGeom>
          <a:solidFill>
            <a:srgbClr val="EFE9FD"/>
          </a:solidFill>
          <a:ln/>
        </p:spPr>
      </p:sp>
      <p:pic>
        <p:nvPicPr>
          <p:cNvPr id="10"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228725" y="2526060"/>
            <a:ext cx="228600" cy="228600"/>
          </a:xfrm>
          <a:prstGeom prst="rect">
            <a:avLst/>
          </a:prstGeom>
        </p:spPr>
      </p:pic>
      <p:sp>
        <p:nvSpPr>
          <p:cNvPr id="11" name="Text 8"/>
          <p:cNvSpPr/>
          <p:nvPr/>
        </p:nvSpPr>
        <p:spPr>
          <a:xfrm>
            <a:off x="1685925" y="2285554"/>
            <a:ext cx="1056382"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8969E3"/>
                </a:solidFill>
                <a:latin typeface="Arial" pitchFamily="34" charset="0"/>
                <a:ea typeface="Arial" pitchFamily="34" charset="-122"/>
                <a:cs typeface="Arial" pitchFamily="34" charset="-120"/>
              </a:rPr>
              <a:t>누가</a:t>
            </a:r>
            <a:endParaRPr lang="en-US" sz="1800" dirty="0"/>
          </a:p>
        </p:txBody>
      </p:sp>
      <p:sp>
        <p:nvSpPr>
          <p:cNvPr id="12" name="Text 9"/>
          <p:cNvSpPr/>
          <p:nvPr/>
        </p:nvSpPr>
        <p:spPr>
          <a:xfrm>
            <a:off x="1685925" y="2637979"/>
            <a:ext cx="1056382" cy="395288"/>
          </a:xfrm>
          <a:prstGeom prst="rect">
            <a:avLst/>
          </a:prstGeom>
          <a:noFill/>
          <a:ln/>
        </p:spPr>
        <p:txBody>
          <a:bodyPr wrap="square" lIns="25400" tIns="25400" rIns="25400" bIns="25400" rtlCol="0" anchor="t">
            <a:normAutofit/>
          </a:bodyPr>
          <a:lstStyle/>
          <a:p>
            <a:pPr algn="l" indent="0" marL="0">
              <a:buNone/>
            </a:pPr>
            <a:r>
              <a:rPr lang="en-US" sz="1950" b="1" dirty="0">
                <a:solidFill>
                  <a:srgbClr val="131313"/>
                </a:solidFill>
                <a:latin typeface="Arial" pitchFamily="34" charset="0"/>
                <a:ea typeface="Arial" pitchFamily="34" charset="-122"/>
                <a:cs typeface="Arial" pitchFamily="34" charset="-120"/>
              </a:rPr>
              <a:t>담당 부서</a:t>
            </a:r>
            <a:endParaRPr lang="en-US" sz="1950" dirty="0"/>
          </a:p>
        </p:txBody>
      </p:sp>
      <p:sp>
        <p:nvSpPr>
          <p:cNvPr id="13" name="Shape 10"/>
          <p:cNvSpPr/>
          <p:nvPr/>
        </p:nvSpPr>
        <p:spPr>
          <a:xfrm>
            <a:off x="5091113" y="2142679"/>
            <a:ext cx="3967163" cy="995363"/>
          </a:xfrm>
          <a:prstGeom prst="roundRect">
            <a:avLst>
              <a:gd name="adj" fmla="val 13397"/>
            </a:avLst>
          </a:prstGeom>
          <a:solidFill>
            <a:srgbClr val="FFFFFF"/>
          </a:solidFill>
          <a:ln w="9525">
            <a:solidFill>
              <a:srgbClr val="EEE8FB"/>
            </a:solidFill>
            <a:prstDash val="solid"/>
          </a:ln>
          <a:effectLst>
            <a:outerShdw sx="100000" sy="100000" kx="0" ky="0" algn="bl" rotWithShape="0" blurRad="190500" dist="76200" dir="5400000">
              <a:srgbClr val="6B52B1">
                <a:alpha val="5000"/>
              </a:srgbClr>
            </a:outerShdw>
          </a:effectLst>
        </p:spPr>
      </p:sp>
      <p:sp>
        <p:nvSpPr>
          <p:cNvPr id="14" name="Shape 11"/>
          <p:cNvSpPr/>
          <p:nvPr/>
        </p:nvSpPr>
        <p:spPr>
          <a:xfrm>
            <a:off x="5272088" y="2430810"/>
            <a:ext cx="419100" cy="419100"/>
          </a:xfrm>
          <a:prstGeom prst="roundRect">
            <a:avLst>
              <a:gd name="adj" fmla="val 27273"/>
            </a:avLst>
          </a:prstGeom>
          <a:solidFill>
            <a:srgbClr val="EFE9FD"/>
          </a:solidFill>
          <a:ln/>
        </p:spPr>
      </p:sp>
      <p:pic>
        <p:nvPicPr>
          <p:cNvPr id="15"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367338" y="2526060"/>
            <a:ext cx="228600" cy="228600"/>
          </a:xfrm>
          <a:prstGeom prst="rect">
            <a:avLst/>
          </a:prstGeom>
        </p:spPr>
      </p:pic>
      <p:sp>
        <p:nvSpPr>
          <p:cNvPr id="16" name="Text 12"/>
          <p:cNvSpPr/>
          <p:nvPr/>
        </p:nvSpPr>
        <p:spPr>
          <a:xfrm>
            <a:off x="5824538" y="2321272"/>
            <a:ext cx="1801884"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8969E3"/>
                </a:solidFill>
                <a:latin typeface="Arial" pitchFamily="34" charset="0"/>
                <a:ea typeface="Arial" pitchFamily="34" charset="-122"/>
                <a:cs typeface="Arial" pitchFamily="34" charset="-120"/>
              </a:rPr>
              <a:t>언제까지</a:t>
            </a:r>
            <a:endParaRPr lang="en-US" sz="1800" dirty="0"/>
          </a:p>
        </p:txBody>
      </p:sp>
      <p:sp>
        <p:nvSpPr>
          <p:cNvPr id="17" name="Text 13"/>
          <p:cNvSpPr/>
          <p:nvPr/>
        </p:nvSpPr>
        <p:spPr>
          <a:xfrm>
            <a:off x="5824538" y="2673697"/>
            <a:ext cx="1801884" cy="323850"/>
          </a:xfrm>
          <a:prstGeom prst="rect">
            <a:avLst/>
          </a:prstGeom>
          <a:noFill/>
          <a:ln/>
        </p:spPr>
        <p:txBody>
          <a:bodyPr wrap="square" lIns="25400" tIns="25400" rIns="25400" bIns="25400" rtlCol="0" anchor="t">
            <a:normAutofit/>
          </a:bodyPr>
          <a:lstStyle/>
          <a:p>
            <a:pPr algn="l" indent="0" marL="0">
              <a:buNone/>
            </a:pPr>
            <a:r>
              <a:rPr lang="en-US" sz="1950" b="1" dirty="0">
                <a:solidFill>
                  <a:srgbClr val="131313"/>
                </a:solidFill>
                <a:latin typeface="Arial" pitchFamily="34" charset="0"/>
                <a:ea typeface="Arial" pitchFamily="34" charset="-122"/>
                <a:cs typeface="Arial" pitchFamily="34" charset="-120"/>
              </a:rPr>
              <a:t>Day 0 · 2–3 · 7</a:t>
            </a:r>
            <a:endParaRPr lang="en-US" sz="1950" dirty="0"/>
          </a:p>
        </p:txBody>
      </p:sp>
      <p:sp>
        <p:nvSpPr>
          <p:cNvPr id="18" name="Shape 14"/>
          <p:cNvSpPr/>
          <p:nvPr/>
        </p:nvSpPr>
        <p:spPr>
          <a:xfrm>
            <a:off x="9229725" y="2142679"/>
            <a:ext cx="3967163" cy="995363"/>
          </a:xfrm>
          <a:prstGeom prst="roundRect">
            <a:avLst>
              <a:gd name="adj" fmla="val 13397"/>
            </a:avLst>
          </a:prstGeom>
          <a:solidFill>
            <a:srgbClr val="FFFFFF"/>
          </a:solidFill>
          <a:ln w="9525">
            <a:solidFill>
              <a:srgbClr val="EEE8FB"/>
            </a:solidFill>
            <a:prstDash val="solid"/>
          </a:ln>
          <a:effectLst>
            <a:outerShdw sx="100000" sy="100000" kx="0" ky="0" algn="bl" rotWithShape="0" blurRad="190500" dist="76200" dir="5400000">
              <a:srgbClr val="6B52B1">
                <a:alpha val="5000"/>
              </a:srgbClr>
            </a:outerShdw>
          </a:effectLst>
        </p:spPr>
      </p:sp>
      <p:sp>
        <p:nvSpPr>
          <p:cNvPr id="19" name="Shape 15"/>
          <p:cNvSpPr/>
          <p:nvPr/>
        </p:nvSpPr>
        <p:spPr>
          <a:xfrm>
            <a:off x="9410700" y="2430810"/>
            <a:ext cx="419100" cy="419100"/>
          </a:xfrm>
          <a:prstGeom prst="roundRect">
            <a:avLst>
              <a:gd name="adj" fmla="val 27273"/>
            </a:avLst>
          </a:prstGeom>
          <a:solidFill>
            <a:srgbClr val="EFE9FD"/>
          </a:solidFill>
          <a:ln/>
        </p:spPr>
      </p:sp>
      <p:pic>
        <p:nvPicPr>
          <p:cNvPr id="2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505950" y="2526060"/>
            <a:ext cx="228600" cy="228600"/>
          </a:xfrm>
          <a:prstGeom prst="rect">
            <a:avLst/>
          </a:prstGeom>
        </p:spPr>
      </p:pic>
      <p:sp>
        <p:nvSpPr>
          <p:cNvPr id="21" name="Text 16"/>
          <p:cNvSpPr/>
          <p:nvPr/>
        </p:nvSpPr>
        <p:spPr>
          <a:xfrm>
            <a:off x="9963150" y="2285554"/>
            <a:ext cx="1215405"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8969E3"/>
                </a:solidFill>
                <a:latin typeface="Arial" pitchFamily="34" charset="0"/>
                <a:ea typeface="Arial" pitchFamily="34" charset="-122"/>
                <a:cs typeface="Arial" pitchFamily="34" charset="-120"/>
              </a:rPr>
              <a:t>무엇을</a:t>
            </a:r>
            <a:endParaRPr lang="en-US" sz="1800" dirty="0"/>
          </a:p>
        </p:txBody>
      </p:sp>
      <p:sp>
        <p:nvSpPr>
          <p:cNvPr id="22" name="Text 17"/>
          <p:cNvSpPr/>
          <p:nvPr/>
        </p:nvSpPr>
        <p:spPr>
          <a:xfrm>
            <a:off x="9963150" y="2637979"/>
            <a:ext cx="1215405" cy="395288"/>
          </a:xfrm>
          <a:prstGeom prst="rect">
            <a:avLst/>
          </a:prstGeom>
          <a:noFill/>
          <a:ln/>
        </p:spPr>
        <p:txBody>
          <a:bodyPr wrap="square" lIns="25400" tIns="25400" rIns="25400" bIns="25400" rtlCol="0" anchor="t">
            <a:normAutofit/>
          </a:bodyPr>
          <a:lstStyle/>
          <a:p>
            <a:pPr algn="l" indent="0" marL="0">
              <a:buNone/>
            </a:pPr>
            <a:r>
              <a:rPr lang="en-US" sz="1950" b="1" dirty="0">
                <a:solidFill>
                  <a:srgbClr val="131313"/>
                </a:solidFill>
                <a:latin typeface="Arial" pitchFamily="34" charset="0"/>
                <a:ea typeface="Arial" pitchFamily="34" charset="-122"/>
                <a:cs typeface="Arial" pitchFamily="34" charset="-120"/>
              </a:rPr>
              <a:t>체크리스트</a:t>
            </a:r>
            <a:endParaRPr lang="en-US" sz="1950" dirty="0"/>
          </a:p>
        </p:txBody>
      </p:sp>
      <p:sp>
        <p:nvSpPr>
          <p:cNvPr id="23" name="Shape 18"/>
          <p:cNvSpPr/>
          <p:nvPr/>
        </p:nvSpPr>
        <p:spPr>
          <a:xfrm>
            <a:off x="13368338" y="2142679"/>
            <a:ext cx="3967163" cy="995363"/>
          </a:xfrm>
          <a:prstGeom prst="roundRect">
            <a:avLst>
              <a:gd name="adj" fmla="val 13397"/>
            </a:avLst>
          </a:prstGeom>
          <a:solidFill>
            <a:srgbClr val="FFFFFF"/>
          </a:solidFill>
          <a:ln w="9525">
            <a:solidFill>
              <a:srgbClr val="EEE8FB"/>
            </a:solidFill>
            <a:prstDash val="solid"/>
          </a:ln>
          <a:effectLst>
            <a:outerShdw sx="100000" sy="100000" kx="0" ky="0" algn="bl" rotWithShape="0" blurRad="190500" dist="76200" dir="5400000">
              <a:srgbClr val="6B52B1">
                <a:alpha val="5000"/>
              </a:srgbClr>
            </a:outerShdw>
          </a:effectLst>
        </p:spPr>
      </p:sp>
      <p:sp>
        <p:nvSpPr>
          <p:cNvPr id="24" name="Shape 19"/>
          <p:cNvSpPr/>
          <p:nvPr/>
        </p:nvSpPr>
        <p:spPr>
          <a:xfrm>
            <a:off x="13549313" y="2430810"/>
            <a:ext cx="419100" cy="419100"/>
          </a:xfrm>
          <a:prstGeom prst="roundRect">
            <a:avLst>
              <a:gd name="adj" fmla="val 27273"/>
            </a:avLst>
          </a:prstGeom>
          <a:solidFill>
            <a:srgbClr val="FBF1D6"/>
          </a:solidFill>
          <a:ln/>
        </p:spPr>
      </p:sp>
      <p:pic>
        <p:nvPicPr>
          <p:cNvPr id="25"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3644563" y="2526060"/>
            <a:ext cx="228600" cy="228600"/>
          </a:xfrm>
          <a:prstGeom prst="rect">
            <a:avLst/>
          </a:prstGeom>
        </p:spPr>
      </p:pic>
      <p:sp>
        <p:nvSpPr>
          <p:cNvPr id="26" name="Text 20"/>
          <p:cNvSpPr/>
          <p:nvPr/>
        </p:nvSpPr>
        <p:spPr>
          <a:xfrm>
            <a:off x="14101763" y="2285554"/>
            <a:ext cx="1191295"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8969E3"/>
                </a:solidFill>
                <a:latin typeface="Arial" pitchFamily="34" charset="0"/>
                <a:ea typeface="Arial" pitchFamily="34" charset="-122"/>
                <a:cs typeface="Arial" pitchFamily="34" charset="-120"/>
              </a:rPr>
              <a:t>뭐가 막히나</a:t>
            </a:r>
            <a:endParaRPr lang="en-US" sz="1800" dirty="0"/>
          </a:p>
        </p:txBody>
      </p:sp>
      <p:sp>
        <p:nvSpPr>
          <p:cNvPr id="27" name="Text 21"/>
          <p:cNvSpPr/>
          <p:nvPr/>
        </p:nvSpPr>
        <p:spPr>
          <a:xfrm>
            <a:off x="14101763" y="2637979"/>
            <a:ext cx="1191295" cy="395288"/>
          </a:xfrm>
          <a:prstGeom prst="rect">
            <a:avLst/>
          </a:prstGeom>
          <a:noFill/>
          <a:ln/>
        </p:spPr>
        <p:txBody>
          <a:bodyPr wrap="square" lIns="25400" tIns="25400" rIns="25400" bIns="25400" rtlCol="0" anchor="t">
            <a:normAutofit/>
          </a:bodyPr>
          <a:lstStyle/>
          <a:p>
            <a:pPr algn="l" indent="0" marL="0">
              <a:buNone/>
            </a:pPr>
            <a:r>
              <a:rPr lang="en-US" sz="1950" b="1" dirty="0">
                <a:solidFill>
                  <a:srgbClr val="131313"/>
                </a:solidFill>
                <a:latin typeface="Arial" pitchFamily="34" charset="0"/>
                <a:ea typeface="Arial" pitchFamily="34" charset="-122"/>
                <a:cs typeface="Arial" pitchFamily="34" charset="-120"/>
              </a:rPr>
              <a:t>리스크</a:t>
            </a:r>
            <a:endParaRPr lang="en-US" sz="1950" dirty="0"/>
          </a:p>
        </p:txBody>
      </p:sp>
      <p:sp>
        <p:nvSpPr>
          <p:cNvPr id="28" name="Shape 22"/>
          <p:cNvSpPr/>
          <p:nvPr/>
        </p:nvSpPr>
        <p:spPr>
          <a:xfrm>
            <a:off x="3681859" y="4332163"/>
            <a:ext cx="10924282" cy="38100"/>
          </a:xfrm>
          <a:prstGeom prst="roundRect">
            <a:avLst>
              <a:gd name="adj" fmla="val 50000"/>
            </a:avLst>
          </a:prstGeom>
          <a:gradFill rotWithShape="1">
            <a:gsLst>
              <a:gs pos="0">
                <a:srgbClr val="9673F9">
                  <a:alpha val="100000"/>
                </a:srgbClr>
              </a:gs>
              <a:gs pos="50000">
                <a:srgbClr val="8969E3">
                  <a:alpha val="100000"/>
                </a:srgbClr>
              </a:gs>
              <a:gs pos="100000">
                <a:srgbClr val="6B52B1">
                  <a:alpha val="100000"/>
                </a:srgbClr>
              </a:gs>
            </a:gsLst>
            <a:lin ang="0" scaled="0"/>
          </a:gradFill>
          <a:ln/>
        </p:spPr>
      </p:sp>
      <p:sp>
        <p:nvSpPr>
          <p:cNvPr id="29" name="Shape 23"/>
          <p:cNvSpPr/>
          <p:nvPr/>
        </p:nvSpPr>
        <p:spPr>
          <a:xfrm>
            <a:off x="3463900" y="4132138"/>
            <a:ext cx="438150" cy="438150"/>
          </a:xfrm>
          <a:prstGeom prst="roundRect">
            <a:avLst>
              <a:gd name="adj" fmla="val 28261"/>
            </a:avLst>
          </a:prstGeom>
          <a:solidFill>
            <a:srgbClr val="9673F9"/>
          </a:solidFill>
          <a:ln/>
          <a:effectLst>
            <a:outerShdw sx="100000" sy="100000" kx="0" ky="0" algn="bl" rotWithShape="0" blurRad="171450" dist="76200" dir="5400000">
              <a:srgbClr val="9673F9">
                <a:alpha val="34000"/>
              </a:srgbClr>
            </a:outerShdw>
          </a:effectLst>
        </p:spPr>
      </p:sp>
      <p:pic>
        <p:nvPicPr>
          <p:cNvPr id="30"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568675" y="4236913"/>
            <a:ext cx="228600" cy="228600"/>
          </a:xfrm>
          <a:prstGeom prst="rect">
            <a:avLst/>
          </a:prstGeom>
        </p:spPr>
      </p:pic>
      <p:sp>
        <p:nvSpPr>
          <p:cNvPr id="31" name="Shape 24"/>
          <p:cNvSpPr/>
          <p:nvPr/>
        </p:nvSpPr>
        <p:spPr>
          <a:xfrm>
            <a:off x="8924851" y="4132138"/>
            <a:ext cx="438150" cy="438150"/>
          </a:xfrm>
          <a:prstGeom prst="roundRect">
            <a:avLst>
              <a:gd name="adj" fmla="val 28261"/>
            </a:avLst>
          </a:prstGeom>
          <a:solidFill>
            <a:srgbClr val="8969E3"/>
          </a:solidFill>
          <a:ln/>
          <a:effectLst>
            <a:outerShdw sx="100000" sy="100000" kx="0" ky="0" algn="bl" rotWithShape="0" blurRad="171450" dist="76200" dir="5400000">
              <a:srgbClr val="8969E3">
                <a:alpha val="34000"/>
              </a:srgbClr>
            </a:outerShdw>
          </a:effectLst>
        </p:spPr>
      </p:sp>
      <p:pic>
        <p:nvPicPr>
          <p:cNvPr id="32"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029626" y="4236913"/>
            <a:ext cx="228600" cy="228600"/>
          </a:xfrm>
          <a:prstGeom prst="rect">
            <a:avLst/>
          </a:prstGeom>
        </p:spPr>
      </p:pic>
      <p:sp>
        <p:nvSpPr>
          <p:cNvPr id="33" name="Shape 25"/>
          <p:cNvSpPr/>
          <p:nvPr/>
        </p:nvSpPr>
        <p:spPr>
          <a:xfrm>
            <a:off x="14385875" y="4132138"/>
            <a:ext cx="438150" cy="438150"/>
          </a:xfrm>
          <a:prstGeom prst="roundRect">
            <a:avLst>
              <a:gd name="adj" fmla="val 28261"/>
            </a:avLst>
          </a:prstGeom>
          <a:solidFill>
            <a:srgbClr val="6B52B1"/>
          </a:solidFill>
          <a:ln/>
          <a:effectLst>
            <a:outerShdw sx="100000" sy="100000" kx="0" ky="0" algn="bl" rotWithShape="0" blurRad="171450" dist="76200" dir="5400000">
              <a:srgbClr val="6B52B1">
                <a:alpha val="34000"/>
              </a:srgbClr>
            </a:outerShdw>
          </a:effectLst>
        </p:spPr>
      </p:sp>
      <p:pic>
        <p:nvPicPr>
          <p:cNvPr id="34"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4490650" y="4236913"/>
            <a:ext cx="228600" cy="228600"/>
          </a:xfrm>
          <a:prstGeom prst="rect">
            <a:avLst/>
          </a:prstGeom>
        </p:spPr>
      </p:pic>
      <p:sp>
        <p:nvSpPr>
          <p:cNvPr id="35" name="Text 26"/>
          <p:cNvSpPr/>
          <p:nvPr/>
        </p:nvSpPr>
        <p:spPr>
          <a:xfrm>
            <a:off x="679452" y="4684588"/>
            <a:ext cx="6007045" cy="366713"/>
          </a:xfrm>
          <a:prstGeom prst="rect">
            <a:avLst/>
          </a:prstGeom>
          <a:noFill/>
          <a:ln/>
        </p:spPr>
        <p:txBody>
          <a:bodyPr wrap="square" lIns="25400" tIns="25400" rIns="25400" bIns="25400" rtlCol="0" anchor="t">
            <a:normAutofit/>
          </a:bodyPr>
          <a:lstStyle/>
          <a:p>
            <a:pPr algn="ctr" indent="0" marL="0">
              <a:buNone/>
            </a:pPr>
            <a:r>
              <a:rPr lang="en-US" sz="2250" b="1" dirty="0">
                <a:solidFill>
                  <a:srgbClr val="131313"/>
                </a:solidFill>
                <a:latin typeface="Arial" pitchFamily="34" charset="0"/>
                <a:ea typeface="Arial" pitchFamily="34" charset="-122"/>
                <a:cs typeface="Arial" pitchFamily="34" charset="-120"/>
              </a:rPr>
              <a:t>Day 0</a:t>
            </a:r>
            <a:endParaRPr lang="en-US" sz="2250" dirty="0"/>
          </a:p>
        </p:txBody>
      </p:sp>
      <p:sp>
        <p:nvSpPr>
          <p:cNvPr id="36" name="Text 27"/>
          <p:cNvSpPr/>
          <p:nvPr/>
        </p:nvSpPr>
        <p:spPr>
          <a:xfrm>
            <a:off x="6140399" y="4684588"/>
            <a:ext cx="6007127" cy="366713"/>
          </a:xfrm>
          <a:prstGeom prst="rect">
            <a:avLst/>
          </a:prstGeom>
          <a:noFill/>
          <a:ln/>
        </p:spPr>
        <p:txBody>
          <a:bodyPr wrap="square" lIns="25400" tIns="25400" rIns="25400" bIns="25400" rtlCol="0" anchor="t">
            <a:normAutofit/>
          </a:bodyPr>
          <a:lstStyle/>
          <a:p>
            <a:pPr algn="ctr" indent="0" marL="0">
              <a:buNone/>
            </a:pPr>
            <a:r>
              <a:rPr lang="en-US" sz="2250" b="1" dirty="0">
                <a:solidFill>
                  <a:srgbClr val="131313"/>
                </a:solidFill>
                <a:latin typeface="Arial" pitchFamily="34" charset="0"/>
                <a:ea typeface="Arial" pitchFamily="34" charset="-122"/>
                <a:cs typeface="Arial" pitchFamily="34" charset="-120"/>
              </a:rPr>
              <a:t>Day 2–3</a:t>
            </a:r>
            <a:endParaRPr lang="en-US" sz="2250" dirty="0"/>
          </a:p>
        </p:txBody>
      </p:sp>
      <p:sp>
        <p:nvSpPr>
          <p:cNvPr id="37" name="Text 28"/>
          <p:cNvSpPr/>
          <p:nvPr/>
        </p:nvSpPr>
        <p:spPr>
          <a:xfrm>
            <a:off x="11601428" y="4684588"/>
            <a:ext cx="6007045" cy="366713"/>
          </a:xfrm>
          <a:prstGeom prst="rect">
            <a:avLst/>
          </a:prstGeom>
          <a:noFill/>
          <a:ln/>
        </p:spPr>
        <p:txBody>
          <a:bodyPr wrap="square" lIns="25400" tIns="25400" rIns="25400" bIns="25400" rtlCol="0" anchor="t">
            <a:normAutofit/>
          </a:bodyPr>
          <a:lstStyle/>
          <a:p>
            <a:pPr algn="ctr" indent="0" marL="0">
              <a:buNone/>
            </a:pPr>
            <a:r>
              <a:rPr lang="en-US" sz="2250" b="1" dirty="0">
                <a:solidFill>
                  <a:srgbClr val="131313"/>
                </a:solidFill>
                <a:latin typeface="Arial" pitchFamily="34" charset="0"/>
                <a:ea typeface="Arial" pitchFamily="34" charset="-122"/>
                <a:cs typeface="Arial" pitchFamily="34" charset="-120"/>
              </a:rPr>
              <a:t>Day 7</a:t>
            </a:r>
            <a:endParaRPr lang="en-US" sz="2250" dirty="0"/>
          </a:p>
        </p:txBody>
      </p:sp>
      <p:sp>
        <p:nvSpPr>
          <p:cNvPr id="38" name="Shape 29"/>
          <p:cNvSpPr/>
          <p:nvPr/>
        </p:nvSpPr>
        <p:spPr>
          <a:xfrm>
            <a:off x="952500" y="5203701"/>
            <a:ext cx="5283175" cy="1879402"/>
          </a:xfrm>
          <a:prstGeom prst="roundRect">
            <a:avLst>
              <a:gd name="adj" fmla="val 10136"/>
            </a:avLst>
          </a:prstGeom>
          <a:solidFill>
            <a:srgbClr val="FFFFFF"/>
          </a:solidFill>
          <a:ln w="9525">
            <a:solidFill>
              <a:srgbClr val="EEE8FB"/>
            </a:solidFill>
            <a:prstDash val="solid"/>
          </a:ln>
          <a:effectLst>
            <a:outerShdw sx="100000" sy="100000" kx="0" ky="0" algn="bl" rotWithShape="0" blurRad="304800" dist="133350" dir="5400000">
              <a:srgbClr val="6B52B1">
                <a:alpha val="10000"/>
              </a:srgbClr>
            </a:outerShdw>
          </a:effectLst>
        </p:spPr>
      </p:sp>
      <p:sp>
        <p:nvSpPr>
          <p:cNvPr id="39" name="Shape 30"/>
          <p:cNvSpPr/>
          <p:nvPr/>
        </p:nvSpPr>
        <p:spPr>
          <a:xfrm>
            <a:off x="1209675" y="5441826"/>
            <a:ext cx="1374651" cy="466725"/>
          </a:xfrm>
          <a:prstGeom prst="roundRect">
            <a:avLst>
              <a:gd name="adj" fmla="val 50000"/>
            </a:avLst>
          </a:prstGeom>
          <a:solidFill>
            <a:srgbClr val="9673F9"/>
          </a:solidFill>
          <a:ln/>
        </p:spPr>
      </p:sp>
      <p:pic>
        <p:nvPicPr>
          <p:cNvPr id="40" name="Image 7" descr="preencoded.png">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352550" y="5589463"/>
            <a:ext cx="171450" cy="171450"/>
          </a:xfrm>
          <a:prstGeom prst="rect">
            <a:avLst/>
          </a:prstGeom>
        </p:spPr>
      </p:pic>
      <p:sp>
        <p:nvSpPr>
          <p:cNvPr id="41" name="Text 31"/>
          <p:cNvSpPr/>
          <p:nvPr/>
        </p:nvSpPr>
        <p:spPr>
          <a:xfrm>
            <a:off x="1600200" y="5570413"/>
            <a:ext cx="917451" cy="290513"/>
          </a:xfrm>
          <a:prstGeom prst="rect">
            <a:avLst/>
          </a:prstGeom>
          <a:noFill/>
          <a:ln/>
        </p:spPr>
        <p:txBody>
          <a:bodyPr wrap="square" lIns="0" tIns="0" rIns="0" bIns="0" rtlCol="0" anchor="t">
            <a:normAutofit/>
          </a:bodyPr>
          <a:lstStyle/>
          <a:p>
            <a:pPr algn="l" indent="0" marL="0">
              <a:buNone/>
            </a:pPr>
            <a:r>
              <a:rPr lang="en-US" sz="1800" b="1" dirty="0">
                <a:solidFill>
                  <a:srgbClr val="FFFFFF"/>
                </a:solidFill>
                <a:latin typeface="Arial" pitchFamily="34" charset="0"/>
                <a:ea typeface="Arial" pitchFamily="34" charset="-122"/>
                <a:cs typeface="Arial" pitchFamily="34" charset="-120"/>
              </a:rPr>
              <a:t>마케팅팀</a:t>
            </a:r>
            <a:endParaRPr lang="en-US" sz="1800" dirty="0"/>
          </a:p>
        </p:txBody>
      </p:sp>
      <p:sp>
        <p:nvSpPr>
          <p:cNvPr id="42" name="Text 32"/>
          <p:cNvSpPr/>
          <p:nvPr/>
        </p:nvSpPr>
        <p:spPr>
          <a:xfrm>
            <a:off x="1209675" y="6041901"/>
            <a:ext cx="5245708" cy="387846"/>
          </a:xfrm>
          <a:prstGeom prst="rect">
            <a:avLst/>
          </a:prstGeom>
          <a:noFill/>
          <a:ln/>
        </p:spPr>
        <p:txBody>
          <a:bodyPr wrap="square" lIns="25400" tIns="25400" rIns="25400" bIns="25400" rtlCol="0" anchor="t">
            <a:normAutofit/>
          </a:bodyPr>
          <a:lstStyle/>
          <a:p>
            <a:pPr algn="l" indent="0" marL="0">
              <a:lnSpc>
                <a:spcPct val="136000"/>
              </a:lnSpc>
              <a:buNone/>
            </a:pPr>
            <a:r>
              <a:rPr lang="en-US" sz="2025" b="1" dirty="0">
                <a:solidFill>
                  <a:srgbClr val="131313"/>
                </a:solidFill>
                <a:latin typeface="Arial" pitchFamily="34" charset="0"/>
                <a:ea typeface="Arial" pitchFamily="34" charset="-122"/>
                <a:cs typeface="Arial" pitchFamily="34" charset="-120"/>
              </a:rPr>
              <a:t>팀장용 초안 발송 · </a:t>
            </a:r>
            <a:pPr algn="l" indent="0" marL="0">
              <a:lnSpc>
                <a:spcPct val="136000"/>
              </a:lnSpc>
              <a:buNone/>
            </a:pPr>
            <a:r>
              <a:rPr lang="en-US" sz="2025" b="1" dirty="0">
                <a:solidFill>
                  <a:srgbClr val="6B52B1"/>
                </a:solidFill>
                <a:latin typeface="Arial" pitchFamily="34" charset="0"/>
                <a:ea typeface="Arial" pitchFamily="34" charset="-122"/>
                <a:cs typeface="Arial" pitchFamily="34" charset="-120"/>
              </a:rPr>
              <a:t>CTA = 기술 도입 미팅</a:t>
            </a:r>
            <a:endParaRPr lang="en-US" sz="2025" dirty="0"/>
          </a:p>
        </p:txBody>
      </p:sp>
      <p:sp>
        <p:nvSpPr>
          <p:cNvPr id="43" name="Text 33"/>
          <p:cNvSpPr/>
          <p:nvPr/>
        </p:nvSpPr>
        <p:spPr>
          <a:xfrm>
            <a:off x="1209675" y="6524997"/>
            <a:ext cx="5245708"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585858"/>
                </a:solidFill>
                <a:latin typeface="Arial" pitchFamily="34" charset="0"/>
                <a:ea typeface="Arial" pitchFamily="34" charset="-122"/>
                <a:cs typeface="Arial" pitchFamily="34" charset="-120"/>
              </a:rPr>
              <a:t>우선순위 '상' → </a:t>
            </a:r>
            <a:pPr algn="l" indent="0" marL="0">
              <a:lnSpc>
                <a:spcPct val="140000"/>
              </a:lnSpc>
              <a:buNone/>
            </a:pPr>
            <a:r>
              <a:rPr lang="en-US" sz="1800" b="1" dirty="0">
                <a:solidFill>
                  <a:srgbClr val="6B52B1"/>
                </a:solidFill>
                <a:latin typeface="Arial" pitchFamily="34" charset="0"/>
                <a:ea typeface="Arial" pitchFamily="34" charset="-122"/>
                <a:cs typeface="Arial" pitchFamily="34" charset="-120"/>
              </a:rPr>
              <a:t>48시간 내 </a:t>
            </a:r>
            <a:pPr algn="l" indent="0" marL="0">
              <a:lnSpc>
                <a:spcPct val="140000"/>
              </a:lnSpc>
              <a:buNone/>
            </a:pPr>
            <a:r>
              <a:rPr lang="en-US" sz="1800" dirty="0">
                <a:solidFill>
                  <a:srgbClr val="585858"/>
                </a:solidFill>
                <a:latin typeface="Arial" pitchFamily="34" charset="0"/>
                <a:ea typeface="Arial" pitchFamily="34" charset="-122"/>
                <a:cs typeface="Arial" pitchFamily="34" charset="-120"/>
              </a:rPr>
              <a:t>미팅 슬롯 제안</a:t>
            </a:r>
            <a:endParaRPr lang="en-US" sz="1800" dirty="0"/>
          </a:p>
        </p:txBody>
      </p:sp>
      <p:sp>
        <p:nvSpPr>
          <p:cNvPr id="44" name="Shape 34"/>
          <p:cNvSpPr/>
          <p:nvPr/>
        </p:nvSpPr>
        <p:spPr>
          <a:xfrm>
            <a:off x="6502375" y="5203701"/>
            <a:ext cx="5283175" cy="1879402"/>
          </a:xfrm>
          <a:prstGeom prst="roundRect">
            <a:avLst>
              <a:gd name="adj" fmla="val 10136"/>
            </a:avLst>
          </a:prstGeom>
          <a:solidFill>
            <a:srgbClr val="FFFFFF"/>
          </a:solidFill>
          <a:ln w="9525">
            <a:solidFill>
              <a:srgbClr val="EEE8FB"/>
            </a:solidFill>
            <a:prstDash val="solid"/>
          </a:ln>
          <a:effectLst>
            <a:outerShdw sx="100000" sy="100000" kx="0" ky="0" algn="bl" rotWithShape="0" blurRad="304800" dist="133350" dir="5400000">
              <a:srgbClr val="6B52B1">
                <a:alpha val="10000"/>
              </a:srgbClr>
            </a:outerShdw>
          </a:effectLst>
        </p:spPr>
      </p:sp>
      <p:sp>
        <p:nvSpPr>
          <p:cNvPr id="45" name="Shape 35"/>
          <p:cNvSpPr/>
          <p:nvPr/>
        </p:nvSpPr>
        <p:spPr>
          <a:xfrm>
            <a:off x="6759550" y="5441826"/>
            <a:ext cx="2426271" cy="466725"/>
          </a:xfrm>
          <a:prstGeom prst="roundRect">
            <a:avLst>
              <a:gd name="adj" fmla="val 50000"/>
            </a:avLst>
          </a:prstGeom>
          <a:solidFill>
            <a:srgbClr val="8969E3"/>
          </a:solidFill>
          <a:ln/>
        </p:spPr>
      </p:sp>
      <p:pic>
        <p:nvPicPr>
          <p:cNvPr id="46" name="Image 8" descr="preencoded.png">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6902425" y="5589463"/>
            <a:ext cx="171450" cy="171450"/>
          </a:xfrm>
          <a:prstGeom prst="rect">
            <a:avLst/>
          </a:prstGeom>
        </p:spPr>
      </p:pic>
      <p:sp>
        <p:nvSpPr>
          <p:cNvPr id="47" name="Text 36"/>
          <p:cNvSpPr/>
          <p:nvPr/>
        </p:nvSpPr>
        <p:spPr>
          <a:xfrm>
            <a:off x="7150075" y="5570413"/>
            <a:ext cx="1969071" cy="290513"/>
          </a:xfrm>
          <a:prstGeom prst="rect">
            <a:avLst/>
          </a:prstGeom>
          <a:noFill/>
          <a:ln/>
        </p:spPr>
        <p:txBody>
          <a:bodyPr wrap="square" lIns="0" tIns="0" rIns="0" bIns="0" rtlCol="0" anchor="t">
            <a:normAutofit/>
          </a:bodyPr>
          <a:lstStyle/>
          <a:p>
            <a:pPr algn="l" indent="0" marL="0">
              <a:buNone/>
            </a:pPr>
            <a:r>
              <a:rPr lang="en-US" sz="1800" b="1" dirty="0">
                <a:solidFill>
                  <a:srgbClr val="FFFFFF"/>
                </a:solidFill>
                <a:latin typeface="Arial" pitchFamily="34" charset="0"/>
                <a:ea typeface="Arial" pitchFamily="34" charset="-122"/>
                <a:cs typeface="Arial" pitchFamily="34" charset="-120"/>
              </a:rPr>
              <a:t>세일즈엔지니어링팀</a:t>
            </a:r>
            <a:endParaRPr lang="en-US" sz="1800" dirty="0"/>
          </a:p>
        </p:txBody>
      </p:sp>
      <p:sp>
        <p:nvSpPr>
          <p:cNvPr id="48" name="Text 37"/>
          <p:cNvSpPr/>
          <p:nvPr/>
        </p:nvSpPr>
        <p:spPr>
          <a:xfrm>
            <a:off x="6759550" y="6041901"/>
            <a:ext cx="5245708" cy="387846"/>
          </a:xfrm>
          <a:prstGeom prst="rect">
            <a:avLst/>
          </a:prstGeom>
          <a:noFill/>
          <a:ln/>
        </p:spPr>
        <p:txBody>
          <a:bodyPr wrap="square" lIns="25400" tIns="25400" rIns="25400" bIns="25400" rtlCol="0" anchor="t">
            <a:normAutofit/>
          </a:bodyPr>
          <a:lstStyle/>
          <a:p>
            <a:pPr algn="l" indent="0" marL="0">
              <a:lnSpc>
                <a:spcPct val="136000"/>
              </a:lnSpc>
              <a:buNone/>
            </a:pPr>
            <a:r>
              <a:rPr lang="en-US" sz="2025" b="1" dirty="0">
                <a:solidFill>
                  <a:srgbClr val="131313"/>
                </a:solidFill>
                <a:latin typeface="Arial" pitchFamily="34" charset="0"/>
                <a:ea typeface="Arial" pitchFamily="34" charset="-122"/>
                <a:cs typeface="Arial" pitchFamily="34" charset="-120"/>
              </a:rPr>
              <a:t>접수·결제·심사·결과발표 자동화 흐름</a:t>
            </a:r>
            <a:endParaRPr lang="en-US" sz="2025" dirty="0"/>
          </a:p>
        </p:txBody>
      </p:sp>
      <p:sp>
        <p:nvSpPr>
          <p:cNvPr id="49" name="Text 38"/>
          <p:cNvSpPr/>
          <p:nvPr/>
        </p:nvSpPr>
        <p:spPr>
          <a:xfrm>
            <a:off x="6759550" y="6524997"/>
            <a:ext cx="5245708"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585858"/>
                </a:solidFill>
                <a:latin typeface="Arial" pitchFamily="34" charset="0"/>
                <a:ea typeface="Arial" pitchFamily="34" charset="-122"/>
                <a:cs typeface="Arial" pitchFamily="34" charset="-120"/>
              </a:rPr>
              <a:t>연동 체크리스트 함께 전달</a:t>
            </a:r>
            <a:endParaRPr lang="en-US" sz="1800" dirty="0"/>
          </a:p>
        </p:txBody>
      </p:sp>
      <p:sp>
        <p:nvSpPr>
          <p:cNvPr id="50" name="Shape 39"/>
          <p:cNvSpPr/>
          <p:nvPr/>
        </p:nvSpPr>
        <p:spPr>
          <a:xfrm>
            <a:off x="12052250" y="5203701"/>
            <a:ext cx="5283250" cy="1879402"/>
          </a:xfrm>
          <a:prstGeom prst="roundRect">
            <a:avLst>
              <a:gd name="adj" fmla="val 10136"/>
            </a:avLst>
          </a:prstGeom>
          <a:solidFill>
            <a:srgbClr val="FFFFFF"/>
          </a:solidFill>
          <a:ln w="9525">
            <a:solidFill>
              <a:srgbClr val="EEE8FB"/>
            </a:solidFill>
            <a:prstDash val="solid"/>
          </a:ln>
          <a:effectLst>
            <a:outerShdw sx="100000" sy="100000" kx="0" ky="0" algn="bl" rotWithShape="0" blurRad="304800" dist="133350" dir="5400000">
              <a:srgbClr val="6B52B1">
                <a:alpha val="10000"/>
              </a:srgbClr>
            </a:outerShdw>
          </a:effectLst>
        </p:spPr>
      </p:sp>
      <p:sp>
        <p:nvSpPr>
          <p:cNvPr id="51" name="Shape 40"/>
          <p:cNvSpPr/>
          <p:nvPr/>
        </p:nvSpPr>
        <p:spPr>
          <a:xfrm>
            <a:off x="12309425" y="5441826"/>
            <a:ext cx="1164357" cy="466725"/>
          </a:xfrm>
          <a:prstGeom prst="roundRect">
            <a:avLst>
              <a:gd name="adj" fmla="val 50000"/>
            </a:avLst>
          </a:prstGeom>
          <a:solidFill>
            <a:srgbClr val="6B52B1"/>
          </a:solidFill>
          <a:ln/>
        </p:spPr>
      </p:sp>
      <p:pic>
        <p:nvPicPr>
          <p:cNvPr id="52" name="Image 9" descr="preencoded.png">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12452300" y="5589463"/>
            <a:ext cx="171450" cy="171450"/>
          </a:xfrm>
          <a:prstGeom prst="rect">
            <a:avLst/>
          </a:prstGeom>
        </p:spPr>
      </p:pic>
      <p:sp>
        <p:nvSpPr>
          <p:cNvPr id="53" name="Text 41"/>
          <p:cNvSpPr/>
          <p:nvPr/>
        </p:nvSpPr>
        <p:spPr>
          <a:xfrm>
            <a:off x="12699950" y="5570413"/>
            <a:ext cx="707157" cy="290513"/>
          </a:xfrm>
          <a:prstGeom prst="rect">
            <a:avLst/>
          </a:prstGeom>
          <a:noFill/>
          <a:ln/>
        </p:spPr>
        <p:txBody>
          <a:bodyPr wrap="square" lIns="0" tIns="0" rIns="0" bIns="0" rtlCol="0" anchor="t">
            <a:normAutofit/>
          </a:bodyPr>
          <a:lstStyle/>
          <a:p>
            <a:pPr algn="l" indent="0" marL="0">
              <a:buNone/>
            </a:pPr>
            <a:r>
              <a:rPr lang="en-US" sz="1800" b="1" dirty="0">
                <a:solidFill>
                  <a:srgbClr val="FFFFFF"/>
                </a:solidFill>
                <a:latin typeface="Arial" pitchFamily="34" charset="0"/>
                <a:ea typeface="Arial" pitchFamily="34" charset="-122"/>
                <a:cs typeface="Arial" pitchFamily="34" charset="-120"/>
              </a:rPr>
              <a:t>영업팀</a:t>
            </a:r>
            <a:endParaRPr lang="en-US" sz="1800" dirty="0"/>
          </a:p>
        </p:txBody>
      </p:sp>
      <p:sp>
        <p:nvSpPr>
          <p:cNvPr id="54" name="Text 42"/>
          <p:cNvSpPr/>
          <p:nvPr/>
        </p:nvSpPr>
        <p:spPr>
          <a:xfrm>
            <a:off x="12309425" y="6041901"/>
            <a:ext cx="5245790" cy="387846"/>
          </a:xfrm>
          <a:prstGeom prst="rect">
            <a:avLst/>
          </a:prstGeom>
          <a:noFill/>
          <a:ln/>
        </p:spPr>
        <p:txBody>
          <a:bodyPr wrap="square" lIns="25400" tIns="25400" rIns="25400" bIns="25400" rtlCol="0" anchor="t">
            <a:normAutofit/>
          </a:bodyPr>
          <a:lstStyle/>
          <a:p>
            <a:pPr algn="l" indent="0" marL="0">
              <a:lnSpc>
                <a:spcPct val="136000"/>
              </a:lnSpc>
              <a:buNone/>
            </a:pPr>
            <a:r>
              <a:rPr lang="en-US" sz="2025" b="1" dirty="0">
                <a:solidFill>
                  <a:srgbClr val="131313"/>
                </a:solidFill>
                <a:latin typeface="Arial" pitchFamily="34" charset="0"/>
                <a:ea typeface="Arial" pitchFamily="34" charset="-122"/>
                <a:cs typeface="Arial" pitchFamily="34" charset="-120"/>
              </a:rPr>
              <a:t>운영 공수 절감 수치 확인</a:t>
            </a:r>
            <a:endParaRPr lang="en-US" sz="2025" dirty="0"/>
          </a:p>
        </p:txBody>
      </p:sp>
      <p:sp>
        <p:nvSpPr>
          <p:cNvPr id="55" name="Text 43"/>
          <p:cNvSpPr/>
          <p:nvPr/>
        </p:nvSpPr>
        <p:spPr>
          <a:xfrm>
            <a:off x="12309425" y="6524997"/>
            <a:ext cx="5245790"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585858"/>
                </a:solidFill>
                <a:latin typeface="Arial" pitchFamily="34" charset="0"/>
                <a:ea typeface="Arial" pitchFamily="34" charset="-122"/>
                <a:cs typeface="Arial" pitchFamily="34" charset="-120"/>
              </a:rPr>
              <a:t>30분 미팅 제안</a:t>
            </a:r>
            <a:endParaRPr lang="en-US" sz="1800" dirty="0"/>
          </a:p>
        </p:txBody>
      </p:sp>
      <p:sp>
        <p:nvSpPr>
          <p:cNvPr id="56" name="Shape 44"/>
          <p:cNvSpPr/>
          <p:nvPr/>
        </p:nvSpPr>
        <p:spPr>
          <a:xfrm>
            <a:off x="952500" y="8096250"/>
            <a:ext cx="16383000" cy="1104900"/>
          </a:xfrm>
          <a:prstGeom prst="roundRect">
            <a:avLst>
              <a:gd name="adj" fmla="val 13793"/>
            </a:avLst>
          </a:prstGeom>
          <a:solidFill>
            <a:srgbClr val="FFFAEB"/>
          </a:solidFill>
          <a:ln w="9525">
            <a:solidFill>
              <a:srgbClr val="F0E4C0"/>
            </a:solidFill>
            <a:prstDash val="solid"/>
          </a:ln>
        </p:spPr>
      </p:sp>
      <p:sp>
        <p:nvSpPr>
          <p:cNvPr id="57" name="Shape 45"/>
          <p:cNvSpPr/>
          <p:nvPr/>
        </p:nvSpPr>
        <p:spPr>
          <a:xfrm>
            <a:off x="1228725" y="8420100"/>
            <a:ext cx="457200" cy="457200"/>
          </a:xfrm>
          <a:prstGeom prst="roundRect">
            <a:avLst>
              <a:gd name="adj" fmla="val 27083"/>
            </a:avLst>
          </a:prstGeom>
          <a:solidFill>
            <a:srgbClr val="FBF1D6"/>
          </a:solidFill>
          <a:ln/>
        </p:spPr>
      </p:sp>
      <p:pic>
        <p:nvPicPr>
          <p:cNvPr id="58" name="Image 10" descr="preencoded.png">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1333500" y="8524875"/>
            <a:ext cx="247650" cy="247650"/>
          </a:xfrm>
          <a:prstGeom prst="rect">
            <a:avLst/>
          </a:prstGeom>
        </p:spPr>
      </p:pic>
      <p:sp>
        <p:nvSpPr>
          <p:cNvPr id="59" name="Text 46"/>
          <p:cNvSpPr/>
          <p:nvPr/>
        </p:nvSpPr>
        <p:spPr>
          <a:xfrm>
            <a:off x="1857375" y="8296275"/>
            <a:ext cx="11934200" cy="371475"/>
          </a:xfrm>
          <a:prstGeom prst="rect">
            <a:avLst/>
          </a:prstGeom>
          <a:noFill/>
          <a:ln/>
        </p:spPr>
        <p:txBody>
          <a:bodyPr wrap="square" lIns="25400" tIns="25400" rIns="25400" bIns="25400" rtlCol="0" anchor="t">
            <a:normAutofit/>
          </a:bodyPr>
          <a:lstStyle/>
          <a:p>
            <a:pPr algn="l" indent="0" marL="0">
              <a:buNone/>
            </a:pPr>
            <a:r>
              <a:rPr lang="en-US" sz="1800" b="1" spc="36" kern="0" dirty="0">
                <a:solidFill>
                  <a:srgbClr val="B8862F"/>
                </a:solidFill>
                <a:latin typeface="Arial" pitchFamily="34" charset="0"/>
                <a:ea typeface="Arial" pitchFamily="34" charset="-122"/>
                <a:cs typeface="Arial" pitchFamily="34" charset="-120"/>
              </a:rPr>
              <a:t>리스크</a:t>
            </a:r>
            <a:endParaRPr lang="en-US" sz="1800" dirty="0"/>
          </a:p>
        </p:txBody>
      </p:sp>
      <p:sp>
        <p:nvSpPr>
          <p:cNvPr id="60" name="Text 47"/>
          <p:cNvSpPr/>
          <p:nvPr/>
        </p:nvSpPr>
        <p:spPr>
          <a:xfrm>
            <a:off x="1857375" y="8658225"/>
            <a:ext cx="11934200" cy="381000"/>
          </a:xfrm>
          <a:prstGeom prst="rect">
            <a:avLst/>
          </a:prstGeom>
          <a:noFill/>
          <a:ln/>
        </p:spPr>
        <p:txBody>
          <a:bodyPr wrap="square" lIns="25400" tIns="25400" rIns="25400" bIns="25400" rtlCol="0" anchor="t">
            <a:normAutofit/>
          </a:bodyPr>
          <a:lstStyle/>
          <a:p>
            <a:pPr algn="l" indent="0" marL="0">
              <a:lnSpc>
                <a:spcPct val="140000"/>
              </a:lnSpc>
              <a:buNone/>
            </a:pPr>
            <a:r>
              <a:rPr lang="en-US" sz="1875" dirty="0">
                <a:solidFill>
                  <a:srgbClr val="6B52B1"/>
                </a:solidFill>
                <a:latin typeface="Courier New" pitchFamily="34" charset="0"/>
                <a:ea typeface="Courier New" pitchFamily="34" charset="-122"/>
                <a:cs typeface="Courier New" pitchFamily="34" charset="-120"/>
              </a:rPr>
              <a:t>L033</a:t>
            </a:r>
            <a:pPr algn="l" indent="0" marL="0">
              <a:lnSpc>
                <a:spcPct val="140000"/>
              </a:lnSpc>
              <a:buNone/>
            </a:pPr>
            <a:r>
              <a:rPr lang="en-US" sz="1875" dirty="0">
                <a:solidFill>
                  <a:srgbClr val="131313"/>
                </a:solidFill>
                <a:latin typeface="Arial" pitchFamily="34" charset="0"/>
                <a:ea typeface="Arial" pitchFamily="34" charset="-122"/>
                <a:cs typeface="Arial" pitchFamily="34" charset="-120"/>
              </a:rPr>
              <a:t>은 </a:t>
            </a:r>
            <a:pPr algn="l" indent="0" marL="0">
              <a:lnSpc>
                <a:spcPct val="140000"/>
              </a:lnSpc>
              <a:buNone/>
            </a:pPr>
            <a:r>
              <a:rPr lang="en-US" sz="1875" dirty="0">
                <a:solidFill>
                  <a:srgbClr val="6B52B1"/>
                </a:solidFill>
                <a:latin typeface="Courier New" pitchFamily="34" charset="0"/>
                <a:ea typeface="Courier New" pitchFamily="34" charset="-122"/>
                <a:cs typeface="Courier New" pitchFamily="34" charset="-120"/>
              </a:rPr>
              <a:t>review_flag=Y </a:t>
            </a:r>
            <a:pPr algn="l" indent="0" marL="0">
              <a:lnSpc>
                <a:spcPct val="140000"/>
              </a:lnSpc>
              <a:buNone/>
            </a:pPr>
            <a:r>
              <a:rPr lang="en-US" sz="1875" dirty="0">
                <a:solidFill>
                  <a:srgbClr val="131313"/>
                </a:solidFill>
                <a:latin typeface="Arial" pitchFamily="34" charset="0"/>
                <a:ea typeface="Arial" pitchFamily="34" charset="-122"/>
                <a:cs typeface="Arial" pitchFamily="34" charset="-120"/>
              </a:rPr>
              <a:t>→ 니즈 확인 전 정식 CTA 발송 안 함. 영업팀이 24h 내 미확인 시 </a:t>
            </a:r>
            <a:pPr algn="l" indent="0" marL="0">
              <a:lnSpc>
                <a:spcPct val="140000"/>
              </a:lnSpc>
              <a:buNone/>
            </a:pPr>
            <a:r>
              <a:rPr lang="en-US" sz="1875" b="1" dirty="0">
                <a:solidFill>
                  <a:srgbClr val="6B52B1"/>
                </a:solidFill>
                <a:latin typeface="Arial" pitchFamily="34" charset="0"/>
                <a:ea typeface="Arial" pitchFamily="34" charset="-122"/>
                <a:cs typeface="Arial" pitchFamily="34" charset="-120"/>
              </a:rPr>
              <a:t>48시간 골든타임 이탈</a:t>
            </a:r>
            <a:pPr algn="l" indent="0" marL="0">
              <a:lnSpc>
                <a:spcPct val="140000"/>
              </a:lnSpc>
              <a:buNone/>
            </a:pPr>
            <a:r>
              <a:rPr lang="en-US" sz="1875" dirty="0">
                <a:solidFill>
                  <a:srgbClr val="131313"/>
                </a:solidFill>
                <a:latin typeface="Arial" pitchFamily="34" charset="0"/>
                <a:ea typeface="Arial" pitchFamily="34" charset="-122"/>
                <a:cs typeface="Arial" pitchFamily="34" charset="-120"/>
              </a:rPr>
              <a:t>.</a:t>
            </a:r>
            <a:endParaRPr lang="en-US" sz="1875" dirty="0"/>
          </a:p>
        </p:txBody>
      </p:sp>
      <p:sp>
        <p:nvSpPr>
          <p:cNvPr id="61" name="Shape 48"/>
          <p:cNvSpPr/>
          <p:nvPr/>
        </p:nvSpPr>
        <p:spPr>
          <a:xfrm>
            <a:off x="952500" y="9372600"/>
            <a:ext cx="16383000" cy="9525"/>
          </a:xfrm>
          <a:prstGeom prst="rect">
            <a:avLst/>
          </a:prstGeom>
          <a:solidFill>
            <a:srgbClr val="ECECEC"/>
          </a:solidFill>
          <a:ln/>
        </p:spPr>
      </p:sp>
      <p:sp>
        <p:nvSpPr>
          <p:cNvPr id="62" name="Text 49"/>
          <p:cNvSpPr/>
          <p:nvPr/>
        </p:nvSpPr>
        <p:spPr>
          <a:xfrm>
            <a:off x="952500" y="9534525"/>
            <a:ext cx="2574764" cy="314325"/>
          </a:xfrm>
          <a:prstGeom prst="rect">
            <a:avLst/>
          </a:prstGeom>
          <a:noFill/>
          <a:ln/>
        </p:spPr>
        <p:txBody>
          <a:bodyPr wrap="square" lIns="25400" tIns="25400" rIns="25400" bIns="25400" rtlCol="0" anchor="t">
            <a:normAutofit/>
          </a:bodyPr>
          <a:lstStyle/>
          <a:p>
            <a:pPr algn="l" indent="0" marL="0">
              <a:buNone/>
            </a:pPr>
            <a:r>
              <a:rPr lang="en-US" sz="1800" dirty="0">
                <a:solidFill>
                  <a:srgbClr val="9D9D9D"/>
                </a:solidFill>
                <a:latin typeface="Arial" pitchFamily="34" charset="0"/>
                <a:ea typeface="Arial" pitchFamily="34" charset="-122"/>
                <a:cs typeface="Arial" pitchFamily="34" charset="-120"/>
              </a:rPr>
              <a:t>키즐링 후속 이메일 자동화</a:t>
            </a:r>
            <a:endParaRPr lang="en-US" sz="1800" dirty="0"/>
          </a:p>
        </p:txBody>
      </p:sp>
      <p:sp>
        <p:nvSpPr>
          <p:cNvPr id="63" name="Text 50"/>
          <p:cNvSpPr/>
          <p:nvPr/>
        </p:nvSpPr>
        <p:spPr>
          <a:xfrm>
            <a:off x="16607954" y="9534525"/>
            <a:ext cx="803746" cy="314325"/>
          </a:xfrm>
          <a:prstGeom prst="rect">
            <a:avLst/>
          </a:prstGeom>
          <a:noFill/>
          <a:ln/>
        </p:spPr>
        <p:txBody>
          <a:bodyPr wrap="square" lIns="25400" tIns="25400" rIns="25400" bIns="25400" rtlCol="0" anchor="t">
            <a:normAutofit/>
          </a:bodyPr>
          <a:lstStyle/>
          <a:p>
            <a:pPr algn="l" indent="0" marL="0">
              <a:buNone/>
            </a:pPr>
            <a:r>
              <a:rPr lang="en-US" sz="1800" b="1" dirty="0">
                <a:solidFill>
                  <a:srgbClr val="6B52B1"/>
                </a:solidFill>
                <a:latin typeface="Arial" pitchFamily="34" charset="0"/>
                <a:ea typeface="Arial" pitchFamily="34" charset="-122"/>
                <a:cs typeface="Arial" pitchFamily="34" charset="-120"/>
              </a:rPr>
              <a:t>05 </a:t>
            </a:r>
            <a:pPr algn="l" indent="0" marL="0">
              <a:buNone/>
            </a:pPr>
            <a:r>
              <a:rPr lang="en-US" sz="1800" dirty="0">
                <a:solidFill>
                  <a:srgbClr val="9D9D9D"/>
                </a:solidFill>
                <a:latin typeface="Arial" pitchFamily="34" charset="0"/>
                <a:ea typeface="Arial" pitchFamily="34" charset="-122"/>
                <a:cs typeface="Arial" pitchFamily="34" charset="-120"/>
              </a:rPr>
              <a:t>/ 08</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9673F9">
                  <a:alpha val="8000"/>
                </a:srgbClr>
              </a:gs>
              <a:gs pos="60000">
                <a:srgbClr val="9673F9">
                  <a:alpha val="0"/>
                </a:srgbClr>
              </a:gs>
            </a:gsLst>
            <a:path path="circle">
              <a:fillToRect l="94000" t="100000" r="6000" b="0"/>
            </a:path>
          </a:gradFill>
          <a:ln/>
        </p:spPr>
      </p:sp>
      <p:sp>
        <p:nvSpPr>
          <p:cNvPr id="3" name="Shape 1"/>
          <p:cNvSpPr/>
          <p:nvPr/>
        </p:nvSpPr>
        <p:spPr>
          <a:xfrm>
            <a:off x="952500" y="571500"/>
            <a:ext cx="1266453" cy="542925"/>
          </a:xfrm>
          <a:prstGeom prst="roundRect">
            <a:avLst>
              <a:gd name="adj" fmla="val 50000"/>
            </a:avLst>
          </a:prstGeom>
          <a:solidFill>
            <a:srgbClr val="EDE7FE"/>
          </a:solidFill>
          <a:ln/>
        </p:spPr>
      </p:sp>
      <p:sp>
        <p:nvSpPr>
          <p:cNvPr id="4" name="Shape 2"/>
          <p:cNvSpPr/>
          <p:nvPr/>
        </p:nvSpPr>
        <p:spPr>
          <a:xfrm>
            <a:off x="1162050" y="795338"/>
            <a:ext cx="95250" cy="95250"/>
          </a:xfrm>
          <a:prstGeom prst="ellipse">
            <a:avLst/>
          </a:prstGeom>
          <a:solidFill>
            <a:srgbClr val="9673F9"/>
          </a:solidFill>
          <a:ln/>
        </p:spPr>
      </p:sp>
      <p:sp>
        <p:nvSpPr>
          <p:cNvPr id="5" name="Text 3"/>
          <p:cNvSpPr/>
          <p:nvPr/>
        </p:nvSpPr>
        <p:spPr>
          <a:xfrm>
            <a:off x="1371600" y="676275"/>
            <a:ext cx="714003" cy="371475"/>
          </a:xfrm>
          <a:prstGeom prst="rect">
            <a:avLst/>
          </a:prstGeom>
          <a:noFill/>
          <a:ln/>
        </p:spPr>
        <p:txBody>
          <a:bodyPr wrap="square" lIns="25400" tIns="25400" rIns="25400" bIns="25400" rtlCol="0" anchor="t">
            <a:normAutofit/>
          </a:bodyPr>
          <a:lstStyle/>
          <a:p>
            <a:pPr algn="l" indent="0" marL="0">
              <a:buNone/>
            </a:pPr>
            <a:r>
              <a:rPr lang="en-US" sz="1800" b="1" spc="18" kern="0" dirty="0">
                <a:solidFill>
                  <a:srgbClr val="6B52B1"/>
                </a:solidFill>
                <a:latin typeface="Arial" pitchFamily="34" charset="0"/>
                <a:ea typeface="Arial" pitchFamily="34" charset="-122"/>
                <a:cs typeface="Arial" pitchFamily="34" charset="-120"/>
              </a:rPr>
              <a:t>캠페인</a:t>
            </a:r>
            <a:endParaRPr lang="en-US" sz="1800" dirty="0"/>
          </a:p>
        </p:txBody>
      </p:sp>
      <p:sp>
        <p:nvSpPr>
          <p:cNvPr id="6" name="Text 4"/>
          <p:cNvSpPr/>
          <p:nvPr/>
        </p:nvSpPr>
        <p:spPr>
          <a:xfrm>
            <a:off x="15903848" y="704850"/>
            <a:ext cx="1574817" cy="314325"/>
          </a:xfrm>
          <a:prstGeom prst="rect">
            <a:avLst/>
          </a:prstGeom>
          <a:noFill/>
          <a:ln/>
        </p:spPr>
        <p:txBody>
          <a:bodyPr wrap="square" lIns="25400" tIns="25400" rIns="25400" bIns="25400" rtlCol="0" anchor="t">
            <a:normAutofit/>
          </a:bodyPr>
          <a:lstStyle/>
          <a:p>
            <a:pPr algn="l" indent="0" marL="0">
              <a:buNone/>
            </a:pPr>
            <a:r>
              <a:rPr lang="en-US" sz="1800" b="1" dirty="0">
                <a:solidFill>
                  <a:srgbClr val="8969E3"/>
                </a:solidFill>
                <a:latin typeface="Arial" pitchFamily="34" charset="0"/>
                <a:ea typeface="Arial" pitchFamily="34" charset="-122"/>
                <a:cs typeface="Arial" pitchFamily="34" charset="-120"/>
              </a:rPr>
              <a:t>캠페인 2건 비교</a:t>
            </a:r>
            <a:endParaRPr lang="en-US" sz="1800" dirty="0"/>
          </a:p>
        </p:txBody>
      </p:sp>
      <p:sp>
        <p:nvSpPr>
          <p:cNvPr id="7" name="Text 5"/>
          <p:cNvSpPr/>
          <p:nvPr/>
        </p:nvSpPr>
        <p:spPr>
          <a:xfrm>
            <a:off x="952500" y="1343025"/>
            <a:ext cx="18021300" cy="581397"/>
          </a:xfrm>
          <a:prstGeom prst="rect">
            <a:avLst/>
          </a:prstGeom>
          <a:noFill/>
          <a:ln/>
        </p:spPr>
        <p:txBody>
          <a:bodyPr wrap="square" lIns="25400" tIns="25400" rIns="25400" bIns="25400" rtlCol="0" anchor="t">
            <a:normAutofit/>
          </a:bodyPr>
          <a:lstStyle/>
          <a:p>
            <a:pPr algn="l" indent="0" marL="0">
              <a:lnSpc>
                <a:spcPct val="124000"/>
              </a:lnSpc>
              <a:buNone/>
            </a:pPr>
            <a:r>
              <a:rPr lang="en-US" sz="3450" b="1" spc="-69" kern="0" dirty="0">
                <a:solidFill>
                  <a:srgbClr val="131313"/>
                </a:solidFill>
                <a:latin typeface="Arial" pitchFamily="34" charset="0"/>
                <a:ea typeface="Arial" pitchFamily="34" charset="-122"/>
                <a:cs typeface="Arial" pitchFamily="34" charset="-120"/>
              </a:rPr>
              <a:t>어디부터 착수할지, </a:t>
            </a:r>
            <a:pPr algn="l" indent="0" marL="0">
              <a:lnSpc>
                <a:spcPct val="124000"/>
              </a:lnSpc>
              <a:buNone/>
            </a:pPr>
            <a:r>
              <a:rPr lang="en-US" sz="3450" b="1" spc="-69" kern="0" dirty="0">
                <a:solidFill>
                  <a:srgbClr val="9673F9"/>
                </a:solidFill>
                <a:latin typeface="Arial" pitchFamily="34" charset="0"/>
                <a:ea typeface="Arial" pitchFamily="34" charset="-122"/>
                <a:cs typeface="Arial" pitchFamily="34" charset="-120"/>
              </a:rPr>
              <a:t>표 하나로 판단</a:t>
            </a:r>
            <a:endParaRPr lang="en-US" sz="3450" dirty="0"/>
          </a:p>
        </p:txBody>
      </p:sp>
      <p:sp>
        <p:nvSpPr>
          <p:cNvPr id="8" name="Shape 6"/>
          <p:cNvSpPr/>
          <p:nvPr/>
        </p:nvSpPr>
        <p:spPr>
          <a:xfrm>
            <a:off x="952500" y="3533180"/>
            <a:ext cx="11201400" cy="3038475"/>
          </a:xfrm>
          <a:prstGeom prst="roundRect">
            <a:avLst>
              <a:gd name="adj" fmla="val 5643"/>
            </a:avLst>
          </a:prstGeom>
          <a:ln w="9525">
            <a:solidFill>
              <a:srgbClr val="E7DFFB"/>
            </a:solidFill>
            <a:prstDash val="solid"/>
          </a:ln>
          <a:effectLst>
            <a:outerShdw sx="100000" sy="100000" kx="0" ky="0" algn="bl" rotWithShape="0" blurRad="285750" dist="114300" dir="5400000">
              <a:srgbClr val="6B52B1">
                <a:alpha val="7000"/>
              </a:srgbClr>
            </a:outerShdw>
          </a:effectLst>
        </p:spPr>
      </p:sp>
      <p:sp>
        <p:nvSpPr>
          <p:cNvPr id="9" name="Shape 7"/>
          <p:cNvSpPr/>
          <p:nvPr/>
        </p:nvSpPr>
        <p:spPr>
          <a:xfrm>
            <a:off x="962025" y="3542705"/>
            <a:ext cx="11182350" cy="971550"/>
          </a:xfrm>
          <a:prstGeom prst="rect">
            <a:avLst/>
          </a:prstGeom>
          <a:solidFill>
            <a:srgbClr val="DED4FD"/>
          </a:solidFill>
          <a:ln/>
        </p:spPr>
      </p:sp>
      <p:sp>
        <p:nvSpPr>
          <p:cNvPr id="10" name="Text 8"/>
          <p:cNvSpPr/>
          <p:nvPr/>
        </p:nvSpPr>
        <p:spPr>
          <a:xfrm>
            <a:off x="1133475" y="3695105"/>
            <a:ext cx="3112400" cy="704850"/>
          </a:xfrm>
          <a:prstGeom prst="rect">
            <a:avLst/>
          </a:prstGeom>
          <a:noFill/>
          <a:ln/>
        </p:spPr>
        <p:txBody>
          <a:bodyPr wrap="square" lIns="25400" tIns="25400" rIns="25400" bIns="25400" rtlCol="0" anchor="ctr">
            <a:normAutofit/>
          </a:bodyPr>
          <a:lstStyle/>
          <a:p>
            <a:pPr algn="l" indent="0" marL="0">
              <a:buNone/>
            </a:pPr>
            <a:r>
              <a:rPr lang="en-US" sz="1800" b="1" dirty="0">
                <a:solidFill>
                  <a:srgbClr val="5A429E"/>
                </a:solidFill>
                <a:latin typeface="Arial" pitchFamily="34" charset="0"/>
                <a:ea typeface="Arial" pitchFamily="34" charset="-122"/>
                <a:cs typeface="Arial" pitchFamily="34" charset="-120"/>
              </a:rPr>
              <a:t>캠페인</a:t>
            </a:r>
            <a:endParaRPr lang="en-US" sz="1800" dirty="0"/>
          </a:p>
        </p:txBody>
      </p:sp>
      <p:sp>
        <p:nvSpPr>
          <p:cNvPr id="11" name="Text 9"/>
          <p:cNvSpPr/>
          <p:nvPr/>
        </p:nvSpPr>
        <p:spPr>
          <a:xfrm>
            <a:off x="4373835" y="3695105"/>
            <a:ext cx="1451223" cy="704850"/>
          </a:xfrm>
          <a:prstGeom prst="rect">
            <a:avLst/>
          </a:prstGeom>
          <a:noFill/>
          <a:ln/>
        </p:spPr>
        <p:txBody>
          <a:bodyPr wrap="square" lIns="25400" tIns="25400" rIns="25400" bIns="25400" rtlCol="0" anchor="ctr">
            <a:normAutofit/>
          </a:bodyPr>
          <a:lstStyle/>
          <a:p>
            <a:pPr algn="ctr" indent="0" marL="0">
              <a:buNone/>
            </a:pPr>
            <a:r>
              <a:rPr lang="en-US" sz="1800" b="1" dirty="0">
                <a:solidFill>
                  <a:srgbClr val="5A429E"/>
                </a:solidFill>
                <a:latin typeface="Arial" pitchFamily="34" charset="0"/>
                <a:ea typeface="Arial" pitchFamily="34" charset="-122"/>
                <a:cs typeface="Arial" pitchFamily="34" charset="-120"/>
              </a:rPr>
              <a:t>세그먼트 (실질)</a:t>
            </a:r>
            <a:endParaRPr lang="en-US" sz="1800" dirty="0"/>
          </a:p>
        </p:txBody>
      </p:sp>
      <p:sp>
        <p:nvSpPr>
          <p:cNvPr id="12" name="Text 10"/>
          <p:cNvSpPr/>
          <p:nvPr/>
        </p:nvSpPr>
        <p:spPr>
          <a:xfrm>
            <a:off x="5939358" y="3695105"/>
            <a:ext cx="1674837" cy="704850"/>
          </a:xfrm>
          <a:prstGeom prst="rect">
            <a:avLst/>
          </a:prstGeom>
          <a:noFill/>
          <a:ln/>
        </p:spPr>
        <p:txBody>
          <a:bodyPr wrap="square" lIns="25400" tIns="25400" rIns="25400" bIns="25400" rtlCol="0" anchor="ctr">
            <a:normAutofit/>
          </a:bodyPr>
          <a:lstStyle/>
          <a:p>
            <a:pPr algn="ctr" indent="0" marL="0">
              <a:buNone/>
            </a:pPr>
            <a:r>
              <a:rPr lang="en-US" sz="1800" b="1" dirty="0">
                <a:solidFill>
                  <a:srgbClr val="5A429E"/>
                </a:solidFill>
                <a:latin typeface="Arial" pitchFamily="34" charset="0"/>
                <a:ea typeface="Arial" pitchFamily="34" charset="-122"/>
                <a:cs typeface="Arial" pitchFamily="34" charset="-120"/>
              </a:rPr>
              <a:t>우선순위 '상'</a:t>
            </a:r>
            <a:endParaRPr lang="en-US" sz="1800" dirty="0"/>
          </a:p>
        </p:txBody>
      </p:sp>
      <p:sp>
        <p:nvSpPr>
          <p:cNvPr id="13" name="Text 11"/>
          <p:cNvSpPr/>
          <p:nvPr/>
        </p:nvSpPr>
        <p:spPr>
          <a:xfrm>
            <a:off x="7728496" y="3695105"/>
            <a:ext cx="1562993" cy="704850"/>
          </a:xfrm>
          <a:prstGeom prst="rect">
            <a:avLst/>
          </a:prstGeom>
          <a:noFill/>
          <a:ln/>
        </p:spPr>
        <p:txBody>
          <a:bodyPr wrap="square" lIns="25400" tIns="25400" rIns="25400" bIns="25400" rtlCol="0" anchor="ctr">
            <a:normAutofit/>
          </a:bodyPr>
          <a:lstStyle/>
          <a:p>
            <a:pPr algn="ctr" indent="0" marL="0">
              <a:buNone/>
            </a:pPr>
            <a:r>
              <a:rPr lang="en-US" sz="1800" b="1" dirty="0">
                <a:solidFill>
                  <a:srgbClr val="5A429E"/>
                </a:solidFill>
                <a:latin typeface="Arial" pitchFamily="34" charset="0"/>
                <a:ea typeface="Arial" pitchFamily="34" charset="-122"/>
                <a:cs typeface="Arial" pitchFamily="34" charset="-120"/>
              </a:rPr>
              <a:t>검수 리드</a:t>
            </a:r>
            <a:endParaRPr lang="en-US" sz="1800" dirty="0"/>
          </a:p>
        </p:txBody>
      </p:sp>
      <p:sp>
        <p:nvSpPr>
          <p:cNvPr id="14" name="Text 12"/>
          <p:cNvSpPr/>
          <p:nvPr/>
        </p:nvSpPr>
        <p:spPr>
          <a:xfrm>
            <a:off x="9501039" y="3695105"/>
            <a:ext cx="2574808" cy="704850"/>
          </a:xfrm>
          <a:prstGeom prst="rect">
            <a:avLst/>
          </a:prstGeom>
          <a:noFill/>
          <a:ln/>
        </p:spPr>
        <p:txBody>
          <a:bodyPr wrap="square" lIns="25400" tIns="25400" rIns="25400" bIns="25400" rtlCol="0" anchor="ctr">
            <a:normAutofit/>
          </a:bodyPr>
          <a:lstStyle/>
          <a:p>
            <a:pPr algn="l" indent="0" marL="0">
              <a:buNone/>
            </a:pPr>
            <a:r>
              <a:rPr lang="en-US" sz="1800" b="1" dirty="0">
                <a:solidFill>
                  <a:srgbClr val="5A429E"/>
                </a:solidFill>
                <a:latin typeface="Arial" pitchFamily="34" charset="0"/>
                <a:ea typeface="Arial" pitchFamily="34" charset="-122"/>
                <a:cs typeface="Arial" pitchFamily="34" charset="-120"/>
              </a:rPr>
              <a:t>핵심 리스크</a:t>
            </a:r>
            <a:endParaRPr lang="en-US" sz="1800" dirty="0"/>
          </a:p>
        </p:txBody>
      </p:sp>
      <p:sp>
        <p:nvSpPr>
          <p:cNvPr id="15" name="Shape 13"/>
          <p:cNvSpPr/>
          <p:nvPr/>
        </p:nvSpPr>
        <p:spPr>
          <a:xfrm>
            <a:off x="962025" y="4514255"/>
            <a:ext cx="11182350" cy="1023938"/>
          </a:xfrm>
          <a:prstGeom prst="rect">
            <a:avLst/>
          </a:prstGeom>
          <a:solidFill>
            <a:srgbClr val="FFFFFF"/>
          </a:solidFill>
          <a:ln/>
        </p:spPr>
      </p:sp>
      <p:sp>
        <p:nvSpPr>
          <p:cNvPr id="16" name="Text 14"/>
          <p:cNvSpPr/>
          <p:nvPr/>
        </p:nvSpPr>
        <p:spPr>
          <a:xfrm>
            <a:off x="1133475" y="4704755"/>
            <a:ext cx="3112400" cy="681038"/>
          </a:xfrm>
          <a:prstGeom prst="rect">
            <a:avLst/>
          </a:prstGeom>
          <a:noFill/>
          <a:ln/>
        </p:spPr>
        <p:txBody>
          <a:bodyPr wrap="square" lIns="25400" tIns="25400" rIns="25400" bIns="25400" rtlCol="0" anchor="t">
            <a:normAutofit/>
          </a:bodyPr>
          <a:lstStyle/>
          <a:p>
            <a:pPr algn="l" indent="0" marL="0">
              <a:lnSpc>
                <a:spcPct val="134000"/>
              </a:lnSpc>
              <a:buNone/>
            </a:pPr>
            <a:r>
              <a:rPr lang="en-US" sz="1875" b="1" dirty="0">
                <a:solidFill>
                  <a:srgbClr val="131313"/>
                </a:solidFill>
                <a:latin typeface="Arial" pitchFamily="34" charset="0"/>
                <a:ea typeface="Arial" pitchFamily="34" charset="-122"/>
                <a:cs typeface="Arial" pitchFamily="34" charset="-120"/>
              </a:rPr>
              <a:t>1. 에듀테크 팀장 대상 대회 운영 자동화 전환</a:t>
            </a:r>
            <a:endParaRPr lang="en-US" sz="1875" dirty="0"/>
          </a:p>
        </p:txBody>
      </p:sp>
      <p:sp>
        <p:nvSpPr>
          <p:cNvPr id="17" name="Text 15"/>
          <p:cNvSpPr/>
          <p:nvPr/>
        </p:nvSpPr>
        <p:spPr>
          <a:xfrm>
            <a:off x="4373835" y="4704755"/>
            <a:ext cx="1451223" cy="681038"/>
          </a:xfrm>
          <a:prstGeom prst="rect">
            <a:avLst/>
          </a:prstGeom>
          <a:noFill/>
          <a:ln/>
        </p:spPr>
        <p:txBody>
          <a:bodyPr wrap="square" lIns="25400" tIns="25400" rIns="25400" bIns="25400" rtlCol="0" anchor="t">
            <a:normAutofit/>
          </a:bodyPr>
          <a:lstStyle/>
          <a:p>
            <a:pPr algn="ctr" indent="0" marL="0">
              <a:buNone/>
            </a:pPr>
            <a:r>
              <a:rPr lang="en-US" sz="1875" b="1" dirty="0">
                <a:solidFill>
                  <a:srgbClr val="131313"/>
                </a:solidFill>
                <a:latin typeface="Arial" pitchFamily="34" charset="0"/>
                <a:ea typeface="Arial" pitchFamily="34" charset="-122"/>
                <a:cs typeface="Arial" pitchFamily="34" charset="-120"/>
              </a:rPr>
              <a:t>12건</a:t>
            </a:r>
            <a:endParaRPr lang="en-US" sz="1875" dirty="0"/>
          </a:p>
        </p:txBody>
      </p:sp>
      <p:sp>
        <p:nvSpPr>
          <p:cNvPr id="18" name="Text 16"/>
          <p:cNvSpPr/>
          <p:nvPr/>
        </p:nvSpPr>
        <p:spPr>
          <a:xfrm>
            <a:off x="5939358" y="4704755"/>
            <a:ext cx="1674837" cy="681038"/>
          </a:xfrm>
          <a:prstGeom prst="rect">
            <a:avLst/>
          </a:prstGeom>
          <a:noFill/>
          <a:ln/>
        </p:spPr>
        <p:txBody>
          <a:bodyPr wrap="square" lIns="25400" tIns="25400" rIns="25400" bIns="25400" rtlCol="0" anchor="t">
            <a:normAutofit/>
          </a:bodyPr>
          <a:lstStyle/>
          <a:p>
            <a:pPr algn="ctr" indent="0" marL="0">
              <a:buNone/>
            </a:pPr>
            <a:r>
              <a:rPr lang="en-US" sz="2025" b="1" dirty="0">
                <a:solidFill>
                  <a:srgbClr val="6B52B1"/>
                </a:solidFill>
                <a:latin typeface="Arial" pitchFamily="34" charset="0"/>
                <a:ea typeface="Arial" pitchFamily="34" charset="-122"/>
                <a:cs typeface="Arial" pitchFamily="34" charset="-120"/>
              </a:rPr>
              <a:t>6/12 </a:t>
            </a:r>
            <a:pPr algn="ctr" indent="0" marL="0">
              <a:buNone/>
            </a:pPr>
            <a:r>
              <a:rPr lang="en-US" sz="1800" b="1" dirty="0">
                <a:solidFill>
                  <a:srgbClr val="8969E3"/>
                </a:solidFill>
                <a:latin typeface="Arial" pitchFamily="34" charset="0"/>
                <a:ea typeface="Arial" pitchFamily="34" charset="-122"/>
                <a:cs typeface="Arial" pitchFamily="34" charset="-120"/>
              </a:rPr>
              <a:t>(50%)</a:t>
            </a:r>
            <a:endParaRPr lang="en-US" sz="1200" dirty="0"/>
          </a:p>
        </p:txBody>
      </p:sp>
      <p:sp>
        <p:nvSpPr>
          <p:cNvPr id="19" name="Text 17"/>
          <p:cNvSpPr/>
          <p:nvPr/>
        </p:nvSpPr>
        <p:spPr>
          <a:xfrm>
            <a:off x="7728496" y="4704755"/>
            <a:ext cx="1562993" cy="681038"/>
          </a:xfrm>
          <a:prstGeom prst="rect">
            <a:avLst/>
          </a:prstGeom>
          <a:noFill/>
          <a:ln/>
        </p:spPr>
        <p:txBody>
          <a:bodyPr wrap="square" lIns="25400" tIns="25400" rIns="25400" bIns="25400" rtlCol="0" anchor="t">
            <a:normAutofit/>
          </a:bodyPr>
          <a:lstStyle/>
          <a:p>
            <a:pPr algn="ctr" indent="0" marL="0">
              <a:buNone/>
            </a:pPr>
            <a:r>
              <a:rPr lang="en-US" sz="1875" b="1" dirty="0">
                <a:solidFill>
                  <a:srgbClr val="131313"/>
                </a:solidFill>
                <a:latin typeface="Arial" pitchFamily="34" charset="0"/>
                <a:ea typeface="Arial" pitchFamily="34" charset="-122"/>
                <a:cs typeface="Arial" pitchFamily="34" charset="-120"/>
              </a:rPr>
              <a:t>1건 </a:t>
            </a:r>
            <a:pPr algn="ctr" indent="0" marL="0">
              <a:buNone/>
            </a:pPr>
            <a:r>
              <a:rPr lang="en-US" sz="1800" dirty="0">
                <a:solidFill>
                  <a:srgbClr val="8969E3"/>
                </a:solidFill>
                <a:latin typeface="Courier New" pitchFamily="34" charset="0"/>
                <a:ea typeface="Courier New" pitchFamily="34" charset="-122"/>
                <a:cs typeface="Courier New" pitchFamily="34" charset="-120"/>
              </a:rPr>
              <a:t>L033</a:t>
            </a:r>
            <a:endParaRPr lang="en-US" sz="1200" dirty="0"/>
          </a:p>
        </p:txBody>
      </p:sp>
      <p:sp>
        <p:nvSpPr>
          <p:cNvPr id="20" name="Text 18"/>
          <p:cNvSpPr/>
          <p:nvPr/>
        </p:nvSpPr>
        <p:spPr>
          <a:xfrm>
            <a:off x="9501039" y="4704755"/>
            <a:ext cx="2574808" cy="681038"/>
          </a:xfrm>
          <a:prstGeom prst="rect">
            <a:avLst/>
          </a:prstGeom>
          <a:noFill/>
          <a:ln/>
        </p:spPr>
        <p:txBody>
          <a:bodyPr wrap="square" lIns="25400" tIns="25400" rIns="25400" bIns="25400" rtlCol="0" anchor="t">
            <a:normAutofit/>
          </a:bodyPr>
          <a:lstStyle/>
          <a:p>
            <a:pPr algn="l" indent="0" marL="0">
              <a:lnSpc>
                <a:spcPct val="138000"/>
              </a:lnSpc>
              <a:buNone/>
            </a:pPr>
            <a:r>
              <a:rPr lang="en-US" sz="1800" dirty="0">
                <a:solidFill>
                  <a:srgbClr val="585858"/>
                </a:solidFill>
                <a:latin typeface="Arial" pitchFamily="34" charset="0"/>
                <a:ea typeface="Arial" pitchFamily="34" charset="-122"/>
                <a:cs typeface="Arial" pitchFamily="34" charset="-120"/>
              </a:rPr>
              <a:t>영업팀 확인 24h 초과 시 골든타임 이탈</a:t>
            </a:r>
            <a:endParaRPr lang="en-US" sz="1800" dirty="0"/>
          </a:p>
        </p:txBody>
      </p:sp>
      <p:sp>
        <p:nvSpPr>
          <p:cNvPr id="21" name="Shape 19"/>
          <p:cNvSpPr/>
          <p:nvPr/>
        </p:nvSpPr>
        <p:spPr>
          <a:xfrm>
            <a:off x="962025" y="5538192"/>
            <a:ext cx="11182350" cy="1023938"/>
          </a:xfrm>
          <a:prstGeom prst="rect">
            <a:avLst/>
          </a:prstGeom>
          <a:solidFill>
            <a:srgbClr val="FBFAFE"/>
          </a:solidFill>
          <a:ln/>
        </p:spPr>
      </p:sp>
      <p:sp>
        <p:nvSpPr>
          <p:cNvPr id="22" name="Shape 20"/>
          <p:cNvSpPr/>
          <p:nvPr/>
        </p:nvSpPr>
        <p:spPr>
          <a:xfrm>
            <a:off x="962025" y="5538192"/>
            <a:ext cx="11182350" cy="9525"/>
          </a:xfrm>
          <a:prstGeom prst="rect">
            <a:avLst/>
          </a:prstGeom>
          <a:solidFill>
            <a:srgbClr val="EFEAFB"/>
          </a:solidFill>
          <a:ln/>
        </p:spPr>
      </p:sp>
      <p:sp>
        <p:nvSpPr>
          <p:cNvPr id="23" name="Text 21"/>
          <p:cNvSpPr/>
          <p:nvPr/>
        </p:nvSpPr>
        <p:spPr>
          <a:xfrm>
            <a:off x="1133475" y="5728692"/>
            <a:ext cx="3112400" cy="681038"/>
          </a:xfrm>
          <a:prstGeom prst="rect">
            <a:avLst/>
          </a:prstGeom>
          <a:noFill/>
          <a:ln/>
        </p:spPr>
        <p:txBody>
          <a:bodyPr wrap="square" lIns="25400" tIns="25400" rIns="25400" bIns="25400" rtlCol="0" anchor="t">
            <a:normAutofit/>
          </a:bodyPr>
          <a:lstStyle/>
          <a:p>
            <a:pPr algn="l" indent="0" marL="0">
              <a:lnSpc>
                <a:spcPct val="134000"/>
              </a:lnSpc>
              <a:buNone/>
            </a:pPr>
            <a:r>
              <a:rPr lang="en-US" sz="1875" b="1" dirty="0">
                <a:solidFill>
                  <a:srgbClr val="131313"/>
                </a:solidFill>
                <a:latin typeface="Arial" pitchFamily="34" charset="0"/>
                <a:ea typeface="Arial" pitchFamily="34" charset="-122"/>
                <a:cs typeface="Arial" pitchFamily="34" charset="-120"/>
              </a:rPr>
              <a:t>2. 사업개발 대상 파트너십 제안</a:t>
            </a:r>
            <a:endParaRPr lang="en-US" sz="1875" dirty="0"/>
          </a:p>
        </p:txBody>
      </p:sp>
      <p:sp>
        <p:nvSpPr>
          <p:cNvPr id="24" name="Text 22"/>
          <p:cNvSpPr/>
          <p:nvPr/>
        </p:nvSpPr>
        <p:spPr>
          <a:xfrm>
            <a:off x="4373835" y="5728692"/>
            <a:ext cx="1451223" cy="681038"/>
          </a:xfrm>
          <a:prstGeom prst="rect">
            <a:avLst/>
          </a:prstGeom>
          <a:noFill/>
          <a:ln/>
        </p:spPr>
        <p:txBody>
          <a:bodyPr wrap="square" lIns="25400" tIns="25400" rIns="25400" bIns="25400" rtlCol="0" anchor="t">
            <a:normAutofit/>
          </a:bodyPr>
          <a:lstStyle/>
          <a:p>
            <a:pPr algn="ctr" indent="0" marL="0">
              <a:buNone/>
            </a:pPr>
            <a:r>
              <a:rPr lang="en-US" sz="1875" b="1" dirty="0">
                <a:solidFill>
                  <a:srgbClr val="131313"/>
                </a:solidFill>
                <a:latin typeface="Arial" pitchFamily="34" charset="0"/>
                <a:ea typeface="Arial" pitchFamily="34" charset="-122"/>
                <a:cs typeface="Arial" pitchFamily="34" charset="-120"/>
              </a:rPr>
              <a:t>12건 </a:t>
            </a:r>
            <a:pPr algn="ctr" indent="0" marL="0">
              <a:buNone/>
            </a:pPr>
            <a:r>
              <a:rPr lang="en-US" sz="1800" dirty="0">
                <a:solidFill>
                  <a:srgbClr val="9D9D9D"/>
                </a:solidFill>
                <a:latin typeface="Arial" pitchFamily="34" charset="0"/>
                <a:ea typeface="Arial" pitchFamily="34" charset="-122"/>
                <a:cs typeface="Arial" pitchFamily="34" charset="-120"/>
              </a:rPr>
              <a:t>(실질 11)</a:t>
            </a:r>
            <a:endParaRPr lang="en-US" sz="1875" dirty="0"/>
          </a:p>
        </p:txBody>
      </p:sp>
      <p:sp>
        <p:nvSpPr>
          <p:cNvPr id="25" name="Text 23"/>
          <p:cNvSpPr/>
          <p:nvPr/>
        </p:nvSpPr>
        <p:spPr>
          <a:xfrm>
            <a:off x="5939358" y="5728692"/>
            <a:ext cx="1674837" cy="681038"/>
          </a:xfrm>
          <a:prstGeom prst="rect">
            <a:avLst/>
          </a:prstGeom>
          <a:noFill/>
          <a:ln/>
        </p:spPr>
        <p:txBody>
          <a:bodyPr wrap="square" lIns="25400" tIns="25400" rIns="25400" bIns="25400" rtlCol="0" anchor="t">
            <a:normAutofit/>
          </a:bodyPr>
          <a:lstStyle/>
          <a:p>
            <a:pPr algn="ctr" indent="0" marL="0">
              <a:buNone/>
            </a:pPr>
            <a:r>
              <a:rPr lang="en-US" sz="2025" b="1" dirty="0">
                <a:solidFill>
                  <a:srgbClr val="6B52B1"/>
                </a:solidFill>
                <a:latin typeface="Arial" pitchFamily="34" charset="0"/>
                <a:ea typeface="Arial" pitchFamily="34" charset="-122"/>
                <a:cs typeface="Arial" pitchFamily="34" charset="-120"/>
              </a:rPr>
              <a:t>5/11 </a:t>
            </a:r>
            <a:pPr algn="ctr" indent="0" marL="0">
              <a:buNone/>
            </a:pPr>
            <a:r>
              <a:rPr lang="en-US" sz="1800" b="1" dirty="0">
                <a:solidFill>
                  <a:srgbClr val="8969E3"/>
                </a:solidFill>
                <a:latin typeface="Arial" pitchFamily="34" charset="0"/>
                <a:ea typeface="Arial" pitchFamily="34" charset="-122"/>
                <a:cs typeface="Arial" pitchFamily="34" charset="-120"/>
              </a:rPr>
              <a:t>(45.5%)</a:t>
            </a:r>
            <a:endParaRPr lang="en-US" sz="1200" dirty="0"/>
          </a:p>
        </p:txBody>
      </p:sp>
      <p:sp>
        <p:nvSpPr>
          <p:cNvPr id="26" name="Text 24"/>
          <p:cNvSpPr/>
          <p:nvPr/>
        </p:nvSpPr>
        <p:spPr>
          <a:xfrm>
            <a:off x="7728496" y="5728692"/>
            <a:ext cx="1562993" cy="681038"/>
          </a:xfrm>
          <a:prstGeom prst="rect">
            <a:avLst/>
          </a:prstGeom>
          <a:noFill/>
          <a:ln/>
        </p:spPr>
        <p:txBody>
          <a:bodyPr wrap="square" lIns="25400" tIns="25400" rIns="25400" bIns="25400" rtlCol="0" anchor="t">
            <a:normAutofit/>
          </a:bodyPr>
          <a:lstStyle/>
          <a:p>
            <a:pPr algn="ctr" indent="0" marL="0">
              <a:buNone/>
            </a:pPr>
            <a:r>
              <a:rPr lang="en-US" sz="1875" b="1" dirty="0">
                <a:solidFill>
                  <a:srgbClr val="131313"/>
                </a:solidFill>
                <a:latin typeface="Arial" pitchFamily="34" charset="0"/>
                <a:ea typeface="Arial" pitchFamily="34" charset="-122"/>
                <a:cs typeface="Arial" pitchFamily="34" charset="-120"/>
              </a:rPr>
              <a:t>1건 </a:t>
            </a:r>
            <a:pPr algn="ctr" indent="0" marL="0">
              <a:buNone/>
            </a:pPr>
            <a:r>
              <a:rPr lang="en-US" sz="1800" dirty="0">
                <a:solidFill>
                  <a:srgbClr val="8969E3"/>
                </a:solidFill>
                <a:latin typeface="Courier New" pitchFamily="34" charset="0"/>
                <a:ea typeface="Courier New" pitchFamily="34" charset="-122"/>
                <a:cs typeface="Courier New" pitchFamily="34" charset="-120"/>
              </a:rPr>
              <a:t>L046</a:t>
            </a:r>
            <a:endParaRPr lang="en-US" sz="1200" dirty="0"/>
          </a:p>
        </p:txBody>
      </p:sp>
      <p:sp>
        <p:nvSpPr>
          <p:cNvPr id="27" name="Text 25"/>
          <p:cNvSpPr/>
          <p:nvPr/>
        </p:nvSpPr>
        <p:spPr>
          <a:xfrm>
            <a:off x="9501039" y="5728692"/>
            <a:ext cx="2574808" cy="681038"/>
          </a:xfrm>
          <a:prstGeom prst="rect">
            <a:avLst/>
          </a:prstGeom>
          <a:noFill/>
          <a:ln/>
        </p:spPr>
        <p:txBody>
          <a:bodyPr wrap="square" lIns="25400" tIns="25400" rIns="25400" bIns="25400" rtlCol="0" anchor="t">
            <a:normAutofit/>
          </a:bodyPr>
          <a:lstStyle/>
          <a:p>
            <a:pPr algn="l" indent="0" marL="0">
              <a:lnSpc>
                <a:spcPct val="138000"/>
              </a:lnSpc>
              <a:buNone/>
            </a:pPr>
            <a:r>
              <a:rPr lang="en-US" sz="1800" dirty="0">
                <a:solidFill>
                  <a:srgbClr val="585858"/>
                </a:solidFill>
                <a:latin typeface="Arial" pitchFamily="34" charset="0"/>
                <a:ea typeface="Arial" pitchFamily="34" charset="-122"/>
                <a:cs typeface="Arial" pitchFamily="34" charset="-120"/>
              </a:rPr>
              <a:t>사업개발팀 24h 내 보강 못 하면 이탈</a:t>
            </a:r>
            <a:endParaRPr lang="en-US" sz="1800" dirty="0"/>
          </a:p>
        </p:txBody>
      </p:sp>
      <p:sp>
        <p:nvSpPr>
          <p:cNvPr id="28" name="Shape 26"/>
          <p:cNvSpPr/>
          <p:nvPr/>
        </p:nvSpPr>
        <p:spPr>
          <a:xfrm>
            <a:off x="952500" y="6781205"/>
            <a:ext cx="11201400" cy="1020663"/>
          </a:xfrm>
          <a:prstGeom prst="roundRect">
            <a:avLst>
              <a:gd name="adj" fmla="val 14931"/>
            </a:avLst>
          </a:prstGeom>
          <a:solidFill>
            <a:srgbClr val="F9F6FF"/>
          </a:solidFill>
          <a:ln w="9525">
            <a:solidFill>
              <a:srgbClr val="EEE8FB"/>
            </a:solidFill>
            <a:prstDash val="solid"/>
          </a:ln>
        </p:spPr>
      </p:sp>
      <p:sp>
        <p:nvSpPr>
          <p:cNvPr id="29" name="Shape 27"/>
          <p:cNvSpPr/>
          <p:nvPr/>
        </p:nvSpPr>
        <p:spPr>
          <a:xfrm>
            <a:off x="1190625" y="7058174"/>
            <a:ext cx="706413" cy="466725"/>
          </a:xfrm>
          <a:prstGeom prst="roundRect">
            <a:avLst>
              <a:gd name="adj" fmla="val 50000"/>
            </a:avLst>
          </a:prstGeom>
          <a:solidFill>
            <a:srgbClr val="EDE7FE"/>
          </a:solidFill>
          <a:ln/>
        </p:spPr>
      </p:sp>
      <p:sp>
        <p:nvSpPr>
          <p:cNvPr id="30" name="Text 28"/>
          <p:cNvSpPr/>
          <p:nvPr/>
        </p:nvSpPr>
        <p:spPr>
          <a:xfrm>
            <a:off x="1333500" y="7124849"/>
            <a:ext cx="496863"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6B52B1"/>
                </a:solidFill>
                <a:latin typeface="Arial" pitchFamily="34" charset="0"/>
                <a:ea typeface="Arial" pitchFamily="34" charset="-122"/>
                <a:cs typeface="Arial" pitchFamily="34" charset="-120"/>
              </a:rPr>
              <a:t>근거</a:t>
            </a:r>
            <a:endParaRPr lang="en-US" sz="1800" dirty="0"/>
          </a:p>
        </p:txBody>
      </p:sp>
      <p:sp>
        <p:nvSpPr>
          <p:cNvPr id="31" name="Text 29"/>
          <p:cNvSpPr/>
          <p:nvPr/>
        </p:nvSpPr>
        <p:spPr>
          <a:xfrm>
            <a:off x="2049438" y="6962180"/>
            <a:ext cx="10162327" cy="696813"/>
          </a:xfrm>
          <a:prstGeom prst="rect">
            <a:avLst/>
          </a:prstGeom>
          <a:noFill/>
          <a:ln/>
        </p:spPr>
        <p:txBody>
          <a:bodyPr wrap="square" lIns="25400" tIns="25400" rIns="25400" bIns="25400" rtlCol="0" anchor="t">
            <a:normAutofit/>
          </a:bodyPr>
          <a:lstStyle/>
          <a:p>
            <a:pPr algn="l" indent="0" marL="0">
              <a:lnSpc>
                <a:spcPct val="142000"/>
              </a:lnSpc>
              <a:buNone/>
            </a:pPr>
            <a:r>
              <a:rPr lang="en-US" sz="1800" dirty="0">
                <a:solidFill>
                  <a:srgbClr val="585858"/>
                </a:solidFill>
                <a:latin typeface="Arial" pitchFamily="34" charset="0"/>
                <a:ea typeface="Arial" pitchFamily="34" charset="-122"/>
                <a:cs typeface="Arial" pitchFamily="34" charset="-120"/>
              </a:rPr>
              <a:t>세그먼트는 근거 리드·대표 상담 인용으로 뒷받침. 새 리드 스코어링 없이 </a:t>
            </a:r>
            <a:pPr algn="l" indent="0" marL="0">
              <a:lnSpc>
                <a:spcPct val="142000"/>
              </a:lnSpc>
              <a:buNone/>
            </a:pPr>
            <a:r>
              <a:rPr lang="en-US" sz="1800" dirty="0">
                <a:solidFill>
                  <a:srgbClr val="6B52B1"/>
                </a:solidFill>
                <a:latin typeface="Courier New" pitchFamily="34" charset="0"/>
                <a:ea typeface="Courier New" pitchFamily="34" charset="-122"/>
                <a:cs typeface="Courier New" pitchFamily="34" charset="-120"/>
              </a:rPr>
              <a:t>follow_up_priority </a:t>
            </a:r>
            <a:pPr algn="l" indent="0" marL="0">
              <a:lnSpc>
                <a:spcPct val="142000"/>
              </a:lnSpc>
              <a:buNone/>
            </a:pPr>
            <a:r>
              <a:rPr lang="en-US" sz="1800" dirty="0">
                <a:solidFill>
                  <a:srgbClr val="585858"/>
                </a:solidFill>
                <a:latin typeface="Arial" pitchFamily="34" charset="0"/>
                <a:ea typeface="Arial" pitchFamily="34" charset="-122"/>
                <a:cs typeface="Arial" pitchFamily="34" charset="-120"/>
              </a:rPr>
              <a:t>입력값·실제 리드 수만 사용 </a:t>
            </a:r>
            <a:pPr algn="l" indent="0" marL="0">
              <a:lnSpc>
                <a:spcPct val="142000"/>
              </a:lnSpc>
              <a:buNone/>
            </a:pPr>
            <a:r>
              <a:rPr lang="en-US" sz="1800" b="1" dirty="0">
                <a:solidFill>
                  <a:srgbClr val="6B52B1"/>
                </a:solidFill>
                <a:latin typeface="Arial" pitchFamily="34" charset="0"/>
                <a:ea typeface="Arial" pitchFamily="34" charset="-122"/>
                <a:cs typeface="Arial" pitchFamily="34" charset="-120"/>
              </a:rPr>
              <a:t>(발제 준수)</a:t>
            </a:r>
            <a:pPr algn="l" indent="0" marL="0">
              <a:lnSpc>
                <a:spcPct val="142000"/>
              </a:lnSpc>
              <a:buNone/>
            </a:pPr>
            <a:r>
              <a:rPr lang="en-US" sz="1800" dirty="0">
                <a:solidFill>
                  <a:srgbClr val="585858"/>
                </a:solidFill>
                <a:latin typeface="Arial" pitchFamily="34" charset="0"/>
                <a:ea typeface="Arial" pitchFamily="34" charset="-122"/>
                <a:cs typeface="Arial" pitchFamily="34" charset="-120"/>
              </a:rPr>
              <a:t>.</a:t>
            </a:r>
            <a:endParaRPr lang="en-US" sz="1800" dirty="0"/>
          </a:p>
        </p:txBody>
      </p:sp>
      <p:sp>
        <p:nvSpPr>
          <p:cNvPr id="32" name="Shape 30"/>
          <p:cNvSpPr/>
          <p:nvPr/>
        </p:nvSpPr>
        <p:spPr>
          <a:xfrm>
            <a:off x="12573000" y="2955280"/>
            <a:ext cx="4762500" cy="5424488"/>
          </a:xfrm>
          <a:prstGeom prst="roundRect">
            <a:avLst>
              <a:gd name="adj" fmla="val 4000"/>
            </a:avLst>
          </a:prstGeom>
          <a:solidFill>
            <a:srgbClr val="FFFFFF"/>
          </a:solidFill>
          <a:ln w="9525">
            <a:solidFill>
              <a:srgbClr val="EEE8FB"/>
            </a:solidFill>
            <a:prstDash val="solid"/>
          </a:ln>
          <a:effectLst>
            <a:outerShdw sx="100000" sy="100000" kx="0" ky="0" algn="bl" rotWithShape="0" blurRad="304800" dist="133350" dir="5400000">
              <a:srgbClr val="6B52B1">
                <a:alpha val="9000"/>
              </a:srgbClr>
            </a:outerShdw>
          </a:effectLst>
        </p:spPr>
      </p:sp>
      <p:sp>
        <p:nvSpPr>
          <p:cNvPr id="33" name="Text 31"/>
          <p:cNvSpPr/>
          <p:nvPr/>
        </p:nvSpPr>
        <p:spPr>
          <a:xfrm>
            <a:off x="12830175" y="3212455"/>
            <a:ext cx="4672965"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8969E3"/>
                </a:solidFill>
                <a:latin typeface="Arial" pitchFamily="34" charset="0"/>
                <a:ea typeface="Arial" pitchFamily="34" charset="-122"/>
                <a:cs typeface="Arial" pitchFamily="34" charset="-120"/>
              </a:rPr>
              <a:t>완성도 · 정적 HTML 시각화</a:t>
            </a:r>
            <a:endParaRPr lang="en-US" sz="1800" dirty="0"/>
          </a:p>
        </p:txBody>
      </p:sp>
      <p:sp>
        <p:nvSpPr>
          <p:cNvPr id="34" name="Text 32"/>
          <p:cNvSpPr/>
          <p:nvPr/>
        </p:nvSpPr>
        <p:spPr>
          <a:xfrm>
            <a:off x="12830175" y="3593455"/>
            <a:ext cx="4672965" cy="319088"/>
          </a:xfrm>
          <a:prstGeom prst="rect">
            <a:avLst/>
          </a:prstGeom>
          <a:noFill/>
          <a:ln/>
        </p:spPr>
        <p:txBody>
          <a:bodyPr wrap="square" lIns="25400" tIns="25400" rIns="25400" bIns="25400" rtlCol="0" anchor="t">
            <a:normAutofit/>
          </a:bodyPr>
          <a:lstStyle/>
          <a:p>
            <a:pPr algn="l" indent="0" marL="0">
              <a:buNone/>
            </a:pPr>
            <a:r>
              <a:rPr lang="en-US" sz="1875" b="1" dirty="0">
                <a:solidFill>
                  <a:srgbClr val="131313"/>
                </a:solidFill>
                <a:latin typeface="Courier New" pitchFamily="34" charset="0"/>
                <a:ea typeface="Courier New" pitchFamily="34" charset="-122"/>
                <a:cs typeface="Courier New" pitchFamily="34" charset="-120"/>
              </a:rPr>
              <a:t>campaign_plan_preview.html</a:t>
            </a:r>
            <a:endParaRPr lang="en-US" sz="1875" dirty="0"/>
          </a:p>
        </p:txBody>
      </p:sp>
      <p:sp>
        <p:nvSpPr>
          <p:cNvPr id="35" name="Shape 33"/>
          <p:cNvSpPr/>
          <p:nvPr/>
        </p:nvSpPr>
        <p:spPr>
          <a:xfrm>
            <a:off x="12830175" y="4045893"/>
            <a:ext cx="4248150" cy="2867025"/>
          </a:xfrm>
          <a:prstGeom prst="roundRect">
            <a:avLst>
              <a:gd name="adj" fmla="val 3987"/>
            </a:avLst>
          </a:prstGeom>
          <a:ln w="9525">
            <a:solidFill>
              <a:srgbClr val="E3D9FB"/>
            </a:solidFill>
            <a:prstDash val="solid"/>
          </a:ln>
          <a:effectLst>
            <a:outerShdw sx="100000" sy="100000" kx="0" ky="0" algn="bl" rotWithShape="0" blurRad="228600" dist="95250" dir="5400000">
              <a:srgbClr val="6B52B1">
                <a:alpha val="13000"/>
              </a:srgbClr>
            </a:outerShdw>
          </a:effectLst>
        </p:spPr>
      </p:sp>
      <p:sp>
        <p:nvSpPr>
          <p:cNvPr id="36" name="Shape 34"/>
          <p:cNvSpPr/>
          <p:nvPr/>
        </p:nvSpPr>
        <p:spPr>
          <a:xfrm>
            <a:off x="12839700" y="4055418"/>
            <a:ext cx="4229100" cy="428625"/>
          </a:xfrm>
          <a:prstGeom prst="rect">
            <a:avLst/>
          </a:prstGeom>
          <a:solidFill>
            <a:srgbClr val="F1EBFE"/>
          </a:solidFill>
          <a:ln/>
        </p:spPr>
      </p:sp>
      <p:sp>
        <p:nvSpPr>
          <p:cNvPr id="37" name="Shape 35"/>
          <p:cNvSpPr/>
          <p:nvPr/>
        </p:nvSpPr>
        <p:spPr>
          <a:xfrm>
            <a:off x="12839700" y="4474518"/>
            <a:ext cx="4229100" cy="9525"/>
          </a:xfrm>
          <a:prstGeom prst="rect">
            <a:avLst/>
          </a:prstGeom>
          <a:solidFill>
            <a:srgbClr val="E7DFFB"/>
          </a:solidFill>
          <a:ln/>
        </p:spPr>
      </p:sp>
      <p:sp>
        <p:nvSpPr>
          <p:cNvPr id="38" name="Shape 36"/>
          <p:cNvSpPr/>
          <p:nvPr/>
        </p:nvSpPr>
        <p:spPr>
          <a:xfrm>
            <a:off x="12973050" y="4212580"/>
            <a:ext cx="104775" cy="104775"/>
          </a:xfrm>
          <a:prstGeom prst="ellipse">
            <a:avLst/>
          </a:prstGeom>
          <a:solidFill>
            <a:srgbClr val="C7B6F5"/>
          </a:solidFill>
          <a:ln/>
        </p:spPr>
      </p:sp>
      <p:sp>
        <p:nvSpPr>
          <p:cNvPr id="39" name="Shape 37"/>
          <p:cNvSpPr/>
          <p:nvPr/>
        </p:nvSpPr>
        <p:spPr>
          <a:xfrm>
            <a:off x="13144500" y="4212580"/>
            <a:ext cx="104775" cy="104775"/>
          </a:xfrm>
          <a:prstGeom prst="ellipse">
            <a:avLst/>
          </a:prstGeom>
          <a:solidFill>
            <a:srgbClr val="D8CCF6"/>
          </a:solidFill>
          <a:ln/>
        </p:spPr>
      </p:sp>
      <p:sp>
        <p:nvSpPr>
          <p:cNvPr id="40" name="Shape 38"/>
          <p:cNvSpPr/>
          <p:nvPr/>
        </p:nvSpPr>
        <p:spPr>
          <a:xfrm>
            <a:off x="13315950" y="4212580"/>
            <a:ext cx="104775" cy="104775"/>
          </a:xfrm>
          <a:prstGeom prst="ellipse">
            <a:avLst/>
          </a:prstGeom>
          <a:solidFill>
            <a:srgbClr val="E4DCF8"/>
          </a:solidFill>
          <a:ln/>
        </p:spPr>
      </p:sp>
      <p:sp>
        <p:nvSpPr>
          <p:cNvPr id="41" name="Shape 39"/>
          <p:cNvSpPr/>
          <p:nvPr/>
        </p:nvSpPr>
        <p:spPr>
          <a:xfrm>
            <a:off x="13544550" y="4160193"/>
            <a:ext cx="3390900" cy="209550"/>
          </a:xfrm>
          <a:prstGeom prst="roundRect">
            <a:avLst>
              <a:gd name="adj" fmla="val 31818"/>
            </a:avLst>
          </a:prstGeom>
          <a:solidFill>
            <a:srgbClr val="FFFFFF"/>
          </a:solidFill>
          <a:ln w="9525">
            <a:solidFill>
              <a:srgbClr val="E7DFFB"/>
            </a:solidFill>
            <a:prstDash val="solid"/>
          </a:ln>
        </p:spPr>
      </p:sp>
      <p:sp>
        <p:nvSpPr>
          <p:cNvPr id="42" name="Shape 40"/>
          <p:cNvSpPr/>
          <p:nvPr/>
        </p:nvSpPr>
        <p:spPr>
          <a:xfrm>
            <a:off x="12839700" y="4484043"/>
            <a:ext cx="4229100" cy="2419350"/>
          </a:xfrm>
          <a:prstGeom prst="rect">
            <a:avLst/>
          </a:prstGeom>
          <a:solidFill>
            <a:srgbClr val="FFFFFF"/>
          </a:solidFill>
          <a:ln/>
        </p:spPr>
      </p:sp>
      <p:sp>
        <p:nvSpPr>
          <p:cNvPr id="43" name="Shape 41"/>
          <p:cNvSpPr/>
          <p:nvPr/>
        </p:nvSpPr>
        <p:spPr>
          <a:xfrm>
            <a:off x="12992100" y="4636443"/>
            <a:ext cx="914400" cy="247650"/>
          </a:xfrm>
          <a:prstGeom prst="roundRect">
            <a:avLst>
              <a:gd name="adj" fmla="val 50000"/>
            </a:avLst>
          </a:prstGeom>
          <a:solidFill>
            <a:srgbClr val="9673F9"/>
          </a:solidFill>
          <a:ln/>
        </p:spPr>
      </p:sp>
      <p:sp>
        <p:nvSpPr>
          <p:cNvPr id="44" name="Shape 42"/>
          <p:cNvSpPr/>
          <p:nvPr/>
        </p:nvSpPr>
        <p:spPr>
          <a:xfrm>
            <a:off x="13982700" y="4636443"/>
            <a:ext cx="704850" cy="247650"/>
          </a:xfrm>
          <a:prstGeom prst="roundRect">
            <a:avLst>
              <a:gd name="adj" fmla="val 50000"/>
            </a:avLst>
          </a:prstGeom>
          <a:solidFill>
            <a:srgbClr val="EDE7FE"/>
          </a:solidFill>
          <a:ln w="9525">
            <a:solidFill>
              <a:srgbClr val="DDD1F7"/>
            </a:solidFill>
            <a:prstDash val="solid"/>
          </a:ln>
        </p:spPr>
      </p:sp>
      <p:pic>
        <p:nvPicPr>
          <p:cNvPr id="4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6725900" y="4665018"/>
            <a:ext cx="190500" cy="190500"/>
          </a:xfrm>
          <a:prstGeom prst="rect">
            <a:avLst/>
          </a:prstGeom>
        </p:spPr>
      </p:pic>
      <p:sp>
        <p:nvSpPr>
          <p:cNvPr id="46" name="Shape 43"/>
          <p:cNvSpPr/>
          <p:nvPr/>
        </p:nvSpPr>
        <p:spPr>
          <a:xfrm>
            <a:off x="12992100" y="5007918"/>
            <a:ext cx="552450" cy="266700"/>
          </a:xfrm>
          <a:prstGeom prst="roundRect">
            <a:avLst>
              <a:gd name="adj" fmla="val 28571"/>
            </a:avLst>
          </a:prstGeom>
          <a:solidFill>
            <a:srgbClr val="EDE7FE"/>
          </a:solidFill>
          <a:ln/>
        </p:spPr>
      </p:sp>
      <p:sp>
        <p:nvSpPr>
          <p:cNvPr id="47" name="Shape 44"/>
          <p:cNvSpPr/>
          <p:nvPr/>
        </p:nvSpPr>
        <p:spPr>
          <a:xfrm>
            <a:off x="13620750" y="5007918"/>
            <a:ext cx="457200" cy="266700"/>
          </a:xfrm>
          <a:prstGeom prst="roundRect">
            <a:avLst>
              <a:gd name="adj" fmla="val 28571"/>
            </a:avLst>
          </a:prstGeom>
          <a:solidFill>
            <a:srgbClr val="EDE7FE"/>
          </a:solidFill>
          <a:ln/>
        </p:spPr>
      </p:sp>
      <p:sp>
        <p:nvSpPr>
          <p:cNvPr id="48" name="Shape 45"/>
          <p:cNvSpPr/>
          <p:nvPr/>
        </p:nvSpPr>
        <p:spPr>
          <a:xfrm>
            <a:off x="14154150" y="5007918"/>
            <a:ext cx="628650" cy="266700"/>
          </a:xfrm>
          <a:prstGeom prst="roundRect">
            <a:avLst>
              <a:gd name="adj" fmla="val 28571"/>
            </a:avLst>
          </a:prstGeom>
          <a:solidFill>
            <a:srgbClr val="9673F9"/>
          </a:solidFill>
          <a:ln/>
        </p:spPr>
      </p:sp>
      <p:sp>
        <p:nvSpPr>
          <p:cNvPr id="49" name="Shape 46"/>
          <p:cNvSpPr/>
          <p:nvPr/>
        </p:nvSpPr>
        <p:spPr>
          <a:xfrm>
            <a:off x="14859000" y="5007918"/>
            <a:ext cx="495300" cy="266700"/>
          </a:xfrm>
          <a:prstGeom prst="roundRect">
            <a:avLst>
              <a:gd name="adj" fmla="val 28571"/>
            </a:avLst>
          </a:prstGeom>
          <a:solidFill>
            <a:srgbClr val="EDE7FE"/>
          </a:solidFill>
          <a:ln/>
        </p:spPr>
      </p:sp>
      <p:sp>
        <p:nvSpPr>
          <p:cNvPr id="50" name="Shape 47"/>
          <p:cNvSpPr/>
          <p:nvPr/>
        </p:nvSpPr>
        <p:spPr>
          <a:xfrm>
            <a:off x="15430500" y="5007918"/>
            <a:ext cx="419100" cy="266700"/>
          </a:xfrm>
          <a:prstGeom prst="roundRect">
            <a:avLst>
              <a:gd name="adj" fmla="val 28571"/>
            </a:avLst>
          </a:prstGeom>
          <a:solidFill>
            <a:srgbClr val="EDE7FE"/>
          </a:solidFill>
          <a:ln/>
        </p:spPr>
      </p:sp>
      <p:sp>
        <p:nvSpPr>
          <p:cNvPr id="51" name="Shape 48"/>
          <p:cNvSpPr/>
          <p:nvPr/>
        </p:nvSpPr>
        <p:spPr>
          <a:xfrm>
            <a:off x="12992100" y="5398443"/>
            <a:ext cx="3924300" cy="1352550"/>
          </a:xfrm>
          <a:prstGeom prst="roundRect">
            <a:avLst>
              <a:gd name="adj" fmla="val 7042"/>
            </a:avLst>
          </a:prstGeom>
          <a:solidFill>
            <a:srgbClr val="F9F6FF"/>
          </a:solidFill>
          <a:ln w="9525">
            <a:solidFill>
              <a:srgbClr val="EDE7FB"/>
            </a:solidFill>
            <a:prstDash val="solid"/>
          </a:ln>
        </p:spPr>
      </p:sp>
      <p:sp>
        <p:nvSpPr>
          <p:cNvPr id="52" name="Shape 49"/>
          <p:cNvSpPr/>
          <p:nvPr/>
        </p:nvSpPr>
        <p:spPr>
          <a:xfrm>
            <a:off x="13134975" y="5541318"/>
            <a:ext cx="2110308" cy="123825"/>
          </a:xfrm>
          <a:prstGeom prst="roundRect">
            <a:avLst>
              <a:gd name="adj" fmla="val 30769"/>
            </a:avLst>
          </a:prstGeom>
          <a:solidFill>
            <a:srgbClr val="CBBCEF"/>
          </a:solidFill>
          <a:ln/>
        </p:spPr>
      </p:sp>
      <p:sp>
        <p:nvSpPr>
          <p:cNvPr id="53" name="Shape 50"/>
          <p:cNvSpPr/>
          <p:nvPr/>
        </p:nvSpPr>
        <p:spPr>
          <a:xfrm>
            <a:off x="13134975" y="5750868"/>
            <a:ext cx="3638550" cy="104775"/>
          </a:xfrm>
          <a:prstGeom prst="roundRect">
            <a:avLst>
              <a:gd name="adj" fmla="val 36364"/>
            </a:avLst>
          </a:prstGeom>
          <a:solidFill>
            <a:srgbClr val="E1D8F6"/>
          </a:solidFill>
          <a:ln/>
        </p:spPr>
      </p:sp>
      <p:sp>
        <p:nvSpPr>
          <p:cNvPr id="54" name="Shape 51"/>
          <p:cNvSpPr/>
          <p:nvPr/>
        </p:nvSpPr>
        <p:spPr>
          <a:xfrm>
            <a:off x="13134975" y="5941368"/>
            <a:ext cx="3347442" cy="104775"/>
          </a:xfrm>
          <a:prstGeom prst="roundRect">
            <a:avLst>
              <a:gd name="adj" fmla="val 36364"/>
            </a:avLst>
          </a:prstGeom>
          <a:solidFill>
            <a:srgbClr val="E1D8F6"/>
          </a:solidFill>
          <a:ln/>
        </p:spPr>
      </p:sp>
      <p:sp>
        <p:nvSpPr>
          <p:cNvPr id="55" name="Shape 52"/>
          <p:cNvSpPr/>
          <p:nvPr/>
        </p:nvSpPr>
        <p:spPr>
          <a:xfrm>
            <a:off x="13134975" y="6131868"/>
            <a:ext cx="2765227" cy="104775"/>
          </a:xfrm>
          <a:prstGeom prst="roundRect">
            <a:avLst>
              <a:gd name="adj" fmla="val 36364"/>
            </a:avLst>
          </a:prstGeom>
          <a:solidFill>
            <a:srgbClr val="E1D8F6"/>
          </a:solidFill>
          <a:ln/>
        </p:spPr>
      </p:sp>
      <p:sp>
        <p:nvSpPr>
          <p:cNvPr id="56" name="Shape 53"/>
          <p:cNvSpPr/>
          <p:nvPr/>
        </p:nvSpPr>
        <p:spPr>
          <a:xfrm>
            <a:off x="13134975" y="6360468"/>
            <a:ext cx="1455390" cy="247650"/>
          </a:xfrm>
          <a:prstGeom prst="roundRect">
            <a:avLst>
              <a:gd name="adj" fmla="val 30769"/>
            </a:avLst>
          </a:prstGeom>
          <a:solidFill>
            <a:srgbClr val="9673F9"/>
          </a:solidFill>
          <a:ln/>
        </p:spPr>
      </p:sp>
      <p:pic>
        <p:nvPicPr>
          <p:cNvPr id="5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830175" y="7117705"/>
            <a:ext cx="209550" cy="209550"/>
          </a:xfrm>
          <a:prstGeom prst="rect">
            <a:avLst/>
          </a:prstGeom>
        </p:spPr>
      </p:pic>
      <p:sp>
        <p:nvSpPr>
          <p:cNvPr id="58" name="Text 54"/>
          <p:cNvSpPr/>
          <p:nvPr/>
        </p:nvSpPr>
        <p:spPr>
          <a:xfrm>
            <a:off x="13144500" y="7084368"/>
            <a:ext cx="3702650" cy="314325"/>
          </a:xfrm>
          <a:prstGeom prst="rect">
            <a:avLst/>
          </a:prstGeom>
          <a:noFill/>
          <a:ln/>
        </p:spPr>
        <p:txBody>
          <a:bodyPr wrap="square" lIns="25400" tIns="25400" rIns="25400" bIns="25400" rtlCol="0" anchor="t">
            <a:normAutofit/>
          </a:bodyPr>
          <a:lstStyle/>
          <a:p>
            <a:pPr algn="l" indent="0" marL="0">
              <a:buNone/>
            </a:pPr>
            <a:r>
              <a:rPr lang="en-US" sz="1800" dirty="0">
                <a:solidFill>
                  <a:srgbClr val="585858"/>
                </a:solidFill>
                <a:latin typeface="Arial" pitchFamily="34" charset="0"/>
                <a:ea typeface="Arial" pitchFamily="34" charset="-122"/>
                <a:cs typeface="Arial" pitchFamily="34" charset="-120"/>
              </a:rPr>
              <a:t>리드 칩 클릭 → 실제 이메일 초안 펼침</a:t>
            </a:r>
            <a:endParaRPr lang="en-US" sz="1800" dirty="0"/>
          </a:p>
        </p:txBody>
      </p:sp>
      <p:pic>
        <p:nvPicPr>
          <p:cNvPr id="5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2830175" y="7498705"/>
            <a:ext cx="209550" cy="209550"/>
          </a:xfrm>
          <a:prstGeom prst="rect">
            <a:avLst/>
          </a:prstGeom>
        </p:spPr>
      </p:pic>
      <p:sp>
        <p:nvSpPr>
          <p:cNvPr id="60" name="Text 55"/>
          <p:cNvSpPr/>
          <p:nvPr/>
        </p:nvSpPr>
        <p:spPr>
          <a:xfrm>
            <a:off x="13144500" y="7465368"/>
            <a:ext cx="1866305" cy="314325"/>
          </a:xfrm>
          <a:prstGeom prst="rect">
            <a:avLst/>
          </a:prstGeom>
          <a:noFill/>
          <a:ln/>
        </p:spPr>
        <p:txBody>
          <a:bodyPr wrap="square" lIns="25400" tIns="25400" rIns="25400" bIns="25400" rtlCol="0" anchor="t">
            <a:normAutofit/>
          </a:bodyPr>
          <a:lstStyle/>
          <a:p>
            <a:pPr algn="l" indent="0" marL="0">
              <a:buNone/>
            </a:pPr>
            <a:r>
              <a:rPr lang="en-US" sz="1800" dirty="0">
                <a:solidFill>
                  <a:srgbClr val="585858"/>
                </a:solidFill>
                <a:latin typeface="Arial" pitchFamily="34" charset="0"/>
                <a:ea typeface="Arial" pitchFamily="34" charset="-122"/>
                <a:cs typeface="Arial" pitchFamily="34" charset="-120"/>
              </a:rPr>
              <a:t>우선순위·검수 필터</a:t>
            </a:r>
            <a:endParaRPr lang="en-US" sz="1800" dirty="0"/>
          </a:p>
        </p:txBody>
      </p:sp>
      <p:pic>
        <p:nvPicPr>
          <p:cNvPr id="61"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2830175" y="7879705"/>
            <a:ext cx="209550" cy="209550"/>
          </a:xfrm>
          <a:prstGeom prst="rect">
            <a:avLst/>
          </a:prstGeom>
        </p:spPr>
      </p:pic>
      <p:sp>
        <p:nvSpPr>
          <p:cNvPr id="62" name="Text 56"/>
          <p:cNvSpPr/>
          <p:nvPr/>
        </p:nvSpPr>
        <p:spPr>
          <a:xfrm>
            <a:off x="13144500" y="7846368"/>
            <a:ext cx="1644067" cy="314325"/>
          </a:xfrm>
          <a:prstGeom prst="rect">
            <a:avLst/>
          </a:prstGeom>
          <a:noFill/>
          <a:ln/>
        </p:spPr>
        <p:txBody>
          <a:bodyPr wrap="square" lIns="25400" tIns="25400" rIns="25400" bIns="25400" rtlCol="0" anchor="t">
            <a:normAutofit/>
          </a:bodyPr>
          <a:lstStyle/>
          <a:p>
            <a:pPr algn="l" indent="0" marL="0">
              <a:buNone/>
            </a:pPr>
            <a:r>
              <a:rPr lang="en-US" sz="1800" dirty="0">
                <a:solidFill>
                  <a:srgbClr val="585858"/>
                </a:solidFill>
                <a:latin typeface="Arial" pitchFamily="34" charset="0"/>
                <a:ea typeface="Arial" pitchFamily="34" charset="-122"/>
                <a:cs typeface="Arial" pitchFamily="34" charset="-120"/>
              </a:rPr>
              <a:t>인쇄 스타일 지원</a:t>
            </a:r>
            <a:endParaRPr lang="en-US" sz="1800" dirty="0"/>
          </a:p>
        </p:txBody>
      </p:sp>
      <p:sp>
        <p:nvSpPr>
          <p:cNvPr id="63" name="Shape 57"/>
          <p:cNvSpPr/>
          <p:nvPr/>
        </p:nvSpPr>
        <p:spPr>
          <a:xfrm>
            <a:off x="952500" y="9372600"/>
            <a:ext cx="16383000" cy="9525"/>
          </a:xfrm>
          <a:prstGeom prst="rect">
            <a:avLst/>
          </a:prstGeom>
          <a:solidFill>
            <a:srgbClr val="ECECEC"/>
          </a:solidFill>
          <a:ln/>
        </p:spPr>
      </p:sp>
      <p:sp>
        <p:nvSpPr>
          <p:cNvPr id="64" name="Text 58"/>
          <p:cNvSpPr/>
          <p:nvPr/>
        </p:nvSpPr>
        <p:spPr>
          <a:xfrm>
            <a:off x="952500" y="9534525"/>
            <a:ext cx="2574764" cy="314325"/>
          </a:xfrm>
          <a:prstGeom prst="rect">
            <a:avLst/>
          </a:prstGeom>
          <a:noFill/>
          <a:ln/>
        </p:spPr>
        <p:txBody>
          <a:bodyPr wrap="square" lIns="25400" tIns="25400" rIns="25400" bIns="25400" rtlCol="0" anchor="t">
            <a:normAutofit/>
          </a:bodyPr>
          <a:lstStyle/>
          <a:p>
            <a:pPr algn="l" indent="0" marL="0">
              <a:buNone/>
            </a:pPr>
            <a:r>
              <a:rPr lang="en-US" sz="1800" dirty="0">
                <a:solidFill>
                  <a:srgbClr val="9D9D9D"/>
                </a:solidFill>
                <a:latin typeface="Arial" pitchFamily="34" charset="0"/>
                <a:ea typeface="Arial" pitchFamily="34" charset="-122"/>
                <a:cs typeface="Arial" pitchFamily="34" charset="-120"/>
              </a:rPr>
              <a:t>키즐링 후속 이메일 자동화</a:t>
            </a:r>
            <a:endParaRPr lang="en-US" sz="1800" dirty="0"/>
          </a:p>
        </p:txBody>
      </p:sp>
      <p:sp>
        <p:nvSpPr>
          <p:cNvPr id="65" name="Text 59"/>
          <p:cNvSpPr/>
          <p:nvPr/>
        </p:nvSpPr>
        <p:spPr>
          <a:xfrm>
            <a:off x="16607954" y="9534525"/>
            <a:ext cx="803746" cy="314325"/>
          </a:xfrm>
          <a:prstGeom prst="rect">
            <a:avLst/>
          </a:prstGeom>
          <a:noFill/>
          <a:ln/>
        </p:spPr>
        <p:txBody>
          <a:bodyPr wrap="square" lIns="25400" tIns="25400" rIns="25400" bIns="25400" rtlCol="0" anchor="t">
            <a:normAutofit/>
          </a:bodyPr>
          <a:lstStyle/>
          <a:p>
            <a:pPr algn="l" indent="0" marL="0">
              <a:buNone/>
            </a:pPr>
            <a:r>
              <a:rPr lang="en-US" sz="1800" b="1" dirty="0">
                <a:solidFill>
                  <a:srgbClr val="6B52B1"/>
                </a:solidFill>
                <a:latin typeface="Arial" pitchFamily="34" charset="0"/>
                <a:ea typeface="Arial" pitchFamily="34" charset="-122"/>
                <a:cs typeface="Arial" pitchFamily="34" charset="-120"/>
              </a:rPr>
              <a:t>06 </a:t>
            </a:r>
            <a:pPr algn="l" indent="0" marL="0">
              <a:buNone/>
            </a:pPr>
            <a:r>
              <a:rPr lang="en-US" sz="1800" dirty="0">
                <a:solidFill>
                  <a:srgbClr val="9D9D9D"/>
                </a:solidFill>
                <a:latin typeface="Arial" pitchFamily="34" charset="0"/>
                <a:ea typeface="Arial" pitchFamily="34" charset="-122"/>
                <a:cs typeface="Arial" pitchFamily="34" charset="-120"/>
              </a:rPr>
              <a:t>/ 08</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9673F9">
                  <a:alpha val="8000"/>
                </a:srgbClr>
              </a:gs>
              <a:gs pos="60000">
                <a:srgbClr val="9673F9">
                  <a:alpha val="0"/>
                </a:srgbClr>
              </a:gs>
            </a:gsLst>
            <a:path path="circle">
              <a:fillToRect l="94000" t="100000" r="6000" b="0"/>
            </a:path>
          </a:gradFill>
          <a:ln/>
        </p:spPr>
      </p:sp>
      <p:sp>
        <p:nvSpPr>
          <p:cNvPr id="3" name="Shape 1"/>
          <p:cNvSpPr/>
          <p:nvPr/>
        </p:nvSpPr>
        <p:spPr>
          <a:xfrm>
            <a:off x="952500" y="571500"/>
            <a:ext cx="1266453" cy="542925"/>
          </a:xfrm>
          <a:prstGeom prst="roundRect">
            <a:avLst>
              <a:gd name="adj" fmla="val 50000"/>
            </a:avLst>
          </a:prstGeom>
          <a:solidFill>
            <a:srgbClr val="EDE7FE"/>
          </a:solidFill>
          <a:ln/>
        </p:spPr>
      </p:sp>
      <p:sp>
        <p:nvSpPr>
          <p:cNvPr id="4" name="Shape 2"/>
          <p:cNvSpPr/>
          <p:nvPr/>
        </p:nvSpPr>
        <p:spPr>
          <a:xfrm>
            <a:off x="1162050" y="795338"/>
            <a:ext cx="95250" cy="95250"/>
          </a:xfrm>
          <a:prstGeom prst="ellipse">
            <a:avLst/>
          </a:prstGeom>
          <a:solidFill>
            <a:srgbClr val="9673F9"/>
          </a:solidFill>
          <a:ln/>
        </p:spPr>
      </p:sp>
      <p:sp>
        <p:nvSpPr>
          <p:cNvPr id="5" name="Text 3"/>
          <p:cNvSpPr/>
          <p:nvPr/>
        </p:nvSpPr>
        <p:spPr>
          <a:xfrm>
            <a:off x="1371600" y="676275"/>
            <a:ext cx="714003" cy="371475"/>
          </a:xfrm>
          <a:prstGeom prst="rect">
            <a:avLst/>
          </a:prstGeom>
          <a:noFill/>
          <a:ln/>
        </p:spPr>
        <p:txBody>
          <a:bodyPr wrap="square" lIns="25400" tIns="25400" rIns="25400" bIns="25400" rtlCol="0" anchor="t">
            <a:normAutofit/>
          </a:bodyPr>
          <a:lstStyle/>
          <a:p>
            <a:pPr algn="l" indent="0" marL="0">
              <a:buNone/>
            </a:pPr>
            <a:r>
              <a:rPr lang="en-US" sz="1800" b="1" spc="18" kern="0" dirty="0">
                <a:solidFill>
                  <a:srgbClr val="6B52B1"/>
                </a:solidFill>
                <a:latin typeface="Arial" pitchFamily="34" charset="0"/>
                <a:ea typeface="Arial" pitchFamily="34" charset="-122"/>
                <a:cs typeface="Arial" pitchFamily="34" charset="-120"/>
              </a:rPr>
              <a:t>재현성</a:t>
            </a:r>
            <a:endParaRPr lang="en-US" sz="1800" dirty="0"/>
          </a:p>
        </p:txBody>
      </p:sp>
      <p:sp>
        <p:nvSpPr>
          <p:cNvPr id="6" name="Text 4"/>
          <p:cNvSpPr/>
          <p:nvPr/>
        </p:nvSpPr>
        <p:spPr>
          <a:xfrm>
            <a:off x="16056099" y="704850"/>
            <a:ext cx="1407341" cy="314325"/>
          </a:xfrm>
          <a:prstGeom prst="rect">
            <a:avLst/>
          </a:prstGeom>
          <a:noFill/>
          <a:ln/>
        </p:spPr>
        <p:txBody>
          <a:bodyPr wrap="square" lIns="25400" tIns="25400" rIns="25400" bIns="25400" rtlCol="0" anchor="t">
            <a:normAutofit/>
          </a:bodyPr>
          <a:lstStyle/>
          <a:p>
            <a:pPr algn="l" indent="0" marL="0">
              <a:buNone/>
            </a:pPr>
            <a:r>
              <a:rPr lang="en-US" sz="1800" b="1" dirty="0">
                <a:solidFill>
                  <a:srgbClr val="8969E3"/>
                </a:solidFill>
                <a:latin typeface="Arial" pitchFamily="34" charset="0"/>
                <a:ea typeface="Arial" pitchFamily="34" charset="-122"/>
                <a:cs typeface="Arial" pitchFamily="34" charset="-120"/>
              </a:rPr>
              <a:t>Skill 8개 체인</a:t>
            </a:r>
            <a:endParaRPr lang="en-US" sz="1800" dirty="0"/>
          </a:p>
        </p:txBody>
      </p:sp>
      <p:sp>
        <p:nvSpPr>
          <p:cNvPr id="7" name="Text 5"/>
          <p:cNvSpPr/>
          <p:nvPr/>
        </p:nvSpPr>
        <p:spPr>
          <a:xfrm>
            <a:off x="952500" y="1343025"/>
            <a:ext cx="18021300" cy="557733"/>
          </a:xfrm>
          <a:prstGeom prst="rect">
            <a:avLst/>
          </a:prstGeom>
          <a:noFill/>
          <a:ln/>
        </p:spPr>
        <p:txBody>
          <a:bodyPr wrap="square" lIns="25400" tIns="25400" rIns="25400" bIns="25400" rtlCol="0" anchor="t">
            <a:normAutofit/>
          </a:bodyPr>
          <a:lstStyle/>
          <a:p>
            <a:pPr algn="l" indent="0" marL="0">
              <a:lnSpc>
                <a:spcPct val="124000"/>
              </a:lnSpc>
              <a:buNone/>
            </a:pPr>
            <a:r>
              <a:rPr lang="en-US" sz="3300" b="1" spc="-66" kern="0" dirty="0">
                <a:solidFill>
                  <a:srgbClr val="131313"/>
                </a:solidFill>
                <a:latin typeface="Arial" pitchFamily="34" charset="0"/>
                <a:ea typeface="Arial" pitchFamily="34" charset="-122"/>
                <a:cs typeface="Arial" pitchFamily="34" charset="-120"/>
              </a:rPr>
              <a:t>새 박람회 CSV만 갈아 끼우면, </a:t>
            </a:r>
            <a:pPr algn="l" indent="0" marL="0">
              <a:lnSpc>
                <a:spcPct val="124000"/>
              </a:lnSpc>
              <a:buNone/>
            </a:pPr>
            <a:r>
              <a:rPr lang="en-US" sz="3300" b="1" spc="-66" kern="0" dirty="0">
                <a:solidFill>
                  <a:srgbClr val="9673F9"/>
                </a:solidFill>
                <a:latin typeface="Arial" pitchFamily="34" charset="0"/>
                <a:ea typeface="Arial" pitchFamily="34" charset="-122"/>
                <a:cs typeface="Arial" pitchFamily="34" charset="-120"/>
              </a:rPr>
              <a:t>같은 품질로 다시</a:t>
            </a:r>
            <a:endParaRPr lang="en-US" sz="3300" dirty="0"/>
          </a:p>
        </p:txBody>
      </p:sp>
      <p:sp>
        <p:nvSpPr>
          <p:cNvPr id="8" name="Shape 6"/>
          <p:cNvSpPr/>
          <p:nvPr/>
        </p:nvSpPr>
        <p:spPr>
          <a:xfrm>
            <a:off x="952500" y="3114303"/>
            <a:ext cx="16383000" cy="771525"/>
          </a:xfrm>
          <a:prstGeom prst="roundRect">
            <a:avLst>
              <a:gd name="adj" fmla="val 19753"/>
            </a:avLst>
          </a:prstGeom>
          <a:solidFill>
            <a:srgbClr val="F6F2FE"/>
          </a:solidFill>
          <a:ln w="14288">
            <a:solidFill>
              <a:srgbClr val="C7B6F5"/>
            </a:solidFill>
            <a:prstDash val="solid"/>
          </a:ln>
        </p:spPr>
      </p:sp>
      <p:sp>
        <p:nvSpPr>
          <p:cNvPr id="9" name="Shape 7"/>
          <p:cNvSpPr/>
          <p:nvPr/>
        </p:nvSpPr>
        <p:spPr>
          <a:xfrm>
            <a:off x="1195388" y="3280990"/>
            <a:ext cx="438150" cy="438150"/>
          </a:xfrm>
          <a:prstGeom prst="roundRect">
            <a:avLst>
              <a:gd name="adj" fmla="val 28261"/>
            </a:avLst>
          </a:prstGeom>
          <a:solidFill>
            <a:srgbClr val="FFFFFF"/>
          </a:solidFill>
          <a:ln w="9525">
            <a:solidFill>
              <a:srgbClr val="E0D4FA"/>
            </a:solidFill>
            <a:prstDash val="solid"/>
          </a:ln>
        </p:spPr>
      </p:sp>
      <p:pic>
        <p:nvPicPr>
          <p:cNvPr id="10"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300163" y="3385765"/>
            <a:ext cx="228600" cy="228600"/>
          </a:xfrm>
          <a:prstGeom prst="rect">
            <a:avLst/>
          </a:prstGeom>
        </p:spPr>
      </p:pic>
      <p:sp>
        <p:nvSpPr>
          <p:cNvPr id="11" name="Text 8"/>
          <p:cNvSpPr/>
          <p:nvPr/>
        </p:nvSpPr>
        <p:spPr>
          <a:xfrm>
            <a:off x="1785938" y="3347665"/>
            <a:ext cx="2644177" cy="342900"/>
          </a:xfrm>
          <a:prstGeom prst="rect">
            <a:avLst/>
          </a:prstGeom>
          <a:noFill/>
          <a:ln/>
        </p:spPr>
        <p:txBody>
          <a:bodyPr wrap="square" lIns="25400" tIns="25400" rIns="25400" bIns="25400" rtlCol="0" anchor="t">
            <a:normAutofit/>
          </a:bodyPr>
          <a:lstStyle/>
          <a:p>
            <a:pPr algn="l" indent="0" marL="0">
              <a:buNone/>
            </a:pPr>
            <a:r>
              <a:rPr lang="en-US" sz="2025" b="1" dirty="0">
                <a:solidFill>
                  <a:srgbClr val="6B52B1"/>
                </a:solidFill>
                <a:latin typeface="Courier New" pitchFamily="34" charset="0"/>
                <a:ea typeface="Courier New" pitchFamily="34" charset="-122"/>
                <a:cs typeface="Courier New" pitchFamily="34" charset="-120"/>
              </a:rPr>
              <a:t>kizzling-followup</a:t>
            </a:r>
            <a:endParaRPr lang="en-US" sz="2025" dirty="0"/>
          </a:p>
        </p:txBody>
      </p:sp>
      <p:sp>
        <p:nvSpPr>
          <p:cNvPr id="12" name="Shape 9"/>
          <p:cNvSpPr/>
          <p:nvPr/>
        </p:nvSpPr>
        <p:spPr>
          <a:xfrm>
            <a:off x="4342135" y="3285753"/>
            <a:ext cx="1757958" cy="428625"/>
          </a:xfrm>
          <a:prstGeom prst="roundRect">
            <a:avLst>
              <a:gd name="adj" fmla="val 50000"/>
            </a:avLst>
          </a:prstGeom>
          <a:solidFill>
            <a:srgbClr val="9673F9"/>
          </a:solidFill>
          <a:ln/>
        </p:spPr>
      </p:sp>
      <p:sp>
        <p:nvSpPr>
          <p:cNvPr id="13" name="Text 10"/>
          <p:cNvSpPr/>
          <p:nvPr/>
        </p:nvSpPr>
        <p:spPr>
          <a:xfrm>
            <a:off x="4485010" y="3333378"/>
            <a:ext cx="1548408"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FFFFFF"/>
                </a:solidFill>
                <a:latin typeface="Arial" pitchFamily="34" charset="0"/>
                <a:ea typeface="Arial" pitchFamily="34" charset="-122"/>
                <a:cs typeface="Arial" pitchFamily="34" charset="-120"/>
              </a:rPr>
              <a:t>오케스트레이터</a:t>
            </a:r>
            <a:endParaRPr lang="en-US" sz="1800" dirty="0"/>
          </a:p>
        </p:txBody>
      </p:sp>
      <p:sp>
        <p:nvSpPr>
          <p:cNvPr id="14" name="Text 11"/>
          <p:cNvSpPr/>
          <p:nvPr/>
        </p:nvSpPr>
        <p:spPr>
          <a:xfrm>
            <a:off x="15371192" y="3361953"/>
            <a:ext cx="1893563" cy="314325"/>
          </a:xfrm>
          <a:prstGeom prst="rect">
            <a:avLst/>
          </a:prstGeom>
          <a:noFill/>
          <a:ln/>
        </p:spPr>
        <p:txBody>
          <a:bodyPr wrap="square" lIns="25400" tIns="25400" rIns="25400" bIns="25400" rtlCol="0" anchor="t">
            <a:normAutofit/>
          </a:bodyPr>
          <a:lstStyle/>
          <a:p>
            <a:pPr algn="l" indent="0" marL="0">
              <a:buNone/>
            </a:pPr>
            <a:r>
              <a:rPr lang="en-US" sz="1800" dirty="0">
                <a:solidFill>
                  <a:srgbClr val="9D9D9D"/>
                </a:solidFill>
                <a:latin typeface="Arial" pitchFamily="34" charset="0"/>
                <a:ea typeface="Arial" pitchFamily="34" charset="-122"/>
                <a:cs typeface="Arial" pitchFamily="34" charset="-120"/>
              </a:rPr>
              <a:t>8개 Skill 실행·조율</a:t>
            </a:r>
            <a:endParaRPr lang="en-US" sz="1800" dirty="0"/>
          </a:p>
        </p:txBody>
      </p:sp>
      <p:pic>
        <p:nvPicPr>
          <p:cNvPr id="15"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020175" y="3942978"/>
            <a:ext cx="247650" cy="247650"/>
          </a:xfrm>
          <a:prstGeom prst="rect">
            <a:avLst/>
          </a:prstGeom>
        </p:spPr>
      </p:pic>
      <p:sp>
        <p:nvSpPr>
          <p:cNvPr id="16" name="Shape 12"/>
          <p:cNvSpPr/>
          <p:nvPr/>
        </p:nvSpPr>
        <p:spPr>
          <a:xfrm>
            <a:off x="952500" y="4247778"/>
            <a:ext cx="3738563" cy="1298823"/>
          </a:xfrm>
          <a:prstGeom prst="roundRect">
            <a:avLst>
              <a:gd name="adj" fmla="val 11734"/>
            </a:avLst>
          </a:prstGeom>
          <a:solidFill>
            <a:srgbClr val="FFFFFF"/>
          </a:solidFill>
          <a:ln w="9525">
            <a:solidFill>
              <a:srgbClr val="EEE8FB"/>
            </a:solidFill>
            <a:prstDash val="solid"/>
          </a:ln>
          <a:effectLst>
            <a:outerShdw sx="100000" sy="100000" kx="0" ky="0" algn="bl" rotWithShape="0" blurRad="228600" dist="95250" dir="5400000">
              <a:srgbClr val="6B52B1">
                <a:alpha val="6000"/>
              </a:srgbClr>
            </a:outerShdw>
          </a:effectLst>
        </p:spPr>
      </p:sp>
      <p:sp>
        <p:nvSpPr>
          <p:cNvPr id="17" name="Shape 13"/>
          <p:cNvSpPr/>
          <p:nvPr/>
        </p:nvSpPr>
        <p:spPr>
          <a:xfrm>
            <a:off x="1133475" y="4409703"/>
            <a:ext cx="285750" cy="285750"/>
          </a:xfrm>
          <a:prstGeom prst="roundRect">
            <a:avLst>
              <a:gd name="adj" fmla="val 30000"/>
            </a:avLst>
          </a:prstGeom>
          <a:solidFill>
            <a:srgbClr val="EDE7FE"/>
          </a:solidFill>
          <a:ln/>
        </p:spPr>
      </p:sp>
      <p:sp>
        <p:nvSpPr>
          <p:cNvPr id="18" name="Text 14"/>
          <p:cNvSpPr/>
          <p:nvPr/>
        </p:nvSpPr>
        <p:spPr>
          <a:xfrm>
            <a:off x="1095375" y="4409703"/>
            <a:ext cx="361950" cy="323850"/>
          </a:xfrm>
          <a:prstGeom prst="rect">
            <a:avLst/>
          </a:prstGeom>
          <a:noFill/>
          <a:ln/>
        </p:spPr>
        <p:txBody>
          <a:bodyPr wrap="square" lIns="25400" tIns="25400" rIns="25400" bIns="25400" rtlCol="0" anchor="ctr">
            <a:normAutofit/>
          </a:bodyPr>
          <a:lstStyle/>
          <a:p>
            <a:pPr algn="ctr" indent="0" marL="0">
              <a:buNone/>
            </a:pPr>
            <a:r>
              <a:rPr lang="en-US" sz="1800" b="1" dirty="0">
                <a:solidFill>
                  <a:srgbClr val="6B52B1"/>
                </a:solidFill>
                <a:latin typeface="Arial" pitchFamily="34" charset="0"/>
                <a:ea typeface="Arial" pitchFamily="34" charset="-122"/>
                <a:cs typeface="Arial" pitchFamily="34" charset="-120"/>
              </a:rPr>
              <a:t>1</a:t>
            </a:r>
            <a:endParaRPr lang="en-US" sz="1800" dirty="0"/>
          </a:p>
        </p:txBody>
      </p:sp>
      <p:sp>
        <p:nvSpPr>
          <p:cNvPr id="19" name="Text 15"/>
          <p:cNvSpPr/>
          <p:nvPr/>
        </p:nvSpPr>
        <p:spPr>
          <a:xfrm>
            <a:off x="1514475" y="4419228"/>
            <a:ext cx="1797301"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6B52B1"/>
                </a:solidFill>
                <a:latin typeface="Courier New" pitchFamily="34" charset="0"/>
                <a:ea typeface="Courier New" pitchFamily="34" charset="-122"/>
                <a:cs typeface="Courier New" pitchFamily="34" charset="-120"/>
              </a:rPr>
              <a:t>analyze-leads</a:t>
            </a:r>
            <a:endParaRPr lang="en-US" sz="1800" dirty="0"/>
          </a:p>
        </p:txBody>
      </p:sp>
      <p:sp>
        <p:nvSpPr>
          <p:cNvPr id="20" name="Text 16"/>
          <p:cNvSpPr/>
          <p:nvPr/>
        </p:nvSpPr>
        <p:spPr>
          <a:xfrm>
            <a:off x="1133475" y="4781178"/>
            <a:ext cx="3714274" cy="339849"/>
          </a:xfrm>
          <a:prstGeom prst="rect">
            <a:avLst/>
          </a:prstGeom>
          <a:noFill/>
          <a:ln/>
        </p:spPr>
        <p:txBody>
          <a:bodyPr wrap="square" lIns="25400" tIns="25400" rIns="25400" bIns="25400" rtlCol="0" anchor="t">
            <a:normAutofit/>
          </a:bodyPr>
          <a:lstStyle/>
          <a:p>
            <a:pPr algn="l" indent="0" marL="0">
              <a:lnSpc>
                <a:spcPct val="132000"/>
              </a:lnSpc>
              <a:buNone/>
            </a:pPr>
            <a:r>
              <a:rPr lang="en-US" sz="1800" dirty="0">
                <a:solidFill>
                  <a:srgbClr val="585858"/>
                </a:solidFill>
                <a:latin typeface="Arial" pitchFamily="34" charset="0"/>
                <a:ea typeface="Arial" pitchFamily="34" charset="-122"/>
                <a:cs typeface="Arial" pitchFamily="34" charset="-120"/>
              </a:rPr>
              <a:t>리드 분석 · 분포·결측·모호·중복</a:t>
            </a:r>
            <a:endParaRPr lang="en-US" sz="1800" dirty="0"/>
          </a:p>
        </p:txBody>
      </p:sp>
      <p:pic>
        <p:nvPicPr>
          <p:cNvPr id="2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805363" y="4773364"/>
            <a:ext cx="247650" cy="247650"/>
          </a:xfrm>
          <a:prstGeom prst="rect">
            <a:avLst/>
          </a:prstGeom>
        </p:spPr>
      </p:pic>
      <p:sp>
        <p:nvSpPr>
          <p:cNvPr id="22" name="Shape 17"/>
          <p:cNvSpPr/>
          <p:nvPr/>
        </p:nvSpPr>
        <p:spPr>
          <a:xfrm>
            <a:off x="5167313" y="4247778"/>
            <a:ext cx="3738563" cy="1298823"/>
          </a:xfrm>
          <a:prstGeom prst="roundRect">
            <a:avLst>
              <a:gd name="adj" fmla="val 11734"/>
            </a:avLst>
          </a:prstGeom>
          <a:solidFill>
            <a:srgbClr val="FFFFFF"/>
          </a:solidFill>
          <a:ln w="9525">
            <a:solidFill>
              <a:srgbClr val="EEE8FB"/>
            </a:solidFill>
            <a:prstDash val="solid"/>
          </a:ln>
          <a:effectLst>
            <a:outerShdw sx="100000" sy="100000" kx="0" ky="0" algn="bl" rotWithShape="0" blurRad="228600" dist="95250" dir="5400000">
              <a:srgbClr val="6B52B1">
                <a:alpha val="6000"/>
              </a:srgbClr>
            </a:outerShdw>
          </a:effectLst>
        </p:spPr>
      </p:sp>
      <p:sp>
        <p:nvSpPr>
          <p:cNvPr id="23" name="Shape 18"/>
          <p:cNvSpPr/>
          <p:nvPr/>
        </p:nvSpPr>
        <p:spPr>
          <a:xfrm>
            <a:off x="5348288" y="4409703"/>
            <a:ext cx="285750" cy="285750"/>
          </a:xfrm>
          <a:prstGeom prst="roundRect">
            <a:avLst>
              <a:gd name="adj" fmla="val 30000"/>
            </a:avLst>
          </a:prstGeom>
          <a:solidFill>
            <a:srgbClr val="EDE7FE"/>
          </a:solidFill>
          <a:ln/>
        </p:spPr>
      </p:sp>
      <p:sp>
        <p:nvSpPr>
          <p:cNvPr id="24" name="Text 19"/>
          <p:cNvSpPr/>
          <p:nvPr/>
        </p:nvSpPr>
        <p:spPr>
          <a:xfrm>
            <a:off x="5310187" y="4409703"/>
            <a:ext cx="361950" cy="323850"/>
          </a:xfrm>
          <a:prstGeom prst="rect">
            <a:avLst/>
          </a:prstGeom>
          <a:noFill/>
          <a:ln/>
        </p:spPr>
        <p:txBody>
          <a:bodyPr wrap="square" lIns="25400" tIns="25400" rIns="25400" bIns="25400" rtlCol="0" anchor="ctr">
            <a:normAutofit/>
          </a:bodyPr>
          <a:lstStyle/>
          <a:p>
            <a:pPr algn="ctr" indent="0" marL="0">
              <a:buNone/>
            </a:pPr>
            <a:r>
              <a:rPr lang="en-US" sz="1800" b="1" dirty="0">
                <a:solidFill>
                  <a:srgbClr val="6B52B1"/>
                </a:solidFill>
                <a:latin typeface="Arial" pitchFamily="34" charset="0"/>
                <a:ea typeface="Arial" pitchFamily="34" charset="-122"/>
                <a:cs typeface="Arial" pitchFamily="34" charset="-120"/>
              </a:rPr>
              <a:t>2</a:t>
            </a:r>
            <a:endParaRPr lang="en-US" sz="1800" dirty="0"/>
          </a:p>
        </p:txBody>
      </p:sp>
      <p:sp>
        <p:nvSpPr>
          <p:cNvPr id="25" name="Text 20"/>
          <p:cNvSpPr/>
          <p:nvPr/>
        </p:nvSpPr>
        <p:spPr>
          <a:xfrm>
            <a:off x="5729288" y="4419228"/>
            <a:ext cx="2212062"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6B52B1"/>
                </a:solidFill>
                <a:latin typeface="Courier New" pitchFamily="34" charset="0"/>
                <a:ea typeface="Courier New" pitchFamily="34" charset="-122"/>
                <a:cs typeface="Courier New" pitchFamily="34" charset="-120"/>
              </a:rPr>
              <a:t>message-strategy</a:t>
            </a:r>
            <a:endParaRPr lang="en-US" sz="1800" dirty="0"/>
          </a:p>
        </p:txBody>
      </p:sp>
      <p:sp>
        <p:nvSpPr>
          <p:cNvPr id="26" name="Text 21"/>
          <p:cNvSpPr/>
          <p:nvPr/>
        </p:nvSpPr>
        <p:spPr>
          <a:xfrm>
            <a:off x="5348288" y="4781178"/>
            <a:ext cx="3477911" cy="641598"/>
          </a:xfrm>
          <a:prstGeom prst="rect">
            <a:avLst/>
          </a:prstGeom>
          <a:noFill/>
          <a:ln/>
        </p:spPr>
        <p:txBody>
          <a:bodyPr wrap="square" lIns="25400" tIns="25400" rIns="25400" bIns="25400" rtlCol="0" anchor="t">
            <a:normAutofit/>
          </a:bodyPr>
          <a:lstStyle/>
          <a:p>
            <a:pPr algn="l" indent="0" marL="0">
              <a:lnSpc>
                <a:spcPct val="132000"/>
              </a:lnSpc>
              <a:buNone/>
            </a:pPr>
            <a:r>
              <a:rPr lang="en-US" sz="1800" dirty="0">
                <a:solidFill>
                  <a:srgbClr val="585858"/>
                </a:solidFill>
                <a:latin typeface="Arial" pitchFamily="34" charset="0"/>
                <a:ea typeface="Arial" pitchFamily="34" charset="-122"/>
                <a:cs typeface="Arial" pitchFamily="34" charset="-120"/>
              </a:rPr>
              <a:t>직책별 소구점·CTA·review_flag 기준</a:t>
            </a:r>
            <a:endParaRPr lang="en-US" sz="1800" dirty="0"/>
          </a:p>
        </p:txBody>
      </p:sp>
      <p:pic>
        <p:nvPicPr>
          <p:cNvPr id="27"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020175" y="4773364"/>
            <a:ext cx="247650" cy="247650"/>
          </a:xfrm>
          <a:prstGeom prst="rect">
            <a:avLst/>
          </a:prstGeom>
        </p:spPr>
      </p:pic>
      <p:sp>
        <p:nvSpPr>
          <p:cNvPr id="28" name="Shape 22"/>
          <p:cNvSpPr/>
          <p:nvPr/>
        </p:nvSpPr>
        <p:spPr>
          <a:xfrm>
            <a:off x="9382125" y="4247778"/>
            <a:ext cx="3738563" cy="1298823"/>
          </a:xfrm>
          <a:prstGeom prst="roundRect">
            <a:avLst>
              <a:gd name="adj" fmla="val 11734"/>
            </a:avLst>
          </a:prstGeom>
          <a:solidFill>
            <a:srgbClr val="FFFFFF"/>
          </a:solidFill>
          <a:ln w="9525">
            <a:solidFill>
              <a:srgbClr val="EEE8FB"/>
            </a:solidFill>
            <a:prstDash val="solid"/>
          </a:ln>
          <a:effectLst>
            <a:outerShdw sx="100000" sy="100000" kx="0" ky="0" algn="bl" rotWithShape="0" blurRad="228600" dist="95250" dir="5400000">
              <a:srgbClr val="6B52B1">
                <a:alpha val="6000"/>
              </a:srgbClr>
            </a:outerShdw>
          </a:effectLst>
        </p:spPr>
      </p:sp>
      <p:sp>
        <p:nvSpPr>
          <p:cNvPr id="29" name="Shape 23"/>
          <p:cNvSpPr/>
          <p:nvPr/>
        </p:nvSpPr>
        <p:spPr>
          <a:xfrm>
            <a:off x="9563100" y="4409703"/>
            <a:ext cx="285750" cy="285750"/>
          </a:xfrm>
          <a:prstGeom prst="roundRect">
            <a:avLst>
              <a:gd name="adj" fmla="val 30000"/>
            </a:avLst>
          </a:prstGeom>
          <a:solidFill>
            <a:srgbClr val="EDE7FE"/>
          </a:solidFill>
          <a:ln/>
        </p:spPr>
      </p:sp>
      <p:sp>
        <p:nvSpPr>
          <p:cNvPr id="30" name="Text 24"/>
          <p:cNvSpPr/>
          <p:nvPr/>
        </p:nvSpPr>
        <p:spPr>
          <a:xfrm>
            <a:off x="9525000" y="4409703"/>
            <a:ext cx="361950" cy="323850"/>
          </a:xfrm>
          <a:prstGeom prst="rect">
            <a:avLst/>
          </a:prstGeom>
          <a:noFill/>
          <a:ln/>
        </p:spPr>
        <p:txBody>
          <a:bodyPr wrap="square" lIns="25400" tIns="25400" rIns="25400" bIns="25400" rtlCol="0" anchor="ctr">
            <a:normAutofit/>
          </a:bodyPr>
          <a:lstStyle/>
          <a:p>
            <a:pPr algn="ctr" indent="0" marL="0">
              <a:buNone/>
            </a:pPr>
            <a:r>
              <a:rPr lang="en-US" sz="1800" b="1" dirty="0">
                <a:solidFill>
                  <a:srgbClr val="6B52B1"/>
                </a:solidFill>
                <a:latin typeface="Arial" pitchFamily="34" charset="0"/>
                <a:ea typeface="Arial" pitchFamily="34" charset="-122"/>
                <a:cs typeface="Arial" pitchFamily="34" charset="-120"/>
              </a:rPr>
              <a:t>3</a:t>
            </a:r>
            <a:endParaRPr lang="en-US" sz="1800" dirty="0"/>
          </a:p>
        </p:txBody>
      </p:sp>
      <p:sp>
        <p:nvSpPr>
          <p:cNvPr id="31" name="Text 25"/>
          <p:cNvSpPr/>
          <p:nvPr/>
        </p:nvSpPr>
        <p:spPr>
          <a:xfrm>
            <a:off x="9944100" y="4419228"/>
            <a:ext cx="2073808"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6B52B1"/>
                </a:solidFill>
                <a:latin typeface="Courier New" pitchFamily="34" charset="0"/>
                <a:ea typeface="Courier New" pitchFamily="34" charset="-122"/>
                <a:cs typeface="Courier New" pitchFamily="34" charset="-120"/>
              </a:rPr>
              <a:t>generate-emails</a:t>
            </a:r>
            <a:endParaRPr lang="en-US" sz="1800" dirty="0"/>
          </a:p>
        </p:txBody>
      </p:sp>
      <p:sp>
        <p:nvSpPr>
          <p:cNvPr id="32" name="Text 26"/>
          <p:cNvSpPr/>
          <p:nvPr/>
        </p:nvSpPr>
        <p:spPr>
          <a:xfrm>
            <a:off x="9563100" y="4781178"/>
            <a:ext cx="3714274" cy="339849"/>
          </a:xfrm>
          <a:prstGeom prst="rect">
            <a:avLst/>
          </a:prstGeom>
          <a:noFill/>
          <a:ln/>
        </p:spPr>
        <p:txBody>
          <a:bodyPr wrap="square" lIns="25400" tIns="25400" rIns="25400" bIns="25400" rtlCol="0" anchor="t">
            <a:normAutofit/>
          </a:bodyPr>
          <a:lstStyle/>
          <a:p>
            <a:pPr algn="l" indent="0" marL="0">
              <a:lnSpc>
                <a:spcPct val="132000"/>
              </a:lnSpc>
              <a:buNone/>
            </a:pPr>
            <a:r>
              <a:rPr lang="en-US" sz="1800" dirty="0">
                <a:solidFill>
                  <a:srgbClr val="585858"/>
                </a:solidFill>
                <a:latin typeface="Arial" pitchFamily="34" charset="0"/>
                <a:ea typeface="Arial" pitchFamily="34" charset="-122"/>
                <a:cs typeface="Arial" pitchFamily="34" charset="-120"/>
              </a:rPr>
              <a:t>Basic/Standard 초안·예외 요약</a:t>
            </a:r>
            <a:endParaRPr lang="en-US" sz="1800" dirty="0"/>
          </a:p>
        </p:txBody>
      </p:sp>
      <p:pic>
        <p:nvPicPr>
          <p:cNvPr id="33"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3234988" y="4773364"/>
            <a:ext cx="247650" cy="247650"/>
          </a:xfrm>
          <a:prstGeom prst="rect">
            <a:avLst/>
          </a:prstGeom>
        </p:spPr>
      </p:pic>
      <p:sp>
        <p:nvSpPr>
          <p:cNvPr id="34" name="Shape 27"/>
          <p:cNvSpPr/>
          <p:nvPr/>
        </p:nvSpPr>
        <p:spPr>
          <a:xfrm>
            <a:off x="13596938" y="4247778"/>
            <a:ext cx="3738563" cy="1298823"/>
          </a:xfrm>
          <a:prstGeom prst="roundRect">
            <a:avLst>
              <a:gd name="adj" fmla="val 11734"/>
            </a:avLst>
          </a:prstGeom>
          <a:solidFill>
            <a:srgbClr val="FFFFFF"/>
          </a:solidFill>
          <a:ln w="9525">
            <a:solidFill>
              <a:srgbClr val="EEE8FB"/>
            </a:solidFill>
            <a:prstDash val="solid"/>
          </a:ln>
          <a:effectLst>
            <a:outerShdw sx="100000" sy="100000" kx="0" ky="0" algn="bl" rotWithShape="0" blurRad="228600" dist="95250" dir="5400000">
              <a:srgbClr val="6B52B1">
                <a:alpha val="6000"/>
              </a:srgbClr>
            </a:outerShdw>
          </a:effectLst>
        </p:spPr>
      </p:sp>
      <p:sp>
        <p:nvSpPr>
          <p:cNvPr id="35" name="Shape 28"/>
          <p:cNvSpPr/>
          <p:nvPr/>
        </p:nvSpPr>
        <p:spPr>
          <a:xfrm>
            <a:off x="13777913" y="4409703"/>
            <a:ext cx="285750" cy="285750"/>
          </a:xfrm>
          <a:prstGeom prst="roundRect">
            <a:avLst>
              <a:gd name="adj" fmla="val 30000"/>
            </a:avLst>
          </a:prstGeom>
          <a:solidFill>
            <a:srgbClr val="EDE7FE"/>
          </a:solidFill>
          <a:ln/>
        </p:spPr>
      </p:sp>
      <p:sp>
        <p:nvSpPr>
          <p:cNvPr id="36" name="Text 29"/>
          <p:cNvSpPr/>
          <p:nvPr/>
        </p:nvSpPr>
        <p:spPr>
          <a:xfrm>
            <a:off x="13739813" y="4409703"/>
            <a:ext cx="361950" cy="323850"/>
          </a:xfrm>
          <a:prstGeom prst="rect">
            <a:avLst/>
          </a:prstGeom>
          <a:noFill/>
          <a:ln/>
        </p:spPr>
        <p:txBody>
          <a:bodyPr wrap="square" lIns="25400" tIns="25400" rIns="25400" bIns="25400" rtlCol="0" anchor="ctr">
            <a:normAutofit/>
          </a:bodyPr>
          <a:lstStyle/>
          <a:p>
            <a:pPr algn="ctr" indent="0" marL="0">
              <a:buNone/>
            </a:pPr>
            <a:r>
              <a:rPr lang="en-US" sz="1800" b="1" dirty="0">
                <a:solidFill>
                  <a:srgbClr val="6B52B1"/>
                </a:solidFill>
                <a:latin typeface="Arial" pitchFamily="34" charset="0"/>
                <a:ea typeface="Arial" pitchFamily="34" charset="-122"/>
                <a:cs typeface="Arial" pitchFamily="34" charset="-120"/>
              </a:rPr>
              <a:t>4</a:t>
            </a:r>
            <a:endParaRPr lang="en-US" sz="1800" dirty="0"/>
          </a:p>
        </p:txBody>
      </p:sp>
      <p:sp>
        <p:nvSpPr>
          <p:cNvPr id="37" name="Text 30"/>
          <p:cNvSpPr/>
          <p:nvPr/>
        </p:nvSpPr>
        <p:spPr>
          <a:xfrm>
            <a:off x="14158913" y="4419228"/>
            <a:ext cx="1797301"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6B52B1"/>
                </a:solidFill>
                <a:latin typeface="Courier New" pitchFamily="34" charset="0"/>
                <a:ea typeface="Courier New" pitchFamily="34" charset="-122"/>
                <a:cs typeface="Courier New" pitchFamily="34" charset="-120"/>
              </a:rPr>
              <a:t>campaign-plan</a:t>
            </a:r>
            <a:endParaRPr lang="en-US" sz="1800" dirty="0"/>
          </a:p>
        </p:txBody>
      </p:sp>
      <p:sp>
        <p:nvSpPr>
          <p:cNvPr id="38" name="Text 31"/>
          <p:cNvSpPr/>
          <p:nvPr/>
        </p:nvSpPr>
        <p:spPr>
          <a:xfrm>
            <a:off x="13777913" y="4781178"/>
            <a:ext cx="3714274" cy="339849"/>
          </a:xfrm>
          <a:prstGeom prst="rect">
            <a:avLst/>
          </a:prstGeom>
          <a:noFill/>
          <a:ln/>
        </p:spPr>
        <p:txBody>
          <a:bodyPr wrap="square" lIns="25400" tIns="25400" rIns="25400" bIns="25400" rtlCol="0" anchor="t">
            <a:normAutofit/>
          </a:bodyPr>
          <a:lstStyle/>
          <a:p>
            <a:pPr algn="l" indent="0" marL="0">
              <a:lnSpc>
                <a:spcPct val="132000"/>
              </a:lnSpc>
              <a:buNone/>
            </a:pPr>
            <a:r>
              <a:rPr lang="en-US" sz="1800" dirty="0">
                <a:solidFill>
                  <a:srgbClr val="585858"/>
                </a:solidFill>
                <a:latin typeface="Arial" pitchFamily="34" charset="0"/>
                <a:ea typeface="Arial" pitchFamily="34" charset="-122"/>
                <a:cs typeface="Arial" pitchFamily="34" charset="-120"/>
              </a:rPr>
              <a:t>Challenge 캠페인 기획안</a:t>
            </a:r>
            <a:endParaRPr lang="en-US" sz="1800" dirty="0"/>
          </a:p>
        </p:txBody>
      </p:sp>
      <p:sp>
        <p:nvSpPr>
          <p:cNvPr id="39" name="Shape 32"/>
          <p:cNvSpPr/>
          <p:nvPr/>
        </p:nvSpPr>
        <p:spPr>
          <a:xfrm>
            <a:off x="952500" y="5699001"/>
            <a:ext cx="5140300" cy="1006599"/>
          </a:xfrm>
          <a:prstGeom prst="roundRect">
            <a:avLst>
              <a:gd name="adj" fmla="val 15140"/>
            </a:avLst>
          </a:prstGeom>
          <a:solidFill>
            <a:srgbClr val="FFFFFF"/>
          </a:solidFill>
          <a:ln w="9525">
            <a:solidFill>
              <a:srgbClr val="EEE8FB"/>
            </a:solidFill>
            <a:prstDash val="solid"/>
          </a:ln>
          <a:effectLst>
            <a:outerShdw sx="100000" sy="100000" kx="0" ky="0" algn="bl" rotWithShape="0" blurRad="228600" dist="95250" dir="5400000">
              <a:srgbClr val="6B52B1">
                <a:alpha val="6000"/>
              </a:srgbClr>
            </a:outerShdw>
          </a:effectLst>
        </p:spPr>
      </p:sp>
      <p:sp>
        <p:nvSpPr>
          <p:cNvPr id="40" name="Shape 33"/>
          <p:cNvSpPr/>
          <p:nvPr/>
        </p:nvSpPr>
        <p:spPr>
          <a:xfrm>
            <a:off x="1133475" y="5860926"/>
            <a:ext cx="285750" cy="285750"/>
          </a:xfrm>
          <a:prstGeom prst="roundRect">
            <a:avLst>
              <a:gd name="adj" fmla="val 30000"/>
            </a:avLst>
          </a:prstGeom>
          <a:solidFill>
            <a:srgbClr val="EDE7FE"/>
          </a:solidFill>
          <a:ln/>
        </p:spPr>
      </p:sp>
      <p:sp>
        <p:nvSpPr>
          <p:cNvPr id="41" name="Text 34"/>
          <p:cNvSpPr/>
          <p:nvPr/>
        </p:nvSpPr>
        <p:spPr>
          <a:xfrm>
            <a:off x="1095375" y="5860926"/>
            <a:ext cx="361950" cy="323850"/>
          </a:xfrm>
          <a:prstGeom prst="rect">
            <a:avLst/>
          </a:prstGeom>
          <a:noFill/>
          <a:ln/>
        </p:spPr>
        <p:txBody>
          <a:bodyPr wrap="square" lIns="25400" tIns="25400" rIns="25400" bIns="25400" rtlCol="0" anchor="ctr">
            <a:normAutofit/>
          </a:bodyPr>
          <a:lstStyle/>
          <a:p>
            <a:pPr algn="ctr" indent="0" marL="0">
              <a:buNone/>
            </a:pPr>
            <a:r>
              <a:rPr lang="en-US" sz="1800" b="1" dirty="0">
                <a:solidFill>
                  <a:srgbClr val="6B52B1"/>
                </a:solidFill>
                <a:latin typeface="Arial" pitchFamily="34" charset="0"/>
                <a:ea typeface="Arial" pitchFamily="34" charset="-122"/>
                <a:cs typeface="Arial" pitchFamily="34" charset="-120"/>
              </a:rPr>
              <a:t>5</a:t>
            </a:r>
            <a:endParaRPr lang="en-US" sz="1800" dirty="0"/>
          </a:p>
        </p:txBody>
      </p:sp>
      <p:sp>
        <p:nvSpPr>
          <p:cNvPr id="42" name="Text 35"/>
          <p:cNvSpPr/>
          <p:nvPr/>
        </p:nvSpPr>
        <p:spPr>
          <a:xfrm>
            <a:off x="1514475" y="5870451"/>
            <a:ext cx="2488570"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6B52B1"/>
                </a:solidFill>
                <a:latin typeface="Courier New" pitchFamily="34" charset="0"/>
                <a:ea typeface="Courier New" pitchFamily="34" charset="-122"/>
                <a:cs typeface="Courier New" pitchFamily="34" charset="-120"/>
              </a:rPr>
              <a:t>visualize-campaign</a:t>
            </a:r>
            <a:endParaRPr lang="en-US" sz="1800" dirty="0"/>
          </a:p>
        </p:txBody>
      </p:sp>
      <p:sp>
        <p:nvSpPr>
          <p:cNvPr id="43" name="Text 36"/>
          <p:cNvSpPr/>
          <p:nvPr/>
        </p:nvSpPr>
        <p:spPr>
          <a:xfrm>
            <a:off x="1133475" y="6232401"/>
            <a:ext cx="5256185" cy="339849"/>
          </a:xfrm>
          <a:prstGeom prst="rect">
            <a:avLst/>
          </a:prstGeom>
          <a:noFill/>
          <a:ln/>
        </p:spPr>
        <p:txBody>
          <a:bodyPr wrap="square" lIns="25400" tIns="25400" rIns="25400" bIns="25400" rtlCol="0" anchor="t">
            <a:normAutofit/>
          </a:bodyPr>
          <a:lstStyle/>
          <a:p>
            <a:pPr algn="l" indent="0" marL="0">
              <a:lnSpc>
                <a:spcPct val="132000"/>
              </a:lnSpc>
              <a:buNone/>
            </a:pPr>
            <a:r>
              <a:rPr lang="en-US" sz="1800" dirty="0">
                <a:solidFill>
                  <a:srgbClr val="585858"/>
                </a:solidFill>
                <a:latin typeface="Arial" pitchFamily="34" charset="0"/>
                <a:ea typeface="Arial" pitchFamily="34" charset="-122"/>
                <a:cs typeface="Arial" pitchFamily="34" charset="-120"/>
              </a:rPr>
              <a:t>HTML 시각화 (정적)</a:t>
            </a:r>
            <a:endParaRPr lang="en-US" sz="1800" dirty="0"/>
          </a:p>
        </p:txBody>
      </p:sp>
      <p:pic>
        <p:nvPicPr>
          <p:cNvPr id="44"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207100" y="6078438"/>
            <a:ext cx="247650" cy="247650"/>
          </a:xfrm>
          <a:prstGeom prst="rect">
            <a:avLst/>
          </a:prstGeom>
        </p:spPr>
      </p:pic>
      <p:sp>
        <p:nvSpPr>
          <p:cNvPr id="45" name="Shape 37"/>
          <p:cNvSpPr/>
          <p:nvPr/>
        </p:nvSpPr>
        <p:spPr>
          <a:xfrm>
            <a:off x="6569050" y="5699001"/>
            <a:ext cx="5140375" cy="1006599"/>
          </a:xfrm>
          <a:prstGeom prst="roundRect">
            <a:avLst>
              <a:gd name="adj" fmla="val 15140"/>
            </a:avLst>
          </a:prstGeom>
          <a:solidFill>
            <a:srgbClr val="FFFFFF"/>
          </a:solidFill>
          <a:ln w="9525">
            <a:solidFill>
              <a:srgbClr val="EEE8FB"/>
            </a:solidFill>
            <a:prstDash val="solid"/>
          </a:ln>
          <a:effectLst>
            <a:outerShdw sx="100000" sy="100000" kx="0" ky="0" algn="bl" rotWithShape="0" blurRad="228600" dist="95250" dir="5400000">
              <a:srgbClr val="6B52B1">
                <a:alpha val="6000"/>
              </a:srgbClr>
            </a:outerShdw>
          </a:effectLst>
        </p:spPr>
      </p:sp>
      <p:sp>
        <p:nvSpPr>
          <p:cNvPr id="46" name="Shape 38"/>
          <p:cNvSpPr/>
          <p:nvPr/>
        </p:nvSpPr>
        <p:spPr>
          <a:xfrm>
            <a:off x="6750025" y="5860926"/>
            <a:ext cx="285750" cy="285750"/>
          </a:xfrm>
          <a:prstGeom prst="roundRect">
            <a:avLst>
              <a:gd name="adj" fmla="val 30000"/>
            </a:avLst>
          </a:prstGeom>
          <a:solidFill>
            <a:srgbClr val="EDE7FE"/>
          </a:solidFill>
          <a:ln/>
        </p:spPr>
      </p:sp>
      <p:sp>
        <p:nvSpPr>
          <p:cNvPr id="47" name="Text 39"/>
          <p:cNvSpPr/>
          <p:nvPr/>
        </p:nvSpPr>
        <p:spPr>
          <a:xfrm>
            <a:off x="6711925" y="5860926"/>
            <a:ext cx="361950" cy="323850"/>
          </a:xfrm>
          <a:prstGeom prst="rect">
            <a:avLst/>
          </a:prstGeom>
          <a:noFill/>
          <a:ln/>
        </p:spPr>
        <p:txBody>
          <a:bodyPr wrap="square" lIns="25400" tIns="25400" rIns="25400" bIns="25400" rtlCol="0" anchor="ctr">
            <a:normAutofit/>
          </a:bodyPr>
          <a:lstStyle/>
          <a:p>
            <a:pPr algn="ctr" indent="0" marL="0">
              <a:buNone/>
            </a:pPr>
            <a:r>
              <a:rPr lang="en-US" sz="1800" b="1" dirty="0">
                <a:solidFill>
                  <a:srgbClr val="6B52B1"/>
                </a:solidFill>
                <a:latin typeface="Arial" pitchFamily="34" charset="0"/>
                <a:ea typeface="Arial" pitchFamily="34" charset="-122"/>
                <a:cs typeface="Arial" pitchFamily="34" charset="-120"/>
              </a:rPr>
              <a:t>6</a:t>
            </a:r>
            <a:endParaRPr lang="en-US" sz="1800" dirty="0"/>
          </a:p>
        </p:txBody>
      </p:sp>
      <p:sp>
        <p:nvSpPr>
          <p:cNvPr id="48" name="Text 40"/>
          <p:cNvSpPr/>
          <p:nvPr/>
        </p:nvSpPr>
        <p:spPr>
          <a:xfrm>
            <a:off x="7131025" y="5870451"/>
            <a:ext cx="1797301"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6B52B1"/>
                </a:solidFill>
                <a:latin typeface="Courier New" pitchFamily="34" charset="0"/>
                <a:ea typeface="Courier New" pitchFamily="34" charset="-122"/>
                <a:cs typeface="Courier New" pitchFamily="34" charset="-120"/>
              </a:rPr>
              <a:t>review-submit</a:t>
            </a:r>
            <a:endParaRPr lang="en-US" sz="1800" dirty="0"/>
          </a:p>
        </p:txBody>
      </p:sp>
      <p:sp>
        <p:nvSpPr>
          <p:cNvPr id="49" name="Text 41"/>
          <p:cNvSpPr/>
          <p:nvPr/>
        </p:nvSpPr>
        <p:spPr>
          <a:xfrm>
            <a:off x="6750025" y="6232401"/>
            <a:ext cx="5256267" cy="339849"/>
          </a:xfrm>
          <a:prstGeom prst="rect">
            <a:avLst/>
          </a:prstGeom>
          <a:noFill/>
          <a:ln/>
        </p:spPr>
        <p:txBody>
          <a:bodyPr wrap="square" lIns="25400" tIns="25400" rIns="25400" bIns="25400" rtlCol="0" anchor="t">
            <a:normAutofit/>
          </a:bodyPr>
          <a:lstStyle/>
          <a:p>
            <a:pPr algn="l" indent="0" marL="0">
              <a:lnSpc>
                <a:spcPct val="132000"/>
              </a:lnSpc>
              <a:buNone/>
            </a:pPr>
            <a:r>
              <a:rPr lang="en-US" sz="1800" dirty="0">
                <a:solidFill>
                  <a:srgbClr val="585858"/>
                </a:solidFill>
                <a:latin typeface="Arial" pitchFamily="34" charset="0"/>
                <a:ea typeface="Arial" pitchFamily="34" charset="-122"/>
                <a:cs typeface="Arial" pitchFamily="34" charset="-120"/>
              </a:rPr>
              <a:t>최종 검수·제출 요약</a:t>
            </a:r>
            <a:endParaRPr lang="en-US" sz="1800" dirty="0"/>
          </a:p>
        </p:txBody>
      </p:sp>
      <p:pic>
        <p:nvPicPr>
          <p:cNvPr id="50"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1823725" y="6078438"/>
            <a:ext cx="247650" cy="247650"/>
          </a:xfrm>
          <a:prstGeom prst="rect">
            <a:avLst/>
          </a:prstGeom>
        </p:spPr>
      </p:pic>
      <p:sp>
        <p:nvSpPr>
          <p:cNvPr id="51" name="Shape 42"/>
          <p:cNvSpPr/>
          <p:nvPr/>
        </p:nvSpPr>
        <p:spPr>
          <a:xfrm>
            <a:off x="12185675" y="5699001"/>
            <a:ext cx="5149825" cy="1006599"/>
          </a:xfrm>
          <a:prstGeom prst="roundRect">
            <a:avLst>
              <a:gd name="adj" fmla="val 15140"/>
            </a:avLst>
          </a:prstGeom>
          <a:solidFill>
            <a:srgbClr val="EDE7FE"/>
          </a:solidFill>
          <a:ln w="14288">
            <a:solidFill>
              <a:srgbClr val="C0AEEF"/>
            </a:solidFill>
            <a:prstDash val="solid"/>
          </a:ln>
          <a:effectLst>
            <a:outerShdw sx="100000" sy="100000" kx="0" ky="0" algn="bl" rotWithShape="0" blurRad="266700" dist="114300" dir="5400000">
              <a:srgbClr val="6B52B1">
                <a:alpha val="12000"/>
              </a:srgbClr>
            </a:outerShdw>
          </a:effectLst>
        </p:spPr>
      </p:sp>
      <p:sp>
        <p:nvSpPr>
          <p:cNvPr id="52" name="Shape 43"/>
          <p:cNvSpPr/>
          <p:nvPr/>
        </p:nvSpPr>
        <p:spPr>
          <a:xfrm>
            <a:off x="12371412" y="5865688"/>
            <a:ext cx="285750" cy="285750"/>
          </a:xfrm>
          <a:prstGeom prst="roundRect">
            <a:avLst>
              <a:gd name="adj" fmla="val 30000"/>
            </a:avLst>
          </a:prstGeom>
          <a:solidFill>
            <a:srgbClr val="9673F9"/>
          </a:solidFill>
          <a:ln/>
        </p:spPr>
      </p:sp>
      <p:sp>
        <p:nvSpPr>
          <p:cNvPr id="53" name="Text 44"/>
          <p:cNvSpPr/>
          <p:nvPr/>
        </p:nvSpPr>
        <p:spPr>
          <a:xfrm>
            <a:off x="12333312" y="5865688"/>
            <a:ext cx="361950" cy="323850"/>
          </a:xfrm>
          <a:prstGeom prst="rect">
            <a:avLst/>
          </a:prstGeom>
          <a:noFill/>
          <a:ln/>
        </p:spPr>
        <p:txBody>
          <a:bodyPr wrap="square" lIns="25400" tIns="25400" rIns="25400" bIns="25400" rtlCol="0" anchor="ctr">
            <a:normAutofit/>
          </a:bodyPr>
          <a:lstStyle/>
          <a:p>
            <a:pPr algn="ctr" indent="0" marL="0">
              <a:buNone/>
            </a:pPr>
            <a:r>
              <a:rPr lang="en-US" sz="1800" b="1" dirty="0">
                <a:solidFill>
                  <a:srgbClr val="FFFFFF"/>
                </a:solidFill>
                <a:latin typeface="Arial" pitchFamily="34" charset="0"/>
                <a:ea typeface="Arial" pitchFamily="34" charset="-122"/>
                <a:cs typeface="Arial" pitchFamily="34" charset="-120"/>
              </a:rPr>
              <a:t>7</a:t>
            </a:r>
            <a:endParaRPr lang="en-US" sz="1800" dirty="0"/>
          </a:p>
        </p:txBody>
      </p:sp>
      <p:sp>
        <p:nvSpPr>
          <p:cNvPr id="54" name="Text 45"/>
          <p:cNvSpPr/>
          <p:nvPr/>
        </p:nvSpPr>
        <p:spPr>
          <a:xfrm>
            <a:off x="12752412" y="5875213"/>
            <a:ext cx="1797301"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6B52B1"/>
                </a:solidFill>
                <a:latin typeface="Courier New" pitchFamily="34" charset="0"/>
                <a:ea typeface="Courier New" pitchFamily="34" charset="-122"/>
                <a:cs typeface="Courier New" pitchFamily="34" charset="-120"/>
              </a:rPr>
              <a:t>quality-audit</a:t>
            </a:r>
            <a:endParaRPr lang="en-US" sz="1800" dirty="0"/>
          </a:p>
        </p:txBody>
      </p:sp>
      <p:sp>
        <p:nvSpPr>
          <p:cNvPr id="55" name="Text 46"/>
          <p:cNvSpPr/>
          <p:nvPr/>
        </p:nvSpPr>
        <p:spPr>
          <a:xfrm>
            <a:off x="12371412" y="6237163"/>
            <a:ext cx="5256185" cy="339849"/>
          </a:xfrm>
          <a:prstGeom prst="rect">
            <a:avLst/>
          </a:prstGeom>
          <a:noFill/>
          <a:ln/>
        </p:spPr>
        <p:txBody>
          <a:bodyPr wrap="square" lIns="25400" tIns="25400" rIns="25400" bIns="25400" rtlCol="0" anchor="t">
            <a:normAutofit/>
          </a:bodyPr>
          <a:lstStyle/>
          <a:p>
            <a:pPr algn="l" indent="0" marL="0">
              <a:lnSpc>
                <a:spcPct val="132000"/>
              </a:lnSpc>
              <a:buNone/>
            </a:pPr>
            <a:r>
              <a:rPr lang="en-US" sz="1800" b="1" dirty="0">
                <a:solidFill>
                  <a:srgbClr val="6B52B1"/>
                </a:solidFill>
                <a:latin typeface="Arial" pitchFamily="34" charset="0"/>
                <a:ea typeface="Arial" pitchFamily="34" charset="-122"/>
                <a:cs typeface="Arial" pitchFamily="34" charset="-120"/>
              </a:rPr>
              <a:t>통합 품질 QA · 항상 마지막</a:t>
            </a:r>
            <a:endParaRPr lang="en-US" sz="1800" dirty="0"/>
          </a:p>
        </p:txBody>
      </p:sp>
      <p:sp>
        <p:nvSpPr>
          <p:cNvPr id="56" name="Shape 47"/>
          <p:cNvSpPr/>
          <p:nvPr/>
        </p:nvSpPr>
        <p:spPr>
          <a:xfrm>
            <a:off x="952500" y="7957245"/>
            <a:ext cx="16383000" cy="1243905"/>
          </a:xfrm>
          <a:prstGeom prst="roundRect">
            <a:avLst>
              <a:gd name="adj" fmla="val 13783"/>
            </a:avLst>
          </a:prstGeom>
          <a:solidFill>
            <a:srgbClr val="F2ECFE"/>
          </a:solidFill>
          <a:ln w="9525">
            <a:solidFill>
              <a:srgbClr val="E1D6FA"/>
            </a:solidFill>
            <a:prstDash val="solid"/>
          </a:ln>
        </p:spPr>
      </p:sp>
      <p:sp>
        <p:nvSpPr>
          <p:cNvPr id="57" name="Shape 48"/>
          <p:cNvSpPr/>
          <p:nvPr/>
        </p:nvSpPr>
        <p:spPr>
          <a:xfrm>
            <a:off x="1209675" y="8350597"/>
            <a:ext cx="457200" cy="457200"/>
          </a:xfrm>
          <a:prstGeom prst="roundRect">
            <a:avLst>
              <a:gd name="adj" fmla="val 27083"/>
            </a:avLst>
          </a:prstGeom>
          <a:solidFill>
            <a:srgbClr val="E4DAFA"/>
          </a:solidFill>
          <a:ln/>
        </p:spPr>
      </p:sp>
      <p:pic>
        <p:nvPicPr>
          <p:cNvPr id="58" name="Image 7" descr="preencoded.png">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314450" y="8455372"/>
            <a:ext cx="247650" cy="247650"/>
          </a:xfrm>
          <a:prstGeom prst="rect">
            <a:avLst/>
          </a:prstGeom>
        </p:spPr>
      </p:pic>
      <p:sp>
        <p:nvSpPr>
          <p:cNvPr id="59" name="Text 49"/>
          <p:cNvSpPr/>
          <p:nvPr/>
        </p:nvSpPr>
        <p:spPr>
          <a:xfrm>
            <a:off x="1800225" y="8176766"/>
            <a:ext cx="1584231" cy="319088"/>
          </a:xfrm>
          <a:prstGeom prst="rect">
            <a:avLst/>
          </a:prstGeom>
          <a:noFill/>
          <a:ln/>
        </p:spPr>
        <p:txBody>
          <a:bodyPr wrap="square" lIns="25400" tIns="25400" rIns="25400" bIns="25400" rtlCol="0" anchor="t">
            <a:normAutofit/>
          </a:bodyPr>
          <a:lstStyle/>
          <a:p>
            <a:pPr algn="l" indent="0" marL="0">
              <a:buNone/>
            </a:pPr>
            <a:r>
              <a:rPr lang="en-US" sz="1875" b="1" dirty="0">
                <a:solidFill>
                  <a:srgbClr val="6B52B1"/>
                </a:solidFill>
                <a:latin typeface="Courier New" pitchFamily="34" charset="0"/>
                <a:ea typeface="Courier New" pitchFamily="34" charset="-122"/>
                <a:cs typeface="Courier New" pitchFamily="34" charset="-120"/>
              </a:rPr>
              <a:t>review_flag</a:t>
            </a:r>
            <a:endParaRPr lang="en-US" sz="1875" dirty="0"/>
          </a:p>
        </p:txBody>
      </p:sp>
      <p:sp>
        <p:nvSpPr>
          <p:cNvPr id="60" name="Text 50"/>
          <p:cNvSpPr/>
          <p:nvPr/>
        </p:nvSpPr>
        <p:spPr>
          <a:xfrm>
            <a:off x="3335685" y="8186291"/>
            <a:ext cx="2082567" cy="300038"/>
          </a:xfrm>
          <a:prstGeom prst="rect">
            <a:avLst/>
          </a:prstGeom>
          <a:noFill/>
          <a:ln/>
        </p:spPr>
        <p:txBody>
          <a:bodyPr wrap="square" lIns="25400" tIns="25400" rIns="25400" bIns="25400" rtlCol="0" anchor="t">
            <a:normAutofit/>
          </a:bodyPr>
          <a:lstStyle/>
          <a:p>
            <a:pPr algn="l" indent="0" marL="0">
              <a:buNone/>
            </a:pPr>
            <a:r>
              <a:rPr lang="en-US" sz="1800" b="1" dirty="0">
                <a:solidFill>
                  <a:srgbClr val="131313"/>
                </a:solidFill>
                <a:latin typeface="Arial" pitchFamily="34" charset="0"/>
                <a:ea typeface="Arial" pitchFamily="34" charset="-122"/>
                <a:cs typeface="Arial" pitchFamily="34" charset="-120"/>
              </a:rPr>
              <a:t>Human-in-the-loop</a:t>
            </a:r>
            <a:endParaRPr lang="en-US" sz="1800" dirty="0"/>
          </a:p>
        </p:txBody>
      </p:sp>
      <p:sp>
        <p:nvSpPr>
          <p:cNvPr id="61" name="Shape 51"/>
          <p:cNvSpPr/>
          <p:nvPr/>
        </p:nvSpPr>
        <p:spPr>
          <a:xfrm>
            <a:off x="1800225" y="8533954"/>
            <a:ext cx="2159571" cy="447675"/>
          </a:xfrm>
          <a:prstGeom prst="roundRect">
            <a:avLst>
              <a:gd name="adj" fmla="val 50000"/>
            </a:avLst>
          </a:prstGeom>
          <a:solidFill>
            <a:srgbClr val="9673F9"/>
          </a:solidFill>
          <a:ln/>
        </p:spPr>
      </p:sp>
      <p:sp>
        <p:nvSpPr>
          <p:cNvPr id="62" name="Text 52"/>
          <p:cNvSpPr/>
          <p:nvPr/>
        </p:nvSpPr>
        <p:spPr>
          <a:xfrm>
            <a:off x="1933575" y="8581579"/>
            <a:ext cx="1969071" cy="390525"/>
          </a:xfrm>
          <a:prstGeom prst="rect">
            <a:avLst/>
          </a:prstGeom>
          <a:noFill/>
          <a:ln/>
        </p:spPr>
        <p:txBody>
          <a:bodyPr wrap="square" lIns="25400" tIns="25400" rIns="25400" bIns="25400" rtlCol="0" anchor="t">
            <a:normAutofit/>
          </a:bodyPr>
          <a:lstStyle/>
          <a:p>
            <a:pPr algn="l" indent="0" marL="0">
              <a:buNone/>
            </a:pPr>
            <a:r>
              <a:rPr lang="en-US" sz="1800" b="1" dirty="0">
                <a:solidFill>
                  <a:srgbClr val="FFFFFF"/>
                </a:solidFill>
                <a:latin typeface="Arial" pitchFamily="34" charset="0"/>
                <a:ea typeface="Arial" pitchFamily="34" charset="-122"/>
                <a:cs typeface="Arial" pitchFamily="34" charset="-120"/>
              </a:rPr>
              <a:t>Y → 사람 검수 강제</a:t>
            </a:r>
            <a:endParaRPr lang="en-US" sz="1800" dirty="0"/>
          </a:p>
        </p:txBody>
      </p:sp>
      <p:sp>
        <p:nvSpPr>
          <p:cNvPr id="63" name="Shape 53"/>
          <p:cNvSpPr/>
          <p:nvPr/>
        </p:nvSpPr>
        <p:spPr>
          <a:xfrm>
            <a:off x="4055046" y="8533954"/>
            <a:ext cx="1711226" cy="447675"/>
          </a:xfrm>
          <a:prstGeom prst="roundRect">
            <a:avLst>
              <a:gd name="adj" fmla="val 50000"/>
            </a:avLst>
          </a:prstGeom>
          <a:solidFill>
            <a:srgbClr val="FFFFFF"/>
          </a:solidFill>
          <a:ln w="9525">
            <a:solidFill>
              <a:srgbClr val="DDD1F7"/>
            </a:solidFill>
            <a:prstDash val="solid"/>
          </a:ln>
        </p:spPr>
      </p:sp>
      <p:sp>
        <p:nvSpPr>
          <p:cNvPr id="64" name="Text 54"/>
          <p:cNvSpPr/>
          <p:nvPr/>
        </p:nvSpPr>
        <p:spPr>
          <a:xfrm>
            <a:off x="4197921" y="8591104"/>
            <a:ext cx="1501676"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6B52B1"/>
                </a:solidFill>
                <a:latin typeface="Arial" pitchFamily="34" charset="0"/>
                <a:ea typeface="Arial" pitchFamily="34" charset="-122"/>
                <a:cs typeface="Arial" pitchFamily="34" charset="-120"/>
              </a:rPr>
              <a:t>N → 자동 진행</a:t>
            </a:r>
            <a:endParaRPr lang="en-US" sz="1800" dirty="0"/>
          </a:p>
        </p:txBody>
      </p:sp>
      <p:sp>
        <p:nvSpPr>
          <p:cNvPr id="65" name="Shape 55"/>
          <p:cNvSpPr/>
          <p:nvPr/>
        </p:nvSpPr>
        <p:spPr>
          <a:xfrm>
            <a:off x="5994871" y="8157270"/>
            <a:ext cx="9525" cy="843855"/>
          </a:xfrm>
          <a:prstGeom prst="rect">
            <a:avLst/>
          </a:prstGeom>
          <a:solidFill>
            <a:srgbClr val="DDD1F7"/>
          </a:solidFill>
          <a:ln/>
        </p:spPr>
      </p:sp>
      <p:sp>
        <p:nvSpPr>
          <p:cNvPr id="66" name="Text 56"/>
          <p:cNvSpPr/>
          <p:nvPr/>
        </p:nvSpPr>
        <p:spPr>
          <a:xfrm>
            <a:off x="6232996" y="8157270"/>
            <a:ext cx="11929862"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585858"/>
                </a:solidFill>
                <a:latin typeface="Arial" pitchFamily="34" charset="0"/>
                <a:ea typeface="Arial" pitchFamily="34" charset="-122"/>
                <a:cs typeface="Arial" pitchFamily="34" charset="-120"/>
              </a:rPr>
              <a:t>이메일 결측 · 상담 메모 결측/모호 · 중복 리드 → </a:t>
            </a:r>
            <a:pPr algn="l" indent="0" marL="0">
              <a:lnSpc>
                <a:spcPct val="140000"/>
              </a:lnSpc>
              <a:buNone/>
            </a:pPr>
            <a:r>
              <a:rPr lang="en-US" sz="1800" b="1" dirty="0">
                <a:solidFill>
                  <a:srgbClr val="6B52B1"/>
                </a:solidFill>
                <a:latin typeface="Arial" pitchFamily="34" charset="0"/>
                <a:ea typeface="Arial" pitchFamily="34" charset="-122"/>
                <a:cs typeface="Arial" pitchFamily="34" charset="-120"/>
              </a:rPr>
              <a:t>review_flag=Y</a:t>
            </a:r>
            <a:pPr algn="l" indent="0" marL="0">
              <a:lnSpc>
                <a:spcPct val="140000"/>
              </a:lnSpc>
              <a:buNone/>
            </a:pPr>
            <a:r>
              <a:rPr lang="en-US" sz="1800" dirty="0">
                <a:solidFill>
                  <a:srgbClr val="585858"/>
                </a:solidFill>
                <a:latin typeface="Arial" pitchFamily="34" charset="0"/>
                <a:ea typeface="Arial" pitchFamily="34" charset="-122"/>
                <a:cs typeface="Arial" pitchFamily="34" charset="-120"/>
              </a:rPr>
              <a:t>로 사람 검수 강제. 최종 발송은 사람이 검토 후.</a:t>
            </a:r>
            <a:endParaRPr lang="en-US" sz="1800" dirty="0"/>
          </a:p>
        </p:txBody>
      </p:sp>
      <p:sp>
        <p:nvSpPr>
          <p:cNvPr id="67" name="Shape 57"/>
          <p:cNvSpPr/>
          <p:nvPr/>
        </p:nvSpPr>
        <p:spPr>
          <a:xfrm>
            <a:off x="6232996" y="8553450"/>
            <a:ext cx="3941415" cy="447675"/>
          </a:xfrm>
          <a:prstGeom prst="roundRect">
            <a:avLst>
              <a:gd name="adj" fmla="val 50000"/>
            </a:avLst>
          </a:prstGeom>
          <a:solidFill>
            <a:srgbClr val="EDE7FE"/>
          </a:solidFill>
          <a:ln/>
        </p:spPr>
      </p:sp>
      <p:sp>
        <p:nvSpPr>
          <p:cNvPr id="68" name="Text 58"/>
          <p:cNvSpPr/>
          <p:nvPr/>
        </p:nvSpPr>
        <p:spPr>
          <a:xfrm>
            <a:off x="6375871" y="8610600"/>
            <a:ext cx="3773908"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6B52B1"/>
                </a:solidFill>
                <a:latin typeface="Arial" pitchFamily="34" charset="0"/>
                <a:ea typeface="Arial" pitchFamily="34" charset="-122"/>
                <a:cs typeface="Arial" pitchFamily="34" charset="-120"/>
              </a:rPr>
              <a:t>스크립트·외부 API·리드 스코어링 없음</a:t>
            </a:r>
            <a:endParaRPr lang="en-US" sz="1800" dirty="0"/>
          </a:p>
        </p:txBody>
      </p:sp>
      <p:sp>
        <p:nvSpPr>
          <p:cNvPr id="69" name="Shape 59"/>
          <p:cNvSpPr/>
          <p:nvPr/>
        </p:nvSpPr>
        <p:spPr>
          <a:xfrm>
            <a:off x="952500" y="9372600"/>
            <a:ext cx="16383000" cy="9525"/>
          </a:xfrm>
          <a:prstGeom prst="rect">
            <a:avLst/>
          </a:prstGeom>
          <a:solidFill>
            <a:srgbClr val="ECECEC"/>
          </a:solidFill>
          <a:ln/>
        </p:spPr>
      </p:sp>
      <p:sp>
        <p:nvSpPr>
          <p:cNvPr id="70" name="Text 60"/>
          <p:cNvSpPr/>
          <p:nvPr/>
        </p:nvSpPr>
        <p:spPr>
          <a:xfrm>
            <a:off x="952500" y="9534525"/>
            <a:ext cx="2574764" cy="314325"/>
          </a:xfrm>
          <a:prstGeom prst="rect">
            <a:avLst/>
          </a:prstGeom>
          <a:noFill/>
          <a:ln/>
        </p:spPr>
        <p:txBody>
          <a:bodyPr wrap="square" lIns="25400" tIns="25400" rIns="25400" bIns="25400" rtlCol="0" anchor="t">
            <a:normAutofit/>
          </a:bodyPr>
          <a:lstStyle/>
          <a:p>
            <a:pPr algn="l" indent="0" marL="0">
              <a:buNone/>
            </a:pPr>
            <a:r>
              <a:rPr lang="en-US" sz="1800" dirty="0">
                <a:solidFill>
                  <a:srgbClr val="9D9D9D"/>
                </a:solidFill>
                <a:latin typeface="Arial" pitchFamily="34" charset="0"/>
                <a:ea typeface="Arial" pitchFamily="34" charset="-122"/>
                <a:cs typeface="Arial" pitchFamily="34" charset="-120"/>
              </a:rPr>
              <a:t>키즐링 후속 이메일 자동화</a:t>
            </a:r>
            <a:endParaRPr lang="en-US" sz="1800" dirty="0"/>
          </a:p>
        </p:txBody>
      </p:sp>
      <p:sp>
        <p:nvSpPr>
          <p:cNvPr id="71" name="Text 61"/>
          <p:cNvSpPr/>
          <p:nvPr/>
        </p:nvSpPr>
        <p:spPr>
          <a:xfrm>
            <a:off x="16607954" y="9534525"/>
            <a:ext cx="803746" cy="314325"/>
          </a:xfrm>
          <a:prstGeom prst="rect">
            <a:avLst/>
          </a:prstGeom>
          <a:noFill/>
          <a:ln/>
        </p:spPr>
        <p:txBody>
          <a:bodyPr wrap="square" lIns="25400" tIns="25400" rIns="25400" bIns="25400" rtlCol="0" anchor="t">
            <a:normAutofit/>
          </a:bodyPr>
          <a:lstStyle/>
          <a:p>
            <a:pPr algn="l" indent="0" marL="0">
              <a:buNone/>
            </a:pPr>
            <a:r>
              <a:rPr lang="en-US" sz="1800" b="1" dirty="0">
                <a:solidFill>
                  <a:srgbClr val="6B52B1"/>
                </a:solidFill>
                <a:latin typeface="Arial" pitchFamily="34" charset="0"/>
                <a:ea typeface="Arial" pitchFamily="34" charset="-122"/>
                <a:cs typeface="Arial" pitchFamily="34" charset="-120"/>
              </a:rPr>
              <a:t>07 </a:t>
            </a:r>
            <a:pPr algn="l" indent="0" marL="0">
              <a:buNone/>
            </a:pPr>
            <a:r>
              <a:rPr lang="en-US" sz="1800" dirty="0">
                <a:solidFill>
                  <a:srgbClr val="9D9D9D"/>
                </a:solidFill>
                <a:latin typeface="Arial" pitchFamily="34" charset="0"/>
                <a:ea typeface="Arial" pitchFamily="34" charset="-122"/>
                <a:cs typeface="Arial" pitchFamily="34" charset="-120"/>
              </a:rPr>
              <a:t>/ 08</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9673F9">
                  <a:alpha val="15000"/>
                </a:srgbClr>
              </a:gs>
              <a:gs pos="58000">
                <a:srgbClr val="9673F9">
                  <a:alpha val="0"/>
                </a:srgbClr>
              </a:gs>
            </a:gsLst>
            <a:path path="circle">
              <a:fillToRect l="50000" t="100000" r="50000" b="0"/>
            </a:path>
          </a:gradFill>
          <a:ln/>
        </p:spPr>
      </p:sp>
      <p:sp>
        <p:nvSpPr>
          <p:cNvPr id="3" name="Shape 1"/>
          <p:cNvSpPr/>
          <p:nvPr/>
        </p:nvSpPr>
        <p:spPr>
          <a:xfrm>
            <a:off x="952500" y="571500"/>
            <a:ext cx="1266453" cy="542925"/>
          </a:xfrm>
          <a:prstGeom prst="roundRect">
            <a:avLst>
              <a:gd name="adj" fmla="val 50000"/>
            </a:avLst>
          </a:prstGeom>
          <a:solidFill>
            <a:srgbClr val="DED4FD"/>
          </a:solidFill>
          <a:ln/>
        </p:spPr>
      </p:sp>
      <p:sp>
        <p:nvSpPr>
          <p:cNvPr id="4" name="Shape 2"/>
          <p:cNvSpPr/>
          <p:nvPr/>
        </p:nvSpPr>
        <p:spPr>
          <a:xfrm>
            <a:off x="1162050" y="795338"/>
            <a:ext cx="95250" cy="95250"/>
          </a:xfrm>
          <a:prstGeom prst="ellipse">
            <a:avLst/>
          </a:prstGeom>
          <a:solidFill>
            <a:srgbClr val="9673F9"/>
          </a:solidFill>
          <a:ln/>
        </p:spPr>
      </p:sp>
      <p:sp>
        <p:nvSpPr>
          <p:cNvPr id="5" name="Text 3"/>
          <p:cNvSpPr/>
          <p:nvPr/>
        </p:nvSpPr>
        <p:spPr>
          <a:xfrm>
            <a:off x="1371600" y="676275"/>
            <a:ext cx="714003" cy="371475"/>
          </a:xfrm>
          <a:prstGeom prst="rect">
            <a:avLst/>
          </a:prstGeom>
          <a:noFill/>
          <a:ln/>
        </p:spPr>
        <p:txBody>
          <a:bodyPr wrap="square" lIns="25400" tIns="25400" rIns="25400" bIns="25400" rtlCol="0" anchor="t">
            <a:normAutofit/>
          </a:bodyPr>
          <a:lstStyle/>
          <a:p>
            <a:pPr algn="l" indent="0" marL="0">
              <a:buNone/>
            </a:pPr>
            <a:r>
              <a:rPr lang="en-US" sz="1800" b="1" spc="18" kern="0" dirty="0">
                <a:solidFill>
                  <a:srgbClr val="6B52B1"/>
                </a:solidFill>
                <a:latin typeface="Arial" pitchFamily="34" charset="0"/>
                <a:ea typeface="Arial" pitchFamily="34" charset="-122"/>
                <a:cs typeface="Arial" pitchFamily="34" charset="-120"/>
              </a:rPr>
              <a:t>임팩트</a:t>
            </a:r>
            <a:endParaRPr lang="en-US" sz="1800" dirty="0"/>
          </a:p>
        </p:txBody>
      </p:sp>
      <p:sp>
        <p:nvSpPr>
          <p:cNvPr id="6" name="Text 4"/>
          <p:cNvSpPr/>
          <p:nvPr/>
        </p:nvSpPr>
        <p:spPr>
          <a:xfrm>
            <a:off x="16374442" y="704850"/>
            <a:ext cx="1037258" cy="314325"/>
          </a:xfrm>
          <a:prstGeom prst="rect">
            <a:avLst/>
          </a:prstGeom>
          <a:noFill/>
          <a:ln/>
        </p:spPr>
        <p:txBody>
          <a:bodyPr wrap="square" lIns="25400" tIns="25400" rIns="25400" bIns="25400" rtlCol="0" anchor="t">
            <a:normAutofit/>
          </a:bodyPr>
          <a:lstStyle/>
          <a:p>
            <a:pPr algn="l" indent="0" marL="0">
              <a:buNone/>
            </a:pPr>
            <a:r>
              <a:rPr lang="en-US" sz="1800" b="1" dirty="0">
                <a:solidFill>
                  <a:srgbClr val="8969E3"/>
                </a:solidFill>
                <a:latin typeface="Arial" pitchFamily="34" charset="0"/>
                <a:ea typeface="Arial" pitchFamily="34" charset="-122"/>
                <a:cs typeface="Arial" pitchFamily="34" charset="-120"/>
              </a:rPr>
              <a:t>요약 · 성과</a:t>
            </a:r>
            <a:endParaRPr lang="en-US" sz="1800" dirty="0"/>
          </a:p>
        </p:txBody>
      </p:sp>
      <p:sp>
        <p:nvSpPr>
          <p:cNvPr id="7" name="Text 5"/>
          <p:cNvSpPr/>
          <p:nvPr/>
        </p:nvSpPr>
        <p:spPr>
          <a:xfrm>
            <a:off x="952500" y="3010049"/>
            <a:ext cx="15716250" cy="652239"/>
          </a:xfrm>
          <a:prstGeom prst="rect">
            <a:avLst/>
          </a:prstGeom>
          <a:noFill/>
          <a:ln/>
        </p:spPr>
        <p:txBody>
          <a:bodyPr wrap="square" lIns="25400" tIns="25400" rIns="25400" bIns="25400" rtlCol="0" anchor="t">
            <a:normAutofit/>
          </a:bodyPr>
          <a:lstStyle/>
          <a:p>
            <a:pPr algn="l" indent="0" marL="0">
              <a:lnSpc>
                <a:spcPct val="124000"/>
              </a:lnSpc>
              <a:buNone/>
            </a:pPr>
            <a:r>
              <a:rPr lang="en-US" sz="3900" b="1" spc="-78" kern="0" dirty="0">
                <a:solidFill>
                  <a:srgbClr val="131313"/>
                </a:solidFill>
                <a:latin typeface="Arial" pitchFamily="34" charset="0"/>
                <a:ea typeface="Arial" pitchFamily="34" charset="-122"/>
                <a:cs typeface="Arial" pitchFamily="34" charset="-120"/>
              </a:rPr>
              <a:t>8시간 수작업이</a:t>
            </a:r>
            <a:pPr algn="l" indent="0" marL="0">
              <a:lnSpc>
                <a:spcPct val="124000"/>
              </a:lnSpc>
              <a:buNone/>
            </a:pPr>
            <a:r>
              <a:rPr lang="en-US" sz="3900" b="1" spc="-78" kern="0" dirty="0">
                <a:solidFill>
                  <a:srgbClr val="9673F9"/>
                </a:solidFill>
                <a:latin typeface="Arial" pitchFamily="34" charset="0"/>
                <a:ea typeface="Arial" pitchFamily="34" charset="-122"/>
                <a:cs typeface="Arial" pitchFamily="34" charset="-120"/>
              </a:rPr>
              <a:t>Skill 한 번으로</a:t>
            </a:r>
            <a:pPr algn="l" indent="0" marL="0">
              <a:lnSpc>
                <a:spcPct val="124000"/>
              </a:lnSpc>
              <a:buNone/>
            </a:pPr>
            <a:r>
              <a:rPr lang="en-US" sz="3900" b="1" spc="-78" kern="0" dirty="0">
                <a:solidFill>
                  <a:srgbClr val="9D9D9D"/>
                </a:solidFill>
                <a:latin typeface="Arial" pitchFamily="34" charset="0"/>
                <a:ea typeface="Arial" pitchFamily="34" charset="-122"/>
                <a:cs typeface="Arial" pitchFamily="34" charset="-120"/>
              </a:rPr>
              <a:t>— 그리고</a:t>
            </a:r>
            <a:pPr algn="l" indent="0" marL="0">
              <a:lnSpc>
                <a:spcPct val="124000"/>
              </a:lnSpc>
              <a:buNone/>
            </a:pPr>
            <a:r>
              <a:rPr lang="en-US" sz="3900" b="1" spc="-78" kern="0" dirty="0">
                <a:solidFill>
                  <a:srgbClr val="131313"/>
                </a:solidFill>
                <a:latin typeface="Arial" pitchFamily="34" charset="0"/>
                <a:ea typeface="Arial" pitchFamily="34" charset="-122"/>
                <a:cs typeface="Arial" pitchFamily="34" charset="-120"/>
              </a:rPr>
              <a:t>바로 실행 가능한 캠페인까지</a:t>
            </a:r>
            <a:endParaRPr lang="en-US" sz="3900" dirty="0"/>
          </a:p>
        </p:txBody>
      </p:sp>
      <p:sp>
        <p:nvSpPr>
          <p:cNvPr id="8" name="Shape 6"/>
          <p:cNvSpPr/>
          <p:nvPr/>
        </p:nvSpPr>
        <p:spPr>
          <a:xfrm>
            <a:off x="952500" y="4005188"/>
            <a:ext cx="3910013" cy="2473523"/>
          </a:xfrm>
          <a:prstGeom prst="roundRect">
            <a:avLst>
              <a:gd name="adj" fmla="val 8472"/>
            </a:avLst>
          </a:prstGeom>
          <a:solidFill>
            <a:srgbClr val="FFFFFF"/>
          </a:solidFill>
          <a:ln w="9525">
            <a:solidFill>
              <a:srgbClr val="ECE6FB"/>
            </a:solidFill>
            <a:prstDash val="solid"/>
          </a:ln>
          <a:effectLst>
            <a:outerShdw sx="100000" sy="100000" kx="0" ky="0" algn="bl" rotWithShape="0" blurRad="342900" dist="152400" dir="5400000">
              <a:srgbClr val="6B52B1">
                <a:alpha val="10000"/>
              </a:srgbClr>
            </a:outerShdw>
          </a:effectLst>
        </p:spPr>
      </p:sp>
      <p:sp>
        <p:nvSpPr>
          <p:cNvPr id="9" name="Text 7"/>
          <p:cNvSpPr/>
          <p:nvPr/>
        </p:nvSpPr>
        <p:spPr>
          <a:xfrm>
            <a:off x="1228725" y="4300463"/>
            <a:ext cx="3458289" cy="666750"/>
          </a:xfrm>
          <a:prstGeom prst="rect">
            <a:avLst/>
          </a:prstGeom>
          <a:noFill/>
          <a:ln/>
        </p:spPr>
        <p:txBody>
          <a:bodyPr wrap="square" lIns="25400" tIns="25400" rIns="25400" bIns="25400" rtlCol="0" anchor="t">
            <a:normAutofit/>
          </a:bodyPr>
          <a:lstStyle/>
          <a:p>
            <a:pPr algn="l" indent="0" marL="0">
              <a:lnSpc>
                <a:spcPct val="100000"/>
              </a:lnSpc>
              <a:buNone/>
            </a:pPr>
            <a:r>
              <a:rPr lang="en-US" sz="4950" b="1" dirty="0">
                <a:solidFill>
                  <a:srgbClr val="6B52B1"/>
                </a:solidFill>
                <a:latin typeface="Arial" pitchFamily="34" charset="0"/>
                <a:ea typeface="Arial" pitchFamily="34" charset="-122"/>
                <a:cs typeface="Arial" pitchFamily="34" charset="-120"/>
              </a:rPr>
              <a:t>8</a:t>
            </a:r>
            <a:pPr algn="l" indent="0" marL="0">
              <a:lnSpc>
                <a:spcPct val="100000"/>
              </a:lnSpc>
              <a:buNone/>
            </a:pPr>
            <a:r>
              <a:rPr lang="en-US" sz="2550" b="1" dirty="0">
                <a:solidFill>
                  <a:srgbClr val="6B52B1"/>
                </a:solidFill>
                <a:latin typeface="Arial" pitchFamily="34" charset="0"/>
                <a:ea typeface="Arial" pitchFamily="34" charset="-122"/>
                <a:cs typeface="Arial" pitchFamily="34" charset="-120"/>
              </a:rPr>
              <a:t>시간+</a:t>
            </a:r>
            <a:endParaRPr lang="en-US" sz="1200" dirty="0"/>
          </a:p>
        </p:txBody>
      </p:sp>
      <p:sp>
        <p:nvSpPr>
          <p:cNvPr id="10" name="Text 8"/>
          <p:cNvSpPr/>
          <p:nvPr/>
        </p:nvSpPr>
        <p:spPr>
          <a:xfrm>
            <a:off x="1228725" y="5043413"/>
            <a:ext cx="3693319" cy="423863"/>
          </a:xfrm>
          <a:prstGeom prst="rect">
            <a:avLst/>
          </a:prstGeom>
          <a:noFill/>
          <a:ln/>
        </p:spPr>
        <p:txBody>
          <a:bodyPr wrap="square" lIns="25400" tIns="25400" rIns="25400" bIns="25400" rtlCol="0" anchor="t">
            <a:normAutofit/>
          </a:bodyPr>
          <a:lstStyle/>
          <a:p>
            <a:pPr algn="l" indent="0" marL="0">
              <a:buNone/>
            </a:pPr>
            <a:r>
              <a:rPr lang="en-US" sz="2100" b="1" dirty="0">
                <a:solidFill>
                  <a:srgbClr val="131313"/>
                </a:solidFill>
                <a:latin typeface="Arial" pitchFamily="34" charset="0"/>
                <a:ea typeface="Arial" pitchFamily="34" charset="-122"/>
                <a:cs typeface="Arial" pitchFamily="34" charset="-120"/>
              </a:rPr>
              <a:t>→ 1회 실행</a:t>
            </a:r>
            <a:endParaRPr lang="en-US" sz="2100" dirty="0"/>
          </a:p>
        </p:txBody>
      </p:sp>
      <p:sp>
        <p:nvSpPr>
          <p:cNvPr id="11" name="Text 9"/>
          <p:cNvSpPr/>
          <p:nvPr/>
        </p:nvSpPr>
        <p:spPr>
          <a:xfrm>
            <a:off x="1228725" y="5543476"/>
            <a:ext cx="3693319"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585858"/>
                </a:solidFill>
                <a:latin typeface="Arial" pitchFamily="34" charset="0"/>
                <a:ea typeface="Arial" pitchFamily="34" charset="-122"/>
                <a:cs typeface="Arial" pitchFamily="34" charset="-120"/>
              </a:rPr>
              <a:t>리드 후속 수작업 압축</a:t>
            </a:r>
            <a:endParaRPr lang="en-US" sz="1800" dirty="0"/>
          </a:p>
        </p:txBody>
      </p:sp>
      <p:sp>
        <p:nvSpPr>
          <p:cNvPr id="12" name="Shape 10"/>
          <p:cNvSpPr/>
          <p:nvPr/>
        </p:nvSpPr>
        <p:spPr>
          <a:xfrm>
            <a:off x="5110163" y="4005188"/>
            <a:ext cx="3910013" cy="2473523"/>
          </a:xfrm>
          <a:prstGeom prst="roundRect">
            <a:avLst>
              <a:gd name="adj" fmla="val 8472"/>
            </a:avLst>
          </a:prstGeom>
          <a:solidFill>
            <a:srgbClr val="FFFFFF"/>
          </a:solidFill>
          <a:ln w="9525">
            <a:solidFill>
              <a:srgbClr val="ECE6FB"/>
            </a:solidFill>
            <a:prstDash val="solid"/>
          </a:ln>
          <a:effectLst>
            <a:outerShdw sx="100000" sy="100000" kx="0" ky="0" algn="bl" rotWithShape="0" blurRad="342900" dist="152400" dir="5400000">
              <a:srgbClr val="6B52B1">
                <a:alpha val="10000"/>
              </a:srgbClr>
            </a:outerShdw>
          </a:effectLst>
        </p:spPr>
      </p:sp>
      <p:sp>
        <p:nvSpPr>
          <p:cNvPr id="13" name="Text 11"/>
          <p:cNvSpPr/>
          <p:nvPr/>
        </p:nvSpPr>
        <p:spPr>
          <a:xfrm>
            <a:off x="5386388" y="4300463"/>
            <a:ext cx="3458289" cy="666750"/>
          </a:xfrm>
          <a:prstGeom prst="rect">
            <a:avLst/>
          </a:prstGeom>
          <a:noFill/>
          <a:ln/>
        </p:spPr>
        <p:txBody>
          <a:bodyPr wrap="square" lIns="25400" tIns="25400" rIns="25400" bIns="25400" rtlCol="0" anchor="t">
            <a:normAutofit/>
          </a:bodyPr>
          <a:lstStyle/>
          <a:p>
            <a:pPr algn="l" indent="0" marL="0">
              <a:lnSpc>
                <a:spcPct val="100000"/>
              </a:lnSpc>
              <a:buNone/>
            </a:pPr>
            <a:r>
              <a:rPr lang="en-US" sz="4950" b="1" dirty="0">
                <a:solidFill>
                  <a:srgbClr val="6B52B1"/>
                </a:solidFill>
                <a:latin typeface="Arial" pitchFamily="34" charset="0"/>
                <a:ea typeface="Arial" pitchFamily="34" charset="-122"/>
                <a:cs typeface="Arial" pitchFamily="34" charset="-120"/>
              </a:rPr>
              <a:t>49</a:t>
            </a:r>
            <a:pPr algn="l" indent="0" marL="0">
              <a:lnSpc>
                <a:spcPct val="100000"/>
              </a:lnSpc>
              <a:buNone/>
            </a:pPr>
            <a:r>
              <a:rPr lang="en-US" sz="2550" b="1" dirty="0">
                <a:solidFill>
                  <a:srgbClr val="6B52B1"/>
                </a:solidFill>
                <a:latin typeface="Arial" pitchFamily="34" charset="0"/>
                <a:ea typeface="Arial" pitchFamily="34" charset="-122"/>
                <a:cs typeface="Arial" pitchFamily="34" charset="-120"/>
              </a:rPr>
              <a:t>건</a:t>
            </a:r>
            <a:endParaRPr lang="en-US" sz="1200" dirty="0"/>
          </a:p>
        </p:txBody>
      </p:sp>
      <p:sp>
        <p:nvSpPr>
          <p:cNvPr id="14" name="Text 12"/>
          <p:cNvSpPr/>
          <p:nvPr/>
        </p:nvSpPr>
        <p:spPr>
          <a:xfrm>
            <a:off x="5386388" y="5043413"/>
            <a:ext cx="3693319" cy="423863"/>
          </a:xfrm>
          <a:prstGeom prst="rect">
            <a:avLst/>
          </a:prstGeom>
          <a:noFill/>
          <a:ln/>
        </p:spPr>
        <p:txBody>
          <a:bodyPr wrap="square" lIns="25400" tIns="25400" rIns="25400" bIns="25400" rtlCol="0" anchor="t">
            <a:normAutofit/>
          </a:bodyPr>
          <a:lstStyle/>
          <a:p>
            <a:pPr algn="l" indent="0" marL="0">
              <a:buNone/>
            </a:pPr>
            <a:r>
              <a:rPr lang="en-US" sz="2100" b="1" dirty="0">
                <a:solidFill>
                  <a:srgbClr val="131313"/>
                </a:solidFill>
                <a:latin typeface="Arial" pitchFamily="34" charset="0"/>
                <a:ea typeface="Arial" pitchFamily="34" charset="-122"/>
                <a:cs typeface="Arial" pitchFamily="34" charset="-120"/>
              </a:rPr>
              <a:t>개인화 초안</a:t>
            </a:r>
            <a:endParaRPr lang="en-US" sz="2100" dirty="0"/>
          </a:p>
        </p:txBody>
      </p:sp>
      <p:sp>
        <p:nvSpPr>
          <p:cNvPr id="15" name="Text 13"/>
          <p:cNvSpPr/>
          <p:nvPr/>
        </p:nvSpPr>
        <p:spPr>
          <a:xfrm>
            <a:off x="5386388" y="5543476"/>
            <a:ext cx="3458289" cy="678061"/>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585858"/>
                </a:solidFill>
                <a:latin typeface="Arial" pitchFamily="34" charset="0"/>
                <a:ea typeface="Arial" pitchFamily="34" charset="-122"/>
                <a:cs typeface="Arial" pitchFamily="34" charset="-120"/>
              </a:rPr>
              <a:t>직책 3종 차별화 · 250~400자 · 4요소</a:t>
            </a:r>
            <a:endParaRPr lang="en-US" sz="1800" dirty="0"/>
          </a:p>
        </p:txBody>
      </p:sp>
      <p:sp>
        <p:nvSpPr>
          <p:cNvPr id="16" name="Shape 14"/>
          <p:cNvSpPr/>
          <p:nvPr/>
        </p:nvSpPr>
        <p:spPr>
          <a:xfrm>
            <a:off x="9267825" y="4005188"/>
            <a:ext cx="3910013" cy="2473523"/>
          </a:xfrm>
          <a:prstGeom prst="roundRect">
            <a:avLst>
              <a:gd name="adj" fmla="val 8472"/>
            </a:avLst>
          </a:prstGeom>
          <a:gradFill rotWithShape="1">
            <a:gsLst>
              <a:gs pos="0">
                <a:srgbClr val="9673F9">
                  <a:alpha val="100000"/>
                </a:srgbClr>
              </a:gs>
              <a:gs pos="100000">
                <a:srgbClr val="8969E3">
                  <a:alpha val="100000"/>
                </a:srgbClr>
              </a:gs>
            </a:gsLst>
            <a:lin ang="2700000" scaled="0"/>
          </a:gradFill>
          <a:ln/>
          <a:effectLst>
            <a:outerShdw sx="100000" sy="100000" kx="0" ky="0" algn="bl" rotWithShape="0" blurRad="381000" dist="190500" dir="5400000">
              <a:srgbClr val="9673F9">
                <a:alpha val="34000"/>
              </a:srgbClr>
            </a:outerShdw>
          </a:effectLst>
        </p:spPr>
      </p:sp>
      <p:sp>
        <p:nvSpPr>
          <p:cNvPr id="17" name="Shape 15"/>
          <p:cNvSpPr/>
          <p:nvPr/>
        </p:nvSpPr>
        <p:spPr>
          <a:xfrm>
            <a:off x="12299975" y="3881363"/>
            <a:ext cx="687363" cy="409575"/>
          </a:xfrm>
          <a:prstGeom prst="roundRect">
            <a:avLst>
              <a:gd name="adj" fmla="val 50000"/>
            </a:avLst>
          </a:prstGeom>
          <a:solidFill>
            <a:srgbClr val="FFFAEB"/>
          </a:solidFill>
          <a:ln/>
          <a:effectLst>
            <a:outerShdw sx="100000" sy="100000" kx="0" ky="0" algn="bl" rotWithShape="0" blurRad="133350" dist="57150" dir="5400000">
              <a:srgbClr val="6B52B1">
                <a:alpha val="20000"/>
              </a:srgbClr>
            </a:outerShdw>
          </a:effectLst>
        </p:spPr>
      </p:sp>
      <p:sp>
        <p:nvSpPr>
          <p:cNvPr id="18" name="Text 16"/>
          <p:cNvSpPr/>
          <p:nvPr/>
        </p:nvSpPr>
        <p:spPr>
          <a:xfrm>
            <a:off x="12433325" y="3919463"/>
            <a:ext cx="496863"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8969E3"/>
                </a:solidFill>
                <a:latin typeface="Arial" pitchFamily="34" charset="0"/>
                <a:ea typeface="Arial" pitchFamily="34" charset="-122"/>
                <a:cs typeface="Arial" pitchFamily="34" charset="-120"/>
              </a:rPr>
              <a:t>핵심</a:t>
            </a:r>
            <a:endParaRPr lang="en-US" sz="1800" dirty="0"/>
          </a:p>
        </p:txBody>
      </p:sp>
      <p:sp>
        <p:nvSpPr>
          <p:cNvPr id="19" name="Text 17"/>
          <p:cNvSpPr/>
          <p:nvPr/>
        </p:nvSpPr>
        <p:spPr>
          <a:xfrm>
            <a:off x="9534525" y="4290938"/>
            <a:ext cx="3477911" cy="666750"/>
          </a:xfrm>
          <a:prstGeom prst="rect">
            <a:avLst/>
          </a:prstGeom>
          <a:noFill/>
          <a:ln/>
        </p:spPr>
        <p:txBody>
          <a:bodyPr wrap="square" lIns="25400" tIns="25400" rIns="25400" bIns="25400" rtlCol="0" anchor="t">
            <a:normAutofit/>
          </a:bodyPr>
          <a:lstStyle/>
          <a:p>
            <a:pPr algn="l" indent="0" marL="0">
              <a:lnSpc>
                <a:spcPct val="100000"/>
              </a:lnSpc>
              <a:buNone/>
            </a:pPr>
            <a:r>
              <a:rPr lang="en-US" sz="4950" b="1" dirty="0">
                <a:solidFill>
                  <a:srgbClr val="FFFFFF"/>
                </a:solidFill>
                <a:latin typeface="Arial" pitchFamily="34" charset="0"/>
                <a:ea typeface="Arial" pitchFamily="34" charset="-122"/>
                <a:cs typeface="Arial" pitchFamily="34" charset="-120"/>
              </a:rPr>
              <a:t>2</a:t>
            </a:r>
            <a:pPr algn="l" indent="0" marL="0">
              <a:lnSpc>
                <a:spcPct val="100000"/>
              </a:lnSpc>
              <a:buNone/>
            </a:pPr>
            <a:r>
              <a:rPr lang="en-US" sz="2550" b="1" dirty="0">
                <a:solidFill>
                  <a:srgbClr val="FFFFFF"/>
                </a:solidFill>
                <a:latin typeface="Arial" pitchFamily="34" charset="0"/>
                <a:ea typeface="Arial" pitchFamily="34" charset="-122"/>
                <a:cs typeface="Arial" pitchFamily="34" charset="-120"/>
              </a:rPr>
              <a:t>건</a:t>
            </a:r>
            <a:endParaRPr lang="en-US" sz="1200" dirty="0"/>
          </a:p>
        </p:txBody>
      </p:sp>
      <p:sp>
        <p:nvSpPr>
          <p:cNvPr id="20" name="Text 18"/>
          <p:cNvSpPr/>
          <p:nvPr/>
        </p:nvSpPr>
        <p:spPr>
          <a:xfrm>
            <a:off x="9534525" y="5033888"/>
            <a:ext cx="3714274" cy="423863"/>
          </a:xfrm>
          <a:prstGeom prst="rect">
            <a:avLst/>
          </a:prstGeom>
          <a:noFill/>
          <a:ln/>
        </p:spPr>
        <p:txBody>
          <a:bodyPr wrap="square" lIns="25400" tIns="25400" rIns="25400" bIns="25400" rtlCol="0" anchor="t">
            <a:normAutofit/>
          </a:bodyPr>
          <a:lstStyle/>
          <a:p>
            <a:pPr algn="l" indent="0" marL="0">
              <a:buNone/>
            </a:pPr>
            <a:r>
              <a:rPr lang="en-US" sz="2100" b="1" dirty="0">
                <a:solidFill>
                  <a:srgbClr val="FFFFFF"/>
                </a:solidFill>
                <a:latin typeface="Arial" pitchFamily="34" charset="0"/>
                <a:ea typeface="Arial" pitchFamily="34" charset="-122"/>
                <a:cs typeface="Arial" pitchFamily="34" charset="-120"/>
              </a:rPr>
              <a:t>실행형 캠페인 기획안</a:t>
            </a:r>
            <a:endParaRPr lang="en-US" sz="2100" dirty="0"/>
          </a:p>
        </p:txBody>
      </p:sp>
      <p:sp>
        <p:nvSpPr>
          <p:cNvPr id="21" name="Text 19"/>
          <p:cNvSpPr/>
          <p:nvPr/>
        </p:nvSpPr>
        <p:spPr>
          <a:xfrm>
            <a:off x="9534525" y="5533951"/>
            <a:ext cx="3714274"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EFE7FF"/>
                </a:solidFill>
                <a:latin typeface="Arial" pitchFamily="34" charset="0"/>
                <a:ea typeface="Arial" pitchFamily="34" charset="-122"/>
                <a:cs typeface="Arial" pitchFamily="34" charset="-120"/>
              </a:rPr>
              <a:t>담당·체크리스트·리스크 포함</a:t>
            </a:r>
            <a:endParaRPr lang="en-US" sz="1800" dirty="0"/>
          </a:p>
        </p:txBody>
      </p:sp>
      <p:sp>
        <p:nvSpPr>
          <p:cNvPr id="22" name="Shape 20"/>
          <p:cNvSpPr/>
          <p:nvPr/>
        </p:nvSpPr>
        <p:spPr>
          <a:xfrm>
            <a:off x="13425488" y="4005188"/>
            <a:ext cx="3910013" cy="2473523"/>
          </a:xfrm>
          <a:prstGeom prst="roundRect">
            <a:avLst>
              <a:gd name="adj" fmla="val 8472"/>
            </a:avLst>
          </a:prstGeom>
          <a:solidFill>
            <a:srgbClr val="FFFFFF"/>
          </a:solidFill>
          <a:ln w="9525">
            <a:solidFill>
              <a:srgbClr val="ECE6FB"/>
            </a:solidFill>
            <a:prstDash val="solid"/>
          </a:ln>
          <a:effectLst>
            <a:outerShdw sx="100000" sy="100000" kx="0" ky="0" algn="bl" rotWithShape="0" blurRad="342900" dist="152400" dir="5400000">
              <a:srgbClr val="6B52B1">
                <a:alpha val="10000"/>
              </a:srgbClr>
            </a:outerShdw>
          </a:effectLst>
        </p:spPr>
      </p:sp>
      <p:sp>
        <p:nvSpPr>
          <p:cNvPr id="23" name="Text 21"/>
          <p:cNvSpPr/>
          <p:nvPr/>
        </p:nvSpPr>
        <p:spPr>
          <a:xfrm>
            <a:off x="13701713" y="4300463"/>
            <a:ext cx="3458289" cy="666750"/>
          </a:xfrm>
          <a:prstGeom prst="rect">
            <a:avLst/>
          </a:prstGeom>
          <a:noFill/>
          <a:ln/>
        </p:spPr>
        <p:txBody>
          <a:bodyPr wrap="square" lIns="25400" tIns="25400" rIns="25400" bIns="25400" rtlCol="0" anchor="t">
            <a:normAutofit/>
          </a:bodyPr>
          <a:lstStyle/>
          <a:p>
            <a:pPr algn="l" indent="0" marL="0">
              <a:lnSpc>
                <a:spcPct val="100000"/>
              </a:lnSpc>
              <a:buNone/>
            </a:pPr>
            <a:r>
              <a:rPr lang="en-US" sz="4950" b="1" dirty="0">
                <a:solidFill>
                  <a:srgbClr val="6B52B1"/>
                </a:solidFill>
                <a:latin typeface="Arial" pitchFamily="34" charset="0"/>
                <a:ea typeface="Arial" pitchFamily="34" charset="-122"/>
                <a:cs typeface="Arial" pitchFamily="34" charset="-120"/>
              </a:rPr>
              <a:t>8</a:t>
            </a:r>
            <a:pPr algn="l" indent="0" marL="0">
              <a:lnSpc>
                <a:spcPct val="100000"/>
              </a:lnSpc>
              <a:buNone/>
            </a:pPr>
            <a:r>
              <a:rPr lang="en-US" sz="2550" b="1" dirty="0">
                <a:solidFill>
                  <a:srgbClr val="6B52B1"/>
                </a:solidFill>
                <a:latin typeface="Arial" pitchFamily="34" charset="0"/>
                <a:ea typeface="Arial" pitchFamily="34" charset="-122"/>
                <a:cs typeface="Arial" pitchFamily="34" charset="-120"/>
              </a:rPr>
              <a:t>개</a:t>
            </a:r>
            <a:endParaRPr lang="en-US" sz="1200" dirty="0"/>
          </a:p>
        </p:txBody>
      </p:sp>
      <p:sp>
        <p:nvSpPr>
          <p:cNvPr id="24" name="Text 22"/>
          <p:cNvSpPr/>
          <p:nvPr/>
        </p:nvSpPr>
        <p:spPr>
          <a:xfrm>
            <a:off x="13701713" y="5043413"/>
            <a:ext cx="3693319" cy="423863"/>
          </a:xfrm>
          <a:prstGeom prst="rect">
            <a:avLst/>
          </a:prstGeom>
          <a:noFill/>
          <a:ln/>
        </p:spPr>
        <p:txBody>
          <a:bodyPr wrap="square" lIns="25400" tIns="25400" rIns="25400" bIns="25400" rtlCol="0" anchor="t">
            <a:normAutofit/>
          </a:bodyPr>
          <a:lstStyle/>
          <a:p>
            <a:pPr algn="l" indent="0" marL="0">
              <a:buNone/>
            </a:pPr>
            <a:r>
              <a:rPr lang="en-US" sz="2100" b="1" dirty="0">
                <a:solidFill>
                  <a:srgbClr val="131313"/>
                </a:solidFill>
                <a:latin typeface="Arial" pitchFamily="34" charset="0"/>
                <a:ea typeface="Arial" pitchFamily="34" charset="-122"/>
                <a:cs typeface="Arial" pitchFamily="34" charset="-120"/>
              </a:rPr>
              <a:t>Skill 재현 체인</a:t>
            </a:r>
            <a:endParaRPr lang="en-US" sz="2100" dirty="0"/>
          </a:p>
        </p:txBody>
      </p:sp>
      <p:sp>
        <p:nvSpPr>
          <p:cNvPr id="25" name="Text 23"/>
          <p:cNvSpPr/>
          <p:nvPr/>
        </p:nvSpPr>
        <p:spPr>
          <a:xfrm>
            <a:off x="13701713" y="5543476"/>
            <a:ext cx="3693319"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585858"/>
                </a:solidFill>
                <a:latin typeface="Arial" pitchFamily="34" charset="0"/>
                <a:ea typeface="Arial" pitchFamily="34" charset="-122"/>
                <a:cs typeface="Arial" pitchFamily="34" charset="-120"/>
              </a:rPr>
              <a:t>새 CSV로 동일 품질</a:t>
            </a:r>
            <a:endParaRPr lang="en-US" sz="1800" dirty="0"/>
          </a:p>
        </p:txBody>
      </p:sp>
      <p:sp>
        <p:nvSpPr>
          <p:cNvPr id="26" name="Text 24"/>
          <p:cNvSpPr/>
          <p:nvPr/>
        </p:nvSpPr>
        <p:spPr>
          <a:xfrm>
            <a:off x="133350" y="6859712"/>
            <a:ext cx="18021300" cy="507653"/>
          </a:xfrm>
          <a:prstGeom prst="rect">
            <a:avLst/>
          </a:prstGeom>
          <a:noFill/>
          <a:ln/>
        </p:spPr>
        <p:txBody>
          <a:bodyPr wrap="square" lIns="25400" tIns="25400" rIns="25400" bIns="25400" rtlCol="0" anchor="t">
            <a:normAutofit/>
          </a:bodyPr>
          <a:lstStyle/>
          <a:p>
            <a:pPr algn="ctr" indent="0" marL="0">
              <a:lnSpc>
                <a:spcPct val="145000"/>
              </a:lnSpc>
              <a:buNone/>
            </a:pPr>
            <a:r>
              <a:rPr lang="en-US" sz="2550" b="1" dirty="0">
                <a:solidFill>
                  <a:srgbClr val="131313"/>
                </a:solidFill>
                <a:latin typeface="Arial" pitchFamily="34" charset="0"/>
                <a:ea typeface="Arial" pitchFamily="34" charset="-122"/>
                <a:cs typeface="Arial" pitchFamily="34" charset="-120"/>
              </a:rPr>
              <a:t>새 박람회 리드가 와도 </a:t>
            </a:r>
            <a:pPr algn="ctr" indent="0" marL="0">
              <a:lnSpc>
                <a:spcPct val="145000"/>
              </a:lnSpc>
              <a:buNone/>
            </a:pPr>
            <a:r>
              <a:rPr lang="en-US" sz="2550" b="1" dirty="0">
                <a:solidFill>
                  <a:srgbClr val="6B52B1"/>
                </a:solidFill>
                <a:latin typeface="Arial" pitchFamily="34" charset="0"/>
                <a:ea typeface="Arial" pitchFamily="34" charset="-122"/>
                <a:cs typeface="Arial" pitchFamily="34" charset="-120"/>
              </a:rPr>
              <a:t>동일 품질로 재현 </a:t>
            </a:r>
            <a:pPr algn="ctr" indent="0" marL="0">
              <a:lnSpc>
                <a:spcPct val="145000"/>
              </a:lnSpc>
              <a:buNone/>
            </a:pPr>
            <a:r>
              <a:rPr lang="en-US" sz="2550" b="1" dirty="0">
                <a:solidFill>
                  <a:srgbClr val="131313"/>
                </a:solidFill>
                <a:latin typeface="Arial" pitchFamily="34" charset="0"/>
                <a:ea typeface="Arial" pitchFamily="34" charset="-122"/>
                <a:cs typeface="Arial" pitchFamily="34" charset="-120"/>
              </a:rPr>
              <a:t>— </a:t>
            </a:r>
            <a:pPr algn="ctr" indent="0" marL="0">
              <a:lnSpc>
                <a:spcPct val="145000"/>
              </a:lnSpc>
              <a:buNone/>
            </a:pPr>
            <a:r>
              <a:rPr lang="en-US" sz="2550" b="1" dirty="0">
                <a:solidFill>
                  <a:srgbClr val="9673F9"/>
                </a:solidFill>
                <a:latin typeface="Arial" pitchFamily="34" charset="0"/>
                <a:ea typeface="Arial" pitchFamily="34" charset="-122"/>
                <a:cs typeface="Arial" pitchFamily="34" charset="-120"/>
              </a:rPr>
              <a:t>확장 가능한 후속 자동화</a:t>
            </a:r>
            <a:pPr algn="ctr" indent="0" marL="0">
              <a:lnSpc>
                <a:spcPct val="145000"/>
              </a:lnSpc>
              <a:buNone/>
            </a:pPr>
            <a:r>
              <a:rPr lang="en-US" sz="2550" b="1" dirty="0">
                <a:solidFill>
                  <a:srgbClr val="131313"/>
                </a:solidFill>
                <a:latin typeface="Arial" pitchFamily="34" charset="0"/>
                <a:ea typeface="Arial" pitchFamily="34" charset="-122"/>
                <a:cs typeface="Arial" pitchFamily="34" charset="-120"/>
              </a:rPr>
              <a:t>.</a:t>
            </a:r>
            <a:endParaRPr lang="en-US" sz="2550" dirty="0"/>
          </a:p>
        </p:txBody>
      </p:sp>
      <p:sp>
        <p:nvSpPr>
          <p:cNvPr id="27" name="Shape 25"/>
          <p:cNvSpPr/>
          <p:nvPr/>
        </p:nvSpPr>
        <p:spPr>
          <a:xfrm>
            <a:off x="952500" y="9224963"/>
            <a:ext cx="16383000" cy="9525"/>
          </a:xfrm>
          <a:prstGeom prst="rect">
            <a:avLst/>
          </a:prstGeom>
          <a:solidFill>
            <a:srgbClr val="6B52B1">
              <a:alpha val="16000"/>
            </a:srgbClr>
          </a:solidFill>
          <a:ln/>
        </p:spPr>
      </p:sp>
      <p:sp>
        <p:nvSpPr>
          <p:cNvPr id="28" name="Text 26"/>
          <p:cNvSpPr/>
          <p:nvPr/>
        </p:nvSpPr>
        <p:spPr>
          <a:xfrm>
            <a:off x="952500" y="9446419"/>
            <a:ext cx="4332610" cy="381000"/>
          </a:xfrm>
          <a:prstGeom prst="rect">
            <a:avLst/>
          </a:prstGeom>
          <a:noFill/>
          <a:ln/>
        </p:spPr>
        <p:txBody>
          <a:bodyPr wrap="square" lIns="25400" tIns="25400" rIns="25400" bIns="25400" rtlCol="0" anchor="t">
            <a:normAutofit/>
          </a:bodyPr>
          <a:lstStyle/>
          <a:p>
            <a:pPr algn="l" indent="0" marL="0">
              <a:buNone/>
            </a:pPr>
            <a:r>
              <a:rPr lang="en-US" sz="1875" b="1" dirty="0">
                <a:solidFill>
                  <a:srgbClr val="6B52B1"/>
                </a:solidFill>
                <a:latin typeface="Arial" pitchFamily="34" charset="0"/>
                <a:ea typeface="Arial" pitchFamily="34" charset="-122"/>
                <a:cs typeface="Arial" pitchFamily="34" charset="-120"/>
              </a:rPr>
              <a:t>감사합니다</a:t>
            </a:r>
            <a:pPr algn="l" indent="0" marL="0">
              <a:buNone/>
            </a:pPr>
            <a:r>
              <a:rPr lang="en-US" sz="1875" dirty="0">
                <a:solidFill>
                  <a:srgbClr val="9D9D9D"/>
                </a:solidFill>
                <a:latin typeface="Arial" pitchFamily="34" charset="0"/>
                <a:ea typeface="Arial" pitchFamily="34" charset="-122"/>
                <a:cs typeface="Arial" pitchFamily="34" charset="-120"/>
              </a:rPr>
              <a:t>· 김재천 · 스파르타 AX 해커톤</a:t>
            </a:r>
            <a:endParaRPr lang="en-US" sz="1875" dirty="0"/>
          </a:p>
        </p:txBody>
      </p:sp>
      <p:sp>
        <p:nvSpPr>
          <p:cNvPr id="29" name="Shape 27"/>
          <p:cNvSpPr/>
          <p:nvPr/>
        </p:nvSpPr>
        <p:spPr>
          <a:xfrm>
            <a:off x="15499259" y="9560719"/>
            <a:ext cx="114300" cy="114300"/>
          </a:xfrm>
          <a:prstGeom prst="ellipse">
            <a:avLst/>
          </a:prstGeom>
          <a:solidFill>
            <a:srgbClr val="9673F9"/>
          </a:solidFill>
          <a:ln/>
        </p:spPr>
      </p:sp>
      <p:sp>
        <p:nvSpPr>
          <p:cNvPr id="30" name="Text 28"/>
          <p:cNvSpPr/>
          <p:nvPr/>
        </p:nvSpPr>
        <p:spPr>
          <a:xfrm>
            <a:off x="15699284" y="9424988"/>
            <a:ext cx="804342" cy="423863"/>
          </a:xfrm>
          <a:prstGeom prst="rect">
            <a:avLst/>
          </a:prstGeom>
          <a:noFill/>
          <a:ln/>
        </p:spPr>
        <p:txBody>
          <a:bodyPr wrap="square" lIns="25400" tIns="25400" rIns="25400" bIns="25400" rtlCol="0" anchor="t">
            <a:normAutofit/>
          </a:bodyPr>
          <a:lstStyle/>
          <a:p>
            <a:pPr algn="l" indent="0" marL="0">
              <a:buNone/>
            </a:pPr>
            <a:r>
              <a:rPr lang="en-US" sz="2100" b="1" spc="-21" kern="0" dirty="0">
                <a:solidFill>
                  <a:srgbClr val="6B52B1"/>
                </a:solidFill>
                <a:latin typeface="Arial" pitchFamily="34" charset="0"/>
                <a:ea typeface="Arial" pitchFamily="34" charset="-122"/>
                <a:cs typeface="Arial" pitchFamily="34" charset="-120"/>
              </a:rPr>
              <a:t>키즐링</a:t>
            </a:r>
            <a:endParaRPr lang="en-US" sz="2100" dirty="0"/>
          </a:p>
        </p:txBody>
      </p:sp>
      <p:sp>
        <p:nvSpPr>
          <p:cNvPr id="31" name="Text 29"/>
          <p:cNvSpPr/>
          <p:nvPr/>
        </p:nvSpPr>
        <p:spPr>
          <a:xfrm>
            <a:off x="16579825" y="9479756"/>
            <a:ext cx="831875" cy="314325"/>
          </a:xfrm>
          <a:prstGeom prst="rect">
            <a:avLst/>
          </a:prstGeom>
          <a:noFill/>
          <a:ln/>
        </p:spPr>
        <p:txBody>
          <a:bodyPr wrap="square" lIns="25400" tIns="25400" rIns="25400" bIns="25400" rtlCol="0" anchor="t">
            <a:normAutofit/>
          </a:bodyPr>
          <a:lstStyle/>
          <a:p>
            <a:pPr algn="l" indent="0" marL="0">
              <a:buNone/>
            </a:pPr>
            <a:r>
              <a:rPr lang="en-US" sz="1800" dirty="0">
                <a:solidFill>
                  <a:srgbClr val="9D9D9D"/>
                </a:solidFill>
                <a:latin typeface="Arial" pitchFamily="34" charset="0"/>
                <a:ea typeface="Arial" pitchFamily="34" charset="-122"/>
                <a:cs typeface="Arial" pitchFamily="34" charset="-120"/>
              </a:rPr>
              <a:t>08 / 08</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2026-07-01T18:07:27Z</dcterms:created>
  <dcterms:modified xsi:type="dcterms:W3CDTF">2026-07-01T18:07:27Z</dcterms:modified>
</cp:coreProperties>
</file>